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7" Type="http://schemas.openxmlformats.org/officeDocument/2006/relationships/font" Target="fonts/Urbanist-regular.fntdata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Relationship Id="rIdDeck15" Type="http://schemas.openxmlformats.org/officeDocument/2006/relationships/slide" Target="slides/slide15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نحن جمعية أصول، صاحبة منصة theislam.chat للحوار مع غير المسلمين. مشروعنا: ما بعد الشهادة. الرابط يعمل الآن ويبدأ من لحظة الشهادة مباشرة.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16,653 محادثة، و166 شخصاً أعلنوا إسلامهم. 89 محادثة انتهت خلال رسالتين، و11 فقط تركوا وسيلة تواصل. و22 سألوا كيف يتوضؤون أو يصلون، ولا تملك المنصة جواباً موثّقاً لهم.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المستفيد مسلم جديد في لحظة حساسة. الممارسة الحالية تهنئة ثم طلب رقم هاتف، ومن لا يترك رقمه تنقطع رحلته.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(30 ث) ست خطوات: الشهادة، بطاقة البداية، الدرس الأول، ماذا أتعلم أولاً، دروس وأسئلة حرة، ثم إنسان عند الحاجة. كلها في المحادثة نفسها.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بطاقة البداية بما قاله المستخدم حرفياً، ثم الدرس الأول وكل جملة مربوطة بصفحتها، ثم خطوات الوضوء كما في الكتاب.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سؤال من الكتاب يُجاب بمصادره. سؤال خارج الكتاب يُرفض بوضوح. وسؤال عن حالة شخصية يذهب إلى إنسان بموافقة المستخدم.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الموجّه يقرر: يُجاب أم يُحال. الاسترجاع الهجين يجد المقاطع. النموذج يكتب الجواب ويسند كل جملة إلى مقطع. الفاحص كود لا نموذج: يحذف ما لا سند له ويدرج الاقتباسات والآيات من مصادرها. لا تظهر جملة قبل اجتياز الفاحص.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الثوابت تُعرض بنص الكتاب، والخلاف بقول الكتاب مع سعة، وما ليس في الكتاب امتناع وإحالة، والفتوى الشخصية والأزمة إلى إنسان، والطوارئ أولاً.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على المجموعة المثبتة: 200 سؤال × 3 محاولات: الاقتباسات مطابقة 100% مقابل 92.1% بلا فاحص. الحالات الحرجة: لم يُعطَ حكم في 98.9% مع عرض مرشد. ونقول بوضوح ما لم نبلغه: الإحالة المباشرة 81% مقابل هدف 100%.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الفرق عن البدائل: يبدأ التعليم فوراً في المكان نفسه، ويستمر، ولا ينسب إلى الكتاب ما ليس فيه.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المصدر واحد: الوجيز بعشر طبعات. والقرآن من Tanzil وترجمات QuranEnc. وبقية اللغات ترى الأصل مع شرح مترجم بوسم واضح.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السؤال بأقل من عُشر سنت. مراجعة أسبوعية للبلاغات، واعتماد تدريجي للدروس، وقياس مجمّع من 7 أكتوبر، ومزوّد احتياطي بإعداد واحد.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الجديد هو الوحدة كلها ورقعة دمج من 181 سطراً. المنصة نفسها قائمة قبل التحدي ولا نطلب تقييمها.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الفريق: قائد، ومهندس ذكاء اصطناعي، ومطوّر خلفية، ومطوّر واجهات، ومختص شرعي.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شكراً. التجربة الحية على الرابط، والمستودع والتقرير الكامل متاحان.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1.png"/><Relationship Id="rId101" Type="http://schemas.openxmlformats.org/officeDocument/2006/relationships/image" Target="../media/deck2.png"/><Relationship Id="rId102" Type="http://schemas.openxmlformats.org/officeDocument/2006/relationships/image" Target="../media/deck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4.png"/><Relationship Id="rId101" Type="http://schemas.openxmlformats.org/officeDocument/2006/relationships/image" Target="../media/deck5.png"/><Relationship Id="rId102" Type="http://schemas.openxmlformats.org/officeDocument/2006/relationships/image" Target="../media/deck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image15.png"/><Relationship Id="rId101" Type="http://schemas.openxmlformats.org/officeDocument/2006/relationships/image" Target="../media/image16.png"/><Relationship Id="rId102" Type="http://schemas.openxmlformats.org/officeDocument/2006/relationships/image" Target="../media/image24.png"/><Relationship Id="rId10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143250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theislam.chat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بعد الشهادة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1106150" y="9115425"/>
            <a:ext cx="571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جمعية أصول · المسار ‎03‎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‎6‎ أكتوبر ‎2026‎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7791450" y="5191125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تعليمية تبدأ لحظة إسلام المستخدم، في المحادثة نفسها وبلغته: دروس من كتاب «الوجيز»، وجواب موثّق بالصفحة، وإنسان عند الحاجة.</a:t>
            </a:r>
          </a:p>
          <a:p>
            <a:pPr marL="0" indent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تنقطع عند الشهادة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تصدير قاعدة بيانات المنصة في ‎8‎ سبتمبر ‎2026‎ · أعداد مجمّعة دون نص أي محادثة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‎16,653‎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على المنصة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‎150‎ دولة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‎166‎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أعلنوا إسلامهم في المحادثة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تهنئة، ثم طلب وسيلة تواصل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‎89‎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انتهت خلال رسالتين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‎54%‎ من ‎166‎ بعد الشهادة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‎11‎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فقط تركوا وسيلة تواصل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‎6.6%‎ من ‎166‎</a:t>
            </a:r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‎22‎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 سألوا: كيف أتوضأ؟ كيف أصلي؟ ماذا أفعل الآن؟ والمنصة ممنوعة عمداً من تعليم العبادة من ذاكرة النموذج.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 والممارسة الحالية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مسلم جديد يحتاج جواباً الآن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شخص أعلن إسلامه للتو داخل theislam.chat، بلغته، وقد لا يكون حوله مسلمون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195387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لحظة حساسة، يكتب بلغته من أي بلد، ويسأل فوراً: ماذا أفعل الآن؟ كيف أتوضأ؟ كيف أصلي؟ كيف أقرأ الفاتحة؟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الممارسة الحالية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تهنئة بسطر أو سطرين، ثم طلب وسيلة تواصل لمتابعة بشرية لاحقة. لا مسار تعليمي داخل المحادثة، وتعليم الوضوء والصلاة من ذاكرة النموذج ممنوع عمداً.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يحدث بعدها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 لم يترك وسيلة تواصل انقطعت رحلته: ‎11‎ فقط من ‎166‎ تركوا وسيلة تواصل، و‎13‎ عادوا في يوم لاحق. وملف PDF أو روبوت عام لا يضمن مصدراً ولا استمراراً.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09625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1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الهدف: </a:t>
            </a:r>
            <a:r>
              <a:rPr lang="ar-SA" sz="21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أن تكون الشهادة بداية رحلة تعليم موثّقة ومستمرة في المكان نفسه، لا نهاية المحادثة.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المحادثة نفسها تصبح الفصل الدراسي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ست خطوات من لحظة الشهادة، كلها من كتاب «الوجيز» (مركز أصول) وبلغة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التهنئة يرسل البوت إشارة خفية، فتفتح الوحدة تحت الرسالة نفسها.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2398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3" name="deck 3003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والديانة السابقة والبلد وما سأل عنه، كل حقل بجملة المستخدم نفسها. لا يُحفظ شيء قبل موافقته.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16300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5" name="deck 3005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الدرس الأول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معنى الشهادتين. كل جملة برقم يفتح نص الكتاب وصفحته.</a:t>
            </a:r>
          </a:p>
        </p:txBody>
      </p:sp>
      <p:sp>
        <p:nvSpPr>
          <p:cNvPr id="3006" name="deck 3006"/>
          <p:cNvSpPr/>
          <p:nvPr/>
        </p:nvSpPr>
        <p:spPr>
          <a:xfrm>
            <a:off x="90201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ماذا أتعلم أولاً؟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 أو الصلاة أو الفاتحة أو «لا أعرف». الكود يرتّب المسار بقواعد ثابتة.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64103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9" name="deck 3009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دروس وأسئلة حرة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في اليوم بتذكير بالبريد، وسؤال في أي وقت يُجاب من الكتاب وحده.</a:t>
            </a:r>
          </a:p>
        </p:txBody>
      </p:sp>
      <p:sp>
        <p:nvSpPr>
          <p:cNvPr id="3010" name="deck 3010"/>
          <p:cNvSpPr/>
          <p:nvPr/>
        </p:nvSpPr>
        <p:spPr>
          <a:xfrm>
            <a:off x="38004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1" name="deck 3011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مرشد أو مرشدة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للفتوى الشخصية أو الأزمة أو الحاجة العملية، ببطاقة يراها ويوافق عليها.</a:t>
            </a:r>
          </a:p>
        </p:txBody>
      </p:sp>
      <p:sp>
        <p:nvSpPr>
          <p:cNvPr id="3012" name="deck 3012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أُضيف أيضاً: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مراحل الجواب الحية أثناء الانتظار · «استمع وردّد» بالمصحف المعلّم (المنشاوي) · تمارين تفاعلية من أسئلة الكتاب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(‎1‎)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لقطات من نافذة بعرض ‎1280‎ بكسل</a:t>
            </a:r>
          </a:p>
        </p:txBody>
      </p:sp>
      <p:pic>
        <p:nvPicPr>
          <p:cNvPr id="3002" name="screenshot start" descr="بطاقة البداية: كل حقل بجملة المستخدم نفسها، قابل للتعديل والحذف، ولا يُحفظ قبل «متابعة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البداية: كل حقل بجملة المستخدم نفسها، قابل للتعديل والحذف، ولا يُحفظ قبل «متابعة»</a:t>
            </a:r>
          </a:p>
        </p:txBody>
      </p:sp>
      <p:pic>
        <p:nvPicPr>
          <p:cNvPr id="3004" name="screenshot lesson" descr="درس معنى الشهادتين: الرقم يفتح نص «الوجيز» وصفحته تحت الجملة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معنى الشهادتين: الرقم يفتح نص «الوجيز» وصفحته تحت الجملة</a:t>
            </a:r>
          </a:p>
        </p:txBody>
      </p:sp>
      <p:pic>
        <p:nvPicPr>
          <p:cNvPr id="3006" name="screenshot wudu" descr="الوضوء: الخطوات بلفظ الكتاب وترتيبه، ثم تمارين من أسئلة الكتاب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الوضوء: الخطوات بلفظ الكتاب وترتيبه، ثم تمارين من أسئلة الكتاب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(‎2‎)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الأسئلة: «ما نواقض الوضوء؟» · «ما أنصبة البنات في الميراث؟» · «زوجتي مسيحية، هل زواجنا ما زال صحيحاً؟»</a:t>
            </a:r>
          </a:p>
        </p:txBody>
      </p:sp>
      <p:pic>
        <p:nvPicPr>
          <p:cNvPr id="3002" name="screenshot answer" descr="جواب موثّق: كل جملة برقم مصدرها، ورابط «هذا من درس: الوضوء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موثّق: كل جملة برقم مصدرها، ورابط «هذا من درس: الوضوء»</a:t>
            </a:r>
          </a:p>
        </p:txBody>
      </p:sp>
      <p:pic>
        <p:nvPicPr>
          <p:cNvPr id="3004" name="screenshot refusal" descr="ليس في الكتاب: امتناع صريح وزر «تحدث إلى إنسان»، لا جواب من ذاكرة النموذج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ليس في الكتاب: امتناع صريح وزر «تحدث إلى إنسان»، لا جواب من ذاكرة النموذج</a:t>
            </a:r>
          </a:p>
        </p:txBody>
      </p:sp>
      <p:pic>
        <p:nvPicPr>
          <p:cNvPr id="3006" name="screenshot dialog" descr="الإحالة: يختار مرشداً أو مرشدة، ويرى كل ما سيُرسل قبل أن يوافق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الإحالة: يختار مرشداً أو مرشدة، ويرى كل ما سيُرسل قبل أن يوافق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 والذكاء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يُصنع الجواب؟ خمس مراحل يحرسها الكود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فقط؛ النصوص المقتبسة والآيات يدرجها الكود من مصادرها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3982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الموجّه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إشارتان مستقلتان: قائمة ثابتة لعبارات الأزمة بعدة لغات، وتصنيف النموذج: منهج، خارج الكتاب، فتوى شخصية، أزمة، حاجة عملية، خلاف معتبر، غير متأكد. أيّهما أحال، أُحيل.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77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gemini-‎3.5‎-flash-lite</a:t>
            </a:r>
          </a:p>
        </p:txBody>
      </p:sp>
      <p:sp>
        <p:nvSpPr>
          <p:cNvPr id="3003" name="deck 3003"/>
          <p:cNvSpPr/>
          <p:nvPr/>
        </p:nvSpPr>
        <p:spPr>
          <a:xfrm>
            <a:off x="137160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4" name="deck 3004"/>
          <p:cNvSpPr/>
          <p:nvPr/>
        </p:nvSpPr>
        <p:spPr>
          <a:xfrm>
            <a:off x="108394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الهجين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ودلالي معاً في مقاطع «الوجيز»، مع ترجمة السؤال عند الحاجة. إن لم يبلغ مقطع حد الصلة: «ليس في الكتاب».</a:t>
            </a:r>
          </a:p>
        </p:txBody>
      </p:sp>
      <p:sp>
        <p:nvSpPr>
          <p:cNvPr id="3005" name="deck 3005"/>
          <p:cNvSpPr/>
          <p:nvPr/>
        </p:nvSpPr>
        <p:spPr>
          <a:xfrm>
            <a:off x="109347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BM‎25‎ + gemini-embedding-‎2‎</a:t>
            </a:r>
          </a:p>
        </p:txBody>
      </p:sp>
      <p:sp>
        <p:nvSpPr>
          <p:cNvPr id="3006" name="deck 3006"/>
          <p:cNvSpPr/>
          <p:nvPr/>
        </p:nvSpPr>
        <p:spPr>
          <a:xfrm>
            <a:off x="105727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76962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التوليد المقيّد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يكتب النموذج الجواب بلغة المستخدم، وبعد كل جملة معرّف المقطع الذي يسندها، ولا يكتب اقتباساً ولا آية.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77914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gemini-‎3.8‎-flash</a:t>
            </a:r>
          </a:p>
        </p:txBody>
      </p:sp>
      <p:sp>
        <p:nvSpPr>
          <p:cNvPr id="3009" name="deck 3009"/>
          <p:cNvSpPr/>
          <p:nvPr/>
        </p:nvSpPr>
        <p:spPr>
          <a:xfrm>
            <a:off x="74295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0" name="deck 3010"/>
          <p:cNvSpPr/>
          <p:nvPr/>
        </p:nvSpPr>
        <p:spPr>
          <a:xfrm>
            <a:off x="45529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الفاحص (كود)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يحذف كل جملة بلا مقطع مسترجَع، ويطابق كل اقتباس بنص الكتاب، ويدرج الآيات من Tanzil. إن حُذف أكثر من الثلث أعاد التوليد مرة، ثم يعتذر ويعرض مرشداً.</a:t>
            </a:r>
          </a:p>
        </p:txBody>
      </p:sp>
      <p:sp>
        <p:nvSpPr>
          <p:cNvPr id="3011" name="deck 3011"/>
          <p:cNvSpPr/>
          <p:nvPr/>
        </p:nvSpPr>
        <p:spPr>
          <a:xfrm>
            <a:off x="46482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قواعد ثابتة، دون نموذج</a:t>
            </a:r>
          </a:p>
        </p:txBody>
      </p:sp>
      <p:sp>
        <p:nvSpPr>
          <p:cNvPr id="3012" name="deck 3012"/>
          <p:cNvSpPr/>
          <p:nvPr/>
        </p:nvSpPr>
        <p:spPr>
          <a:xfrm>
            <a:off x="42862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3" name="deck 3013"/>
          <p:cNvSpPr/>
          <p:nvPr/>
        </p:nvSpPr>
        <p:spPr>
          <a:xfrm>
            <a:off x="1409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العرض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الجواب بمصادره القابلة للنقر، ورابط درسه، ومراحل حية أثناء الانتظار، وزر «أبلغ عن خطأ».</a:t>
            </a:r>
          </a:p>
        </p:txBody>
      </p:sp>
      <p:sp>
        <p:nvSpPr>
          <p:cNvPr id="3014" name="deck 3014"/>
          <p:cNvSpPr/>
          <p:nvPr/>
        </p:nvSpPr>
        <p:spPr>
          <a:xfrm>
            <a:off x="1504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داخل واجهة theislam.chat</a:t>
            </a:r>
          </a:p>
        </p:txBody>
      </p:sp>
      <p:sp>
        <p:nvSpPr>
          <p:cNvPr id="3015" name="deck 3015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مبدأ حاسم: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لا يكتب اقتباساً ولا آية؛ يخرج معرّف المقطع، والكود يدرج النص الأصلي ويتحقق من مطابقته.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 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أربعة مستويات للمحتوى، ولكل مستوى سلوك ثابت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الحزمة العلمية للتحدي، مطبّقة في الموجّه والفاحص والنصوص الثابتة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وكل درس وجواب عليه «أبلغ عن خطأ»، والدروس التي لم يعتمدها المختص تُعرض بنص الكتاب وصفحته فقط.</a:t>
            </a:r>
            <a:endParaRPr/>
          </a:p>
        </p:txBody>
      </p:sp>
      <p:graphicFrame>
        <p:nvGraphicFramePr>
          <p:cNvPr id="3001" name="content levels"/>
          <p:cNvGraphicFramePr>
            <a:graphicFrameLocks noGrp="1"/>
          </p:cNvGraphicFramePr>
          <p:nvPr/>
        </p:nvGraphicFramePr>
        <p:xfrm>
          <a:off x="1409700" y="3810000"/>
          <a:ext cx="15430500" cy="4819650"/>
        </p:xfrm>
        <a:graphic>
          <a:graphicData uri="http://schemas.openxmlformats.org/drawingml/2006/table">
            <a:tbl>
              <a:tblPr rtl="1" firstRow="1" bandRow="0"/>
              <a:tblGrid>
                <a:gridCol w="3810000"/>
                <a:gridCol w="8382000"/>
                <a:gridCol w="3238500"/>
              </a:tblGrid>
              <a:tr h="5524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يفعله النظام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الثوابت وصفة العبادة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الكتاب: الخطوات بلفظ «الوجيز» وترتيبه دون اختصار، والآية من Tanzil وترجمة معانيها من QuranEnc.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خطوات الوضوء والصلاة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«الوجيز» ثم ملاحظة ثابتة: قول معتبر عند أهل العلم، ولبعضهم قول آخر، وما تراه في مسجدك قد يكون صحيحاً أيضاً.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صفة في الصلاة تختلف عما يراه في مسجده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صريح: «لم أجد جواب هذا السؤال في الوجيز» مع زر «تحدث إلى إنسان». لا جواب من ذاكرة النموذج.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أنصبة الميراث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 شخصية أو أزمة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يولَّد حكم؛ إحالة إلى مرشد أو مرشدة. عند إيذاء النفس يظهر رقم الطوارئ في بلده أولاً (‎988‎ في أمريكا).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«زوجتي مسيحية، هل زواجنا صحيح؟»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على أسئلة ثُبّتت ببصمة قبل البناء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المثبتة: ‎200‎ سؤال × ‎3‎ محاولات · مقارنة بالنموذج نفسه والمقاطع نفسها، بلا فاحص ولا موجّه</a:t>
            </a:r>
            <a:endParaRPr/>
          </a:p>
        </p:txBody>
      </p:sp>
      <p:graphicFrame>
        <p:nvGraphicFramePr>
          <p:cNvPr id="3001" name="results"/>
          <p:cNvGraphicFramePr>
            <a:graphicFrameLocks noGrp="1"/>
          </p:cNvGraphicFramePr>
          <p:nvPr/>
        </p:nvGraphicFramePr>
        <p:xfrm>
          <a:off x="5981700" y="3667125"/>
          <a:ext cx="10858500" cy="4419600"/>
        </p:xfrm>
        <a:graphic>
          <a:graphicData uri="http://schemas.openxmlformats.org/drawingml/2006/table">
            <a:tbl>
              <a:tblPr rtl="1" firstRow="1" bandRow="0"/>
              <a:tblGrid>
                <a:gridCol w="5143500"/>
                <a:gridCol w="2762250"/>
                <a:gridCol w="295275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الفاحص والموجّه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نفسه بلا فاحص ولا 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الاقتباسات المطابقة لنص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(‎444/444‎)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‎92.1%‎ (‎760/825‎)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لا حكم، مع عرض مرشد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‎98.9%‎ (‎89/90‎)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إحالة مباشرة إلى إنسان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إيذاء النفس: رسالة 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(‎12/12‎)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الكتاب: امتناع أو إحالة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‎91.1%‎ (‎82/90‎)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‎85.6%‎ (‎77/90‎)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رُفضت خطأً (الأقل أفضل)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‎1.9%‎ (‎7/360‎)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‎4.2%‎ (‎15/360‎)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أُجيبت صحيحاً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الجمل المسندة إلى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‎99.5%‎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أجوبة مسندة بالكامل إلى مقاطعها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‎96.8%‎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‎99.0%‎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 عُرضت مع السعة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‎86.7%‎ (‎52/60‎)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‎0%‎ (‎0/60‎)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الجواب مربوط بدرسه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‎95.2%‎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‎120/120‎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ترتيب الدروس صحيح في كل الرحلات المحاكاة: ‎30‎ مستخدماً يعودون في ‎4‎ أيام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‎111/120‎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رحلات صحيحة بالمرجع المثبّت، أي ‎92.5%‎؛ وتصبح ‎119/120‎ حين يُربط السؤال بالدرس الذي في صفحاته الجواب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الجواب؛ ومتوسط التكلفة ‎0.0013$‎ للسؤال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لم نبلغه: الإحالة المباشرة للحالات الحرجة ‎81%‎ مقابل هدف ‎100%‎؛ والبقية تلقّت «ليس في الكتاب» مع عرض مرشد، دون حكم. التقرير الكامل: docs/evaluation.md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الأصالة والقيمة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لا تقدمه البدائل؟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بما يجده المسلم الجديد اليوم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 ثم طلب وسيلة تواصل؛ وتعليم العبادة من ذاكرة النموذج ممنوع.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أول درس موثّق يبدأ فوراً في المحادثة نفسها، بلغة المستخدم.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ملف PDF أو بحث نصي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أين توقف المستخدم، ولا يجيب بلغته حوارياً، ولا يذكّره.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منهج يحفظ التقدم، ودرس في اليوم بتذكير، وجواب سياقي برقم الصفحة.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عام مع الكتاب مرفقاً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قد ينسب إلى الكتاب ما ليس فيه، ويفتي في الحالات الشخصية.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فاحص بالكود: اقتباسات مطابقة ‎100%‎ مقابل ‎92.1%‎، وموجّه يمتنع ويحيل، و«الوجيز» هو المنهج.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الجديد: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 تتحول من نهاية محادثة إلى بداية منهج، داخل منصة قائمة تصل فعلاً إلى غير المسلمين.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واللغات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مصدر واحد موثوق، بلغات المستخدمين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نص ديني يولّده النموذج: الكتاب والمصحف والترجمات تُعرض من مصادرها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«الوجيز»: ‎10‎ طبعات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حُوّلت إلى نص، كل مقطع بصفحته وبصمته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ar · en · fr · es · id · pt · ru · bs · vi · th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‎19‎ درساً في ‎4‎ وحدات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بجمل مرقّمة، وأسئلة فهم وتمارين من أسئلة الكتاب؛ وغير المعتمد يُعرض بنصه فقط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القرآن الكريم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Tanzil وترجمة المعاني من QuranEnc بأكثر من ‎20‎ لغة، و«استمع وردّد» بالمصحف المعلّم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بقية اللغات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من النص العربي أو الإنجليزي بوسم «شرح مترجم آلياً، والأصل مرفق»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جاهز للتشغيل من اليوم التالي للتحدي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تكلفة منخفضة، ومراجعة بشرية دورية، وقياس مجمّع لا يمس الخصوصية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09700" y="3810000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‎0.0013$‎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تكلفة السؤال على المجموعة المثبتة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9700" y="6143625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الجواب، مع مراحل حية أثناء الانتظار</a:t>
            </a:r>
          </a:p>
        </p:txBody>
      </p:sp>
      <p:pic>
        <p:nvPicPr>
          <p:cNvPr id="3003" name="icon 1" descr="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097250" y="38385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4" name="deck 3004"/>
          <p:cNvSpPr txBox="1"/>
          <p:nvPr/>
        </p:nvSpPr>
        <p:spPr>
          <a:xfrm>
            <a:off x="6286500" y="37623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بلاغات «أبلغ عن خطأ» والإحالات تصل إلى لوحة المرشد، ويراجعها المختص كل أسبوع.</a:t>
            </a:r>
          </a:p>
        </p:txBody>
      </p:sp>
      <p:pic>
        <p:nvPicPr>
          <p:cNvPr id="3005" name="icon 2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6097250" y="50577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6" name="deck 3006"/>
          <p:cNvSpPr txBox="1"/>
          <p:nvPr/>
        </p:nvSpPr>
        <p:spPr>
          <a:xfrm>
            <a:off x="6286500" y="49815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اعتماد تدريجي للدروس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يعتمد المختص الشرعي بقية الدروس واللغات؛ وما لم يُعتمد يُعرض بنص الكتاب وصفحته فقط.</a:t>
            </a:r>
          </a:p>
        </p:txBody>
      </p:sp>
      <p:pic>
        <p:nvPicPr>
          <p:cNvPr id="3007" name="icon 3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6097250" y="62769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08" name="deck 3008"/>
          <p:cNvSpPr txBox="1"/>
          <p:nvPr/>
        </p:nvSpPr>
        <p:spPr>
          <a:xfrm>
            <a:off x="6286500" y="62007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قياس مجمّع من ‎7‎ أكتوبر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فتحوا المنهج، ومن أكملوا درس الصلاة، ومن عادوا في يوم لاحق، وصحة أسئلة الفهم، والإحالات. أعداد فقط.</a:t>
            </a:r>
          </a:p>
        </p:txBody>
      </p:sp>
      <p:pic>
        <p:nvPicPr>
          <p:cNvPr id="3009" name="icon 4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6097250" y="7496175"/>
            <a:ext cx="742950" cy="742950"/>
          </a:xfrm>
          <a:prstGeom prst="roundRect">
            <a:avLst>
              <a:gd name="adj" fmla="val 2500"/>
            </a:avLst>
          </a:prstGeom>
          <a:ln>
            <a:noFill/>
          </a:ln>
        </p:spPr>
      </p:pic>
      <p:sp>
        <p:nvSpPr>
          <p:cNvPr id="3010" name="deck 3010"/>
          <p:cNvSpPr txBox="1"/>
          <p:nvPr/>
        </p:nvSpPr>
        <p:spPr>
          <a:xfrm>
            <a:off x="6286500" y="7419975"/>
            <a:ext cx="9572625" cy="1047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مزوّد احتياطي بإعداد واحد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LLM_PROVIDER=openai يبدّل مزوّد التوليد؛ والخدمة حاوية واحدة خلف nginx وCloudflare.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الإفصاح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خلال التحدي، وما كان قائماً قبله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قابل للتحقق: وسم Git سابق للتحدي، وسجل الالتزامات، وملف فرق المنصة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بُني خلال ‎4‎–‎6‎ أكتوبر ‎2026‎ (يُقيَّم)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المستودع، ورقعة دمج من ‎181‎ سطراً على نسخة المنصة الموسومة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قائم قبل التحدي (لا نطلب تقييمه)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theislam.chat لجمعية أصول، تعمل منذ أكتوبر ‎2024‎، موسومة pre-challenge-‎2026‎-‎10‎-‎03‎</a:t>
            </a:r>
            <a:endParaRPr/>
          </a:p>
        </p:txBody>
      </p:sp>
      <p:sp>
        <p:nvSpPr>
          <p:cNvPr id="3001" name="deck 3001"/>
          <p:cNvSpPr txBox="1"/>
          <p:nvPr/>
        </p:nvSpPr>
        <p:spPr>
          <a:xfrm>
            <a:off x="969645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الوحدة: بطاقة البداية، المنهج والدروس، الأسئلة، الإحالة ولوحة المرشد، الحساب والتذكير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الموجّه والاسترجاع الهجين والفاحص، وتحويل ‎10‎ طبعات من «الوجيز» إلى نص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مجموعات التقييم المثبّتة ببصمة قبل البناء، وأداة محاكاة الرحلات</a:t>
            </a:r>
          </a:p>
        </p:txBody>
      </p:sp>
      <p:sp>
        <p:nvSpPr>
          <p:cNvPr id="3002" name="deck 3002"/>
          <p:cNvSpPr txBox="1"/>
          <p:nvPr/>
        </p:nvSpPr>
        <p:spPr>
          <a:xfrm>
            <a:off x="140970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الواجهة، والمحادثة الصوتية، وزر «تحدث إلى إنسان»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تعليمات الحوار الدعوي قبل الشهادة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 يُستخدم نص أي محادثة حقيقية في الكود أو الاختبار أو العرض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ندّعي: </a:t>
            </a: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 لدى مسلمين جدد حقيقيين خلال مدة التحدي. والحالات الحرجة الثلاثون كتبها عضو الفريق الذي بنى الموجّه، وجُمّدت في أول التزام.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جمعية أصول · theislam.chat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3982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/>
          <p:nvPr/>
        </p:nvSpPr>
        <p:spPr>
          <a:xfrm>
            <a:off x="14697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4173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قائد الفريق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العرض والتنسيق والتسليم</a:t>
            </a:r>
          </a:p>
        </p:txBody>
      </p:sp>
      <p:sp>
        <p:nvSpPr>
          <p:cNvPr id="3004" name="deck 3004"/>
          <p:cNvSpPr/>
          <p:nvPr/>
        </p:nvSpPr>
        <p:spPr>
          <a:xfrm>
            <a:off x="108394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/>
          <p:nvPr/>
        </p:nvSpPr>
        <p:spPr>
          <a:xfrm>
            <a:off x="115538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10299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مهندس الذكاء الاصطناعي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والتوليد المقيّد والفاحص والتقييم</a:t>
            </a:r>
          </a:p>
        </p:txBody>
      </p:sp>
      <p:sp>
        <p:nvSpPr>
          <p:cNvPr id="3007" name="deck 3007"/>
          <p:cNvSpPr/>
          <p:nvPr/>
        </p:nvSpPr>
        <p:spPr>
          <a:xfrm>
            <a:off x="76962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/>
          <p:nvPr/>
        </p:nvSpPr>
        <p:spPr>
          <a:xfrm>
            <a:off x="84105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78867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الخلفية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الخدمة والحساب والإحالة ولوحة المرشد</a:t>
            </a:r>
          </a:p>
        </p:txBody>
      </p:sp>
      <p:sp>
        <p:nvSpPr>
          <p:cNvPr id="3010" name="deck 3010"/>
          <p:cNvSpPr/>
          <p:nvPr/>
        </p:nvSpPr>
        <p:spPr>
          <a:xfrm>
            <a:off x="45529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1" name="deck 3011"/>
          <p:cNvSpPr/>
          <p:nvPr/>
        </p:nvSpPr>
        <p:spPr>
          <a:xfrm>
            <a:off x="52673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</p:txBody>
      </p:sp>
      <p:sp>
        <p:nvSpPr>
          <p:cNvPr id="3012" name="deck 3012"/>
          <p:cNvSpPr txBox="1"/>
          <p:nvPr/>
        </p:nvSpPr>
        <p:spPr>
          <a:xfrm>
            <a:off x="47434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الواجهات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 داخل واجهة theislam.chat</a:t>
            </a:r>
          </a:p>
        </p:txBody>
      </p:sp>
      <p:sp>
        <p:nvSpPr>
          <p:cNvPr id="3013" name="deck 3013"/>
          <p:cNvSpPr/>
          <p:nvPr/>
        </p:nvSpPr>
        <p:spPr>
          <a:xfrm>
            <a:off x="1409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4" name="deck 3014"/>
          <p:cNvSpPr/>
          <p:nvPr/>
        </p:nvSpPr>
        <p:spPr>
          <a:xfrm>
            <a:off x="2124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</p:txBody>
      </p:sp>
      <p:sp>
        <p:nvSpPr>
          <p:cNvPr id="3015" name="deck 3015"/>
          <p:cNvSpPr txBox="1"/>
          <p:nvPr/>
        </p:nvSpPr>
        <p:spPr>
          <a:xfrm>
            <a:off x="1600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الدروس والحالات الحرجة والبلاغات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theislam.chat | ما بعد الشهادة · جمعية أصول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  ·  github.com/MidadeAITeam/shahada-theislam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
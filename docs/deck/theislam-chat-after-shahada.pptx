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slide+xml" PartName="/ppt/slides/slide1.xml"/>
  <Override ContentType="application/vnd.openxmlformats-officedocument.presentationml.notesSlide+xml" PartName="/ppt/notesSlides/notesSlide1.xml"/>
  <Override ContentType="application/vnd.openxmlformats-officedocument.presentationml.slide+xml" PartName="/ppt/slides/slide2.xml"/>
  <Override ContentType="application/vnd.openxmlformats-officedocument.presentationml.notesSlide+xml" PartName="/ppt/notesSlides/notesSlide2.xml"/>
  <Override ContentType="application/vnd.openxmlformats-officedocument.presentationml.slide+xml" PartName="/ppt/slides/slide3.xml"/>
  <Override ContentType="application/vnd.openxmlformats-officedocument.presentationml.notesSlide+xml" PartName="/ppt/notesSlides/notesSlide3.xml"/>
  <Override ContentType="application/vnd.openxmlformats-officedocument.presentationml.slide+xml" PartName="/ppt/slides/slide4.xml"/>
  <Override ContentType="application/vnd.openxmlformats-officedocument.presentationml.notesSlide+xml" PartName="/ppt/notesSlides/notesSlide4.xml"/>
  <Override ContentType="application/vnd.openxmlformats-officedocument.presentationml.slide+xml" PartName="/ppt/slides/slide5.xml"/>
  <Override ContentType="application/vnd.openxmlformats-officedocument.presentationml.notesSlide+xml" PartName="/ppt/notesSlides/notesSlide5.xml"/>
  <Override ContentType="application/vnd.openxmlformats-officedocument.presentationml.slide+xml" PartName="/ppt/slides/slide6.xml"/>
  <Override ContentType="application/vnd.openxmlformats-officedocument.presentationml.notesSlide+xml" PartName="/ppt/notesSlides/notesSlide6.xml"/>
  <Override ContentType="application/vnd.openxmlformats-officedocument.presentationml.slide+xml" PartName="/ppt/slides/slide7.xml"/>
  <Override ContentType="application/vnd.openxmlformats-officedocument.presentationml.notesSlide+xml" PartName="/ppt/notesSlides/notesSlide7.xml"/>
  <Override ContentType="application/vnd.openxmlformats-officedocument.presentationml.slide+xml" PartName="/ppt/slides/slide8.xml"/>
  <Override ContentType="application/vnd.openxmlformats-officedocument.presentationml.notesSlide+xml" PartName="/ppt/notesSlides/notesSlide8.xml"/>
  <Override ContentType="application/vnd.openxmlformats-officedocument.presentationml.slide+xml" PartName="/ppt/slides/slide9.xml"/>
  <Override ContentType="application/vnd.openxmlformats-officedocument.presentationml.notesSlide+xml" PartName="/ppt/notesSlides/notesSlide9.xml"/>
  <Override ContentType="application/vnd.openxmlformats-officedocument.presentationml.slide+xml" PartName="/ppt/slides/slide10.xml"/>
  <Override ContentType="application/vnd.openxmlformats-officedocument.presentationml.notesSlide+xml" PartName="/ppt/notesSlides/notesSlide10.xml"/>
  <Override ContentType="application/vnd.openxmlformats-officedocument.presentationml.slide+xml" PartName="/ppt/slides/slide11.xml"/>
  <Override ContentType="application/vnd.openxmlformats-officedocument.presentationml.notesSlide+xml" PartName="/ppt/notesSlides/notesSlide11.xml"/>
  <Override ContentType="application/vnd.openxmlformats-officedocument.presentationml.slide+xml" PartName="/ppt/slides/slide12.xml"/>
  <Override ContentType="application/vnd.openxmlformats-officedocument.presentationml.notesSlide+xml" PartName="/ppt/notesSlides/notesSlide12.xml"/>
  <Override ContentType="application/vnd.openxmlformats-officedocument.presentationml.slide+xml" PartName="/ppt/slides/slide13.xml"/>
  <Override ContentType="application/vnd.openxmlformats-officedocument.presentationml.notesSlide+xml" PartName="/ppt/notesSlides/notesSlide13.xml"/>
  <Override ContentType="application/vnd.openxmlformats-officedocument.presentationml.slide+xml" PartName="/ppt/slides/slide14.xml"/>
  <Override ContentType="application/vnd.openxmlformats-officedocument.presentationml.notesSlide+xml" PartName="/ppt/notesSlides/notesSlide14.xml"/>
  <Override ContentType="application/vnd.openxmlformats-officedocument.presentationml.slide+xml" PartName="/ppt/slides/slide15.xml"/>
  <Override ContentType="application/vnd.openxmlformats-officedocument.presentationml.notesSlide+xml" PartName="/ppt/notesSlides/notesSlide15.xml"/>
  <Override ContentType="application/vnd.openxmlformats-officedocument.presentationml.slide+xml" PartName="/ppt/slides/slide16.xml"/>
  <Override ContentType="application/vnd.openxmlformats-officedocument.presentationml.notesSlide+xml" PartName="/ppt/notesSlides/notesSlide16.xml"/>
  <Override ContentType="application/vnd.openxmlformats-officedocument.presentationml.slide+xml" PartName="/ppt/slides/slide17.xml"/>
  <Override ContentType="application/vnd.openxmlformats-officedocument.presentationml.notesSlide+xml" PartName="/ppt/notesSlides/notesSlide17.xml"/>
  <Override ContentType="application/vnd.openxmlformats-officedocument.presentationml.slide+xml" PartName="/ppt/slides/slide18.xml"/>
  <Override ContentType="application/vnd.openxmlformats-officedocument.presentationml.notesSlide+xml" PartName="/ppt/notesSlides/notesSlide18.xml"/>
  <Override ContentType="application/vnd.openxmlformats-officedocument.presentationml.slide+xml" PartName="/ppt/slides/slide19.xml"/>
  <Override ContentType="application/vnd.openxmlformats-officedocument.presentationml.notesSlide+xml" PartName="/ppt/notesSlides/notesSlide19.xml"/>
  <Override ContentType="application/vnd.openxmlformats-officedocument.presentationml.slide+xml" PartName="/ppt/slides/slide20.xml"/>
  <Override ContentType="application/vnd.openxmlformats-officedocument.presentationml.notesSlide+xml" PartName="/ppt/notesSlides/notesSlide20.xml"/>
  <Override ContentType="application/vnd.openxmlformats-officedocument.presentationml.slide+xml" PartName="/ppt/slides/slide21.xml"/>
  <Override ContentType="application/vnd.openxmlformats-officedocument.presentationml.notesSlide+xml" PartName="/ppt/notesSlides/notesSlide21.xml"/>
  <Override ContentType="application/vnd.openxmlformats-officedocument.presentationml.slide+xml" PartName="/ppt/slides/slide22.xml"/>
  <Override ContentType="application/vnd.openxmlformats-officedocument.presentationml.notesSlide+xml" PartName="/ppt/notesSlides/notesSlide22.xml"/>
  <Override ContentType="application/vnd.openxmlformats-officedocument.presentationml.slide+xml" PartName="/ppt/slides/slide23.xml"/>
  <Override ContentType="application/vnd.openxmlformats-officedocument.presentationml.notesSlide+xml" PartName="/ppt/notesSlides/notesSlide23.xml"/>
  <Override ContentType="application/vnd.openxmlformats-officedocument.presentationml.slide+xml" PartName="/ppt/slides/slide24.xml"/>
  <Override ContentType="application/vnd.openxmlformats-officedocument.presentationml.notesSlide+xml" PartName="/ppt/notesSlides/notesSlide24.xml"/>
  <Override ContentType="application/vnd.openxmlformats-officedocument.presentationml.slide+xml" PartName="/ppt/slides/slide25.xml"/>
  <Override ContentType="application/vnd.openxmlformats-officedocument.presentationml.notesSlide+xml" PartName="/ppt/notesSlides/notesSlide25.xml"/>
  <Override ContentType="application/vnd.openxmlformats-officedocument.presentationml.slide+xml" PartName="/ppt/slides/slide26.xml"/>
  <Override ContentType="application/vnd.openxmlformats-officedocument.presentationml.notesSlide+xml" PartName="/ppt/notesSlides/notesSlide26.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Deck1"/>
    <p:sldId id="257" r:id="rIdDeck2"/>
    <p:sldId id="258" r:id="rIdDeck3"/>
    <p:sldId id="259" r:id="rIdDeck4"/>
    <p:sldId id="260" r:id="rIdDeck5"/>
    <p:sldId id="261" r:id="rIdDeck6"/>
    <p:sldId id="262" r:id="rIdDeck7"/>
    <p:sldId id="263" r:id="rIdDeck8"/>
    <p:sldId id="264" r:id="rIdDeck9"/>
    <p:sldId id="265" r:id="rIdDeck10"/>
    <p:sldId id="266" r:id="rIdDeck11"/>
    <p:sldId id="267" r:id="rIdDeck12"/>
    <p:sldId id="268" r:id="rIdDeck13"/>
    <p:sldId id="269" r:id="rIdDeck14"/>
    <p:sldId id="270" r:id="rIdDeck15"/>
    <p:sldId id="271" r:id="rIdDeck16"/>
    <p:sldId id="272" r:id="rIdDeck17"/>
    <p:sldId id="273" r:id="rIdDeck18"/>
    <p:sldId id="274" r:id="rIdDeck19"/>
    <p:sldId id="275" r:id="rIdDeck20"/>
    <p:sldId id="276" r:id="rIdDeck21"/>
    <p:sldId id="277" r:id="rIdDeck22"/>
    <p:sldId id="278" r:id="rIdDeck23"/>
    <p:sldId id="279" r:id="rIdDeck24"/>
    <p:sldId id="280" r:id="rIdDeck25"/>
    <p:sldId id="281" r:id="rIdDeck2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7" Type="http://schemas.openxmlformats.org/officeDocument/2006/relationships/font" Target="fonts/Urbanist-regular.fntdata"/><Relationship Id="rId39" Type="http://schemas.openxmlformats.org/officeDocument/2006/relationships/font" Target="fonts/Urbanist-italic.fntdata"/><Relationship Id="rId38" Type="http://schemas.openxmlformats.org/officeDocument/2006/relationships/font" Target="fonts/Urbanist-bold.fntdata"/><Relationship Id="rIdDeck1" Type="http://schemas.openxmlformats.org/officeDocument/2006/relationships/slide" Target="slides/slide1.xml"/><Relationship Id="rIdDeck2" Type="http://schemas.openxmlformats.org/officeDocument/2006/relationships/slide" Target="slides/slide2.xml"/><Relationship Id="rIdDeck3" Type="http://schemas.openxmlformats.org/officeDocument/2006/relationships/slide" Target="slides/slide3.xml"/><Relationship Id="rIdDeck4" Type="http://schemas.openxmlformats.org/officeDocument/2006/relationships/slide" Target="slides/slide4.xml"/><Relationship Id="rIdDeck5" Type="http://schemas.openxmlformats.org/officeDocument/2006/relationships/slide" Target="slides/slide5.xml"/><Relationship Id="rIdDeck6" Type="http://schemas.openxmlformats.org/officeDocument/2006/relationships/slide" Target="slides/slide6.xml"/><Relationship Id="rIdDeck7" Type="http://schemas.openxmlformats.org/officeDocument/2006/relationships/slide" Target="slides/slide7.xml"/><Relationship Id="rIdDeck8" Type="http://schemas.openxmlformats.org/officeDocument/2006/relationships/slide" Target="slides/slide8.xml"/><Relationship Id="rIdDeck9" Type="http://schemas.openxmlformats.org/officeDocument/2006/relationships/slide" Target="slides/slide9.xml"/><Relationship Id="rIdDeck10" Type="http://schemas.openxmlformats.org/officeDocument/2006/relationships/slide" Target="slides/slide10.xml"/><Relationship Id="rIdDeck11" Type="http://schemas.openxmlformats.org/officeDocument/2006/relationships/slide" Target="slides/slide11.xml"/><Relationship Id="rIdDeck12" Type="http://schemas.openxmlformats.org/officeDocument/2006/relationships/slide" Target="slides/slide12.xml"/><Relationship Id="rIdDeck13" Type="http://schemas.openxmlformats.org/officeDocument/2006/relationships/slide" Target="slides/slide13.xml"/><Relationship Id="rIdDeck14" Type="http://schemas.openxmlformats.org/officeDocument/2006/relationships/slide" Target="slides/slide14.xml"/><Relationship Id="rIdDeck15" Type="http://schemas.openxmlformats.org/officeDocument/2006/relationships/slide" Target="slides/slide15.xml"/><Relationship Id="rIdDeck16" Type="http://schemas.openxmlformats.org/officeDocument/2006/relationships/slide" Target="slides/slide16.xml"/><Relationship Id="rIdDeck17" Type="http://schemas.openxmlformats.org/officeDocument/2006/relationships/slide" Target="slides/slide17.xml"/><Relationship Id="rIdDeck18" Type="http://schemas.openxmlformats.org/officeDocument/2006/relationships/slide" Target="slides/slide18.xml"/><Relationship Id="rIdDeck19" Type="http://schemas.openxmlformats.org/officeDocument/2006/relationships/slide" Target="slides/slide19.xml"/><Relationship Id="rIdDeck20" Type="http://schemas.openxmlformats.org/officeDocument/2006/relationships/slide" Target="slides/slide20.xml"/><Relationship Id="rIdDeck21" Type="http://schemas.openxmlformats.org/officeDocument/2006/relationships/slide" Target="slides/slide21.xml"/><Relationship Id="rIdDeck22" Type="http://schemas.openxmlformats.org/officeDocument/2006/relationships/slide" Target="slides/slide22.xml"/><Relationship Id="rIdDeck23" Type="http://schemas.openxmlformats.org/officeDocument/2006/relationships/slide" Target="slides/slide23.xml"/><Relationship Id="rIdDeck24" Type="http://schemas.openxmlformats.org/officeDocument/2006/relationships/slide" Target="slides/slide24.xml"/><Relationship Id="rIdDeck25" Type="http://schemas.openxmlformats.org/officeDocument/2006/relationships/slide" Target="slides/slide25.xml"/><Relationship Id="rIdDeck2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(10 ث) نحن جمعية أصول، صاحبة منصة theislam.chat للحوار مع غير المسلمين. مشروعنا: ما بعد الشهادة. لكن قبل المشروع، نبدأ بسؤال.</a:t>
            </a: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هل سألتَ نفسك: إنسان غير مسلم، يريد أن يعرف الإسلام، بلغته… إلى من يكتب؟ ومنذ أكتوبر 2024، وجد آلاف منهم من يحاورهم في theislam.chat.</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theislam.chat من جمعية أصول، يحاور غير المسلمين منذ أكتوبر 2024، كتابةً وصوتاً. 16,653 محادثة، من 150 دولة، باثنتين وخمسين لغة.</a:t>
            </a: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الداعية الدكتور لورانس براون جرّب الحوار بالصوت وأثنى عليه. التسجيل كاملاً على الرابط.</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وفي بعض تلك المحادثات توقّف الحوار عند جملتين: 166 محادثة نطق فيها صاحبها بالشهادتين. هذا من فضل الله وحده. لكن… أين المشكلة؟</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(25 ث) 89 محادثة انتهت برسالتين أو أقل بعد الشهادتين. و22 سألوا في الحال: كيف أتوضأ؟ كيف أصلي؟ ماذا أفعل الآن؟ ومن هؤلاء جميعاً، 11 فقط تركوا لنا طريقاً إليهم. خسارة كبيرة، والأمانة علينا نحن.</a:t>
            </a: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(30 ث) كنا نحتاج نظاماً يكمل معهم، فدخلنا التحدي وبنينا «ما بعد الشهادة». ست خطوات: الشهادة، بطاقة التعارف، الدرس الأول، ماذا أتعلم أولاً، درس كل يوم، ثم إنسان عند الحاجة. كلها في المحادثة نفسها.</a:t>
            </a: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بطاقة البداية بما قاله المستخدم حرفياً، ثم الدرس الأول وكل جملة مربوطة بصفحتها، ثم خطوات الوضوء كما في الكتاب.</a:t>
            </a: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سؤال من الكتاب يُجاب بمصادره. سؤال خارج الكتاب يُرفض بوضوح. وسؤال عن حالة شخصية يذهب إلى إنسان بموافقة المستخدم.</a:t>
            </a: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الكتاب كله يُقرأ صفحة صفحة، وكل مصدر في الأجوبة يفتح صفحته. وفي منصة المرشدين تظهر الأزمات أولاً مع رقم الطوارئ في بلد المتعلم.</a:t>
            </a: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صار لنا طريق إليه: الكتاب كاملاً، وحساب يحفظ تقدّمه مع تذكير يومي، ومحادثة مع المرشد يجد ردّها حين يعود، و«استمع وردّد».</a:t>
            </a: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الفرق عن البدائل: يبدأ التعليم فوراً في المكان نفسه، ويستمر، ولا ينسب إلى الكتاب ما ليس فيه، والفرق مقيس.</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(30 ث) الفرز يقرر: يُجاب أم يُحال. ثم البحث في الكتاب بالكلمة والمعنى. ثم يكتب الذكاء الاصطناعي الجواب ويضع مصدر كل جملة. ثم المدقّق، وهو برنامج لا ذكاء اصطناعي، يحذف ما لا مصدر له ويطابق الاقتباسات.</a:t>
            </a: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الذكاء الاصطناعي يفهم المتعلم بلغته ويشرح من الكتاب. البرنامج يفحص وينقل النصوص. والمسائل الشخصية لأهل العلم.</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(25 ث) فرز بإشارتين، وبحث هجين بالكلمة والمعنى، وتوليد مقيّد بمصدر لكل جملة، ومدقّق برمجي بلا نموذج، وتقييم بنموذج مصحّح. النماذج: gemini-3.8-flash للكتابة، وflash-lite للفرز، وgemini-embedding-2 للبحث، وgemini-3.1-pro للتصحيح، وgpt-5.4-mini للحوار.</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العبادات بنص الكتاب، والخلاف بقول الكتاب مع سعة، وما ليس في الكتاب اعتذار وإحالة، والمسائل الشخصية والأزمات إلى إنسان، والطوارئ أولاً.</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المرجع الوحيد كتاب «الوجيز» لمركز أصول. الآيات من Tanzil والمعاني من QuranEnc ينقلها البرنامج. ومراجعة عمياء لستين جواباً: نظامنا بلا خطأ، والنموذج نفسه دون المدقّق فيه خطأ واحد و15 ناقصة.</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(30 ث) على 200 سؤال أغلقناها قبل البناء: الاقتباسات مطابقة 100% مقابل 92.1% للنموذج نفسه دون المدقّق. والأسئلة الحساسة بلا فتوى مع عرض مرشد 98.9% مقابل 81.1%. ومسائل الخلاف بسعة 86.7% مقابل صفر. ونقول ما لم نبلغه: التحويل الفوري 81%.</a:t>
            </a: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(30 ث) بعد المراجعة الشاملة: على 150 سؤالاً لم يرها النظام قط، 88% تصرّف صحيح، وصفر أحكام ليست في الكتاب، و51 من 51 في الإحالة والأزمات. وأسئلة المراجعة من 83% إلى 90.8%، والأخطاء الجسيمة من 17 إلى 9. ونقول بصراحة ما ضبطنا عليه النظام وما لم يره.</a:t>
            </a: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(25 ث) اخترنا المسار الثالث: رحلة معرفية متدرجة ومستمرة. معيار نجاحه: ملاءمة المحتوى وتسلسله، واستمرار الرحلة، والانتقال المنطقي، والإحالة إلى الإنسان، مع الخصوصية. وهذا ما يحققه كل صف في الجدول، ومعه دليله.</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المصدر واحد: الوجيز بعشر طبعات. والقرآن من Tanzil وترجمات QuranEnc. وبقية اللغات ترى الأصل مع شرح مترجم بوسم واضح.</a:t>
            </a: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يعمل الآن: الدروس كاملة، والحساب والتذكير، ومنصة المرشدين، ومزوّد احتياطي. وبعد التحدي: مراجعة بقية الدروس، وتشغيل فريق المرشدين من أصول.</a:t>
            </a: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الجديد هو الوحدة كلها ومنصة المرشدين ورقعة دمج من 430 سطراً. المنصة نفسها قائمة قبل التحدي ولا نطلب تقييمها.</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(10 ث) الفريق: محمد عاشور (قائد الفريق)، وباسل الفوزان (فريق التأسيس)، ومحمد يمان غيبه (مبرمج).</a:t>
            </a: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(10 ث) الروابط: التجربة الحية من لحظة الشهادة، ومنصة المرشدين بحساب المشرف التجريبي، والمستودع العام بالكود والتقييم.</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شكراً. التجربة الحية على الرابط، والمستودع والتقرير الكامل متاحان.</a:t>
            </a: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 Id="rId100" Type="http://schemas.openxmlformats.org/officeDocument/2006/relationships/image" Target="../media/deck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100" Type="http://schemas.openxmlformats.org/officeDocument/2006/relationships/image" Target="../media/deck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 Id="rId100" Type="http://schemas.openxmlformats.org/officeDocument/2006/relationships/image" Target="../media/deck3.png"/><Relationship Id="rId101" Type="http://schemas.openxmlformats.org/officeDocument/2006/relationships/image" Target="../media/deck4.png"/><Relationship Id="rId102" Type="http://schemas.openxmlformats.org/officeDocument/2006/relationships/image" Target="../media/deck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100" Type="http://schemas.openxmlformats.org/officeDocument/2006/relationships/image" Target="../media/deck6.png"/><Relationship Id="rId101" Type="http://schemas.openxmlformats.org/officeDocument/2006/relationships/image" Target="../media/deck7.png"/><Relationship Id="rId102" Type="http://schemas.openxmlformats.org/officeDocument/2006/relationships/image" Target="../media/deck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png"/><Relationship Id="rId100" Type="http://schemas.openxmlformats.org/officeDocument/2006/relationships/image" Target="../media/deck9.png"/><Relationship Id="rId101" Type="http://schemas.openxmlformats.org/officeDocument/2006/relationships/image" Target="../media/deck10.png"/><Relationship Id="rId102" Type="http://schemas.openxmlformats.org/officeDocument/2006/relationships/image" Target="../media/deck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 Id="rId3" Type="http://schemas.openxmlformats.org/officeDocument/2006/relationships/image" Target="../media/image7.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486" name="Google Shape;486;p8"/>
          <p:cNvSpPr txBox="1"/>
          <p:nvPr>
            <p:ph type="title"/>
          </p:nvPr>
        </p:nvSpPr>
        <p:spPr>
          <a:xfrm>
            <a:off x="7791450" y="3143250"/>
            <a:ext cx="9048750" cy="19050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5400">
                <a:solidFill>
                  <a:srgbClr val="2EF2C2"/>
                </a:solidFill>
                <a:latin typeface="Readex Pro"/>
                <a:ea typeface="Readex Pro"/>
                <a:cs typeface="Readex Pro"/>
                <a:sym typeface="Readex Pro"/>
              </a:rPr>
              <a:t>theislam.chat</a:t>
            </a:r>
            <a:endParaRPr/>
          </a:p>
          <a:p>
            <a:pPr indent="0" lvl="0" marL="0" rtl="1" algn="r">
              <a:lnSpc>
                <a:spcPct val="100000"/>
              </a:lnSpc>
              <a:spcBef>
                <a:spcPts val="0"/>
              </a:spcBef>
              <a:spcAft>
                <a:spcPts val="0"/>
              </a:spcAft>
              <a:buSzPts val="6450"/>
              <a:buNone/>
            </a:pPr>
            <a:r>
              <a:rPr b="1" lang="ar-SA" sz="5400">
                <a:solidFill>
                  <a:srgbClr val="F2F4FF"/>
                </a:solidFill>
                <a:latin typeface="Readex Pro"/>
                <a:ea typeface="Readex Pro"/>
                <a:cs typeface="Readex Pro"/>
                <a:sym typeface="Readex Pro"/>
              </a:rPr>
              <a:t>ما بعد الشهادة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1106150" y="9115425"/>
            <a:ext cx="5715000" cy="3429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جمعية أصول · المسار ‎03‎</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pic>
        <p:nvPicPr>
          <p:cNvPr id="3001" name="theislam.chat mark" descr="theislam.chat"/>
          <p:cNvPicPr>
            <a:picLocks noChangeAspect="1"/>
          </p:cNvPicPr>
          <p:nvPr/>
        </p:nvPicPr>
        <p:blipFill>
          <a:blip r:embed="rId100"/>
          <a:stretch>
            <a:fillRect/>
          </a:stretch>
        </p:blipFill>
        <p:spPr>
          <a:xfrm>
            <a:off x="1809750" y="2857500"/>
            <a:ext cx="4953000" cy="4953000"/>
          </a:xfrm>
          <a:prstGeom prst="roundRect">
            <a:avLst>
              <a:gd name="adj" fmla="val 2500"/>
            </a:avLst>
          </a:prstGeom>
          <a:ln>
            <a:noFill/>
          </a:ln>
        </p:spPr>
      </p:pic>
      <p:sp>
        <p:nvSpPr>
          <p:cNvPr id="3002" name="deck 3002"/>
          <p:cNvSpPr txBox="1"/>
          <p:nvPr/>
        </p:nvSpPr>
        <p:spPr>
          <a:xfrm>
            <a:off x="7791450" y="5191125"/>
            <a:ext cx="9048750" cy="1905000"/>
          </a:xfrm>
          <a:prstGeom prst="rect">
            <a:avLst/>
          </a:prstGeom>
          <a:noFill/>
          <a:ln>
            <a:noFill/>
          </a:ln>
        </p:spPr>
        <p:txBody>
          <a:bodyPr wrap="square" lIns="0" tIns="0" rIns="0" bIns="0" anchor="t" rtlCol="1">
            <a:noAutofit/>
          </a:bodyPr>
          <a:lstStyle/>
          <a:p>
            <a:pPr marL="0" indent="0" rtl="1" algn="r">
              <a:lnSpc>
                <a:spcPct val="125000"/>
              </a:lnSpc>
              <a:spcBef>
                <a:spcPts val="0"/>
              </a:spcBef>
              <a:spcAft>
                <a:spcPts val="0"/>
              </a:spcAft>
              <a:buNone/>
            </a:pPr>
            <a:r>
              <a:rPr lang="ar-SA" sz="2200" b="0" dirty="0">
                <a:solidFill>
                  <a:srgbClr val="F2F4FF"/>
                </a:solidFill>
                <a:latin typeface="Readex Pro"/>
                <a:ea typeface="Readex Pro"/>
                <a:cs typeface="Readex Pro"/>
                <a:sym typeface="Readex Pro"/>
              </a:rPr>
              <a:t>حين ينطق أحدٌ بالشهادتين في المحادثة، فلا ينبغي أن تكون آخرَ رسالة، بل أوّلَ درس: دروس من «الوجيز» (كتاب كُتب للمسلم الجديد)، وجواب يدلّه على صفحته، وإنسان إن احتاج.</a:t>
            </a:r>
          </a:p>
          <a:p>
            <a:pPr marL="0" indent="0" rtl="1" algn="r">
              <a:lnSpc>
                <a:spcPct val="100000"/>
              </a:lnSpc>
              <a:spcBef>
                <a:spcPts val="1400"/>
              </a:spcBef>
              <a:spcAft>
                <a:spcPts val="0"/>
              </a:spcAft>
              <a:buNone/>
            </a:pPr>
            <a:r>
              <a:rPr lang="ar-SA" sz="2200" b="1" dirty="0">
                <a:solidFill>
                  <a:srgbClr val="2EF2C2"/>
                </a:solidFill>
                <a:latin typeface="Readex Pro"/>
                <a:ea typeface="Readex Pro"/>
                <a:cs typeface="Readex Pro"/>
                <a:sym typeface="Readex Pro"/>
              </a:rPr>
              <a:t>shahada.theislam.chat</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قبل أن نبدأ</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يريد أن يعرف الإسلام… فإلى من يكتب؟</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قبل أن نعرض المشروع، نبدأ بالشخص الذي بُني من أجله</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2476500" y="3810000"/>
            <a:ext cx="13335000" cy="2857500"/>
          </a:xfrm>
          <a:prstGeom prst="roundRect">
            <a:avLst>
              <a:gd name="adj" fmla="val 8000"/>
            </a:avLst>
          </a:prstGeom>
          <a:solidFill>
            <a:srgbClr val="FFFFFF">
              <a:alpha val="4000"/>
            </a:srgbClr>
          </a:solidFill>
          <a:ln w="9525">
            <a:solidFill>
              <a:srgbClr val="2EF2C2">
                <a:alpha val="25000"/>
              </a:srgbClr>
            </a:solidFill>
          </a:ln>
        </p:spPr>
        <p:txBody>
          <a:bodyPr wrap="square" lIns="381000" tIns="381000" rIns="381000" bIns="381000" anchor="ctr" rtlCol="1">
            <a:noAutofit/>
          </a:bodyPr>
          <a:lstStyle/>
          <a:p>
            <a:pPr marL="0" indent="0" rtl="1" algn="ctr">
              <a:lnSpc>
                <a:spcPct val="120000"/>
              </a:lnSpc>
              <a:spcBef>
                <a:spcPts val="0"/>
              </a:spcBef>
              <a:spcAft>
                <a:spcPts val="0"/>
              </a:spcAft>
              <a:buNone/>
            </a:pPr>
            <a:r>
              <a:rPr lang="ar-SA" sz="4000" b="1" dirty="0">
                <a:solidFill>
                  <a:srgbClr val="F2F4FF"/>
                </a:solidFill>
                <a:latin typeface="Readex Pro"/>
                <a:ea typeface="Readex Pro"/>
                <a:cs typeface="Readex Pro"/>
                <a:sym typeface="Readex Pro"/>
              </a:rPr>
              <a:t>«إنسانٌ، في مكانٍ ما، يريد أن يعرف الإسلام.»</a:t>
            </a:r>
          </a:p>
          <a:p>
            <a:pPr marL="0" indent="0" rtl="1" algn="ctr">
              <a:lnSpc>
                <a:spcPct val="125000"/>
              </a:lnSpc>
              <a:spcBef>
                <a:spcPts val="3000"/>
              </a:spcBef>
              <a:spcAft>
                <a:spcPts val="0"/>
              </a:spcAft>
              <a:buNone/>
            </a:pPr>
            <a:r>
              <a:rPr lang="ar-SA" sz="2600" b="0" dirty="0">
                <a:solidFill>
                  <a:srgbClr val="CBCFE6"/>
                </a:solidFill>
                <a:latin typeface="Readex Pro"/>
                <a:ea typeface="Readex Pro"/>
                <a:cs typeface="Readex Pro"/>
                <a:sym typeface="Readex Pro"/>
              </a:rPr>
              <a:t>لا يعرف مسلماً قريباً منه، ولا يدري من أين يبدأ. فيفتح محادثة، ويكتب سؤاله بلغته.</a:t>
            </a:r>
          </a:p>
        </p:txBody>
      </p:sp>
      <p:sp>
        <p:nvSpPr>
          <p:cNvPr id="3002" name="deck 3002"/>
          <p:cNvSpPr/>
          <p:nvPr/>
        </p:nvSpPr>
        <p:spPr>
          <a:xfrm>
            <a:off x="1409700" y="7620000"/>
            <a:ext cx="15430500" cy="85725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600" b="1" dirty="0">
                <a:solidFill>
                  <a:srgbClr val="2EF2C2"/>
                </a:solidFill>
                <a:latin typeface="Readex Pro"/>
                <a:ea typeface="Readex Pro"/>
                <a:cs typeface="Readex Pro"/>
                <a:sym typeface="Readex Pro"/>
              </a:rPr>
              <a:t>ومنذ أكتوبر ‎2024‎، وجد آلافٌ منهم من يحاورهم في </a:t>
            </a:r>
            <a:r>
              <a:rPr lang="ar-SA" sz="2600" b="1" dirty="0">
                <a:solidFill>
                  <a:srgbClr val="F2F4FF"/>
                </a:solidFill>
                <a:latin typeface="Readex Pro"/>
                <a:ea typeface="Readex Pro"/>
                <a:cs typeface="Readex Pro"/>
                <a:sym typeface="Readex Pro"/>
              </a:rPr>
              <a:t>theislam.chat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المكان الذي يصلون إليه</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theislam.chat: حوار يعرّف غير المسلمين بالإسلام</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منصة لجمعية أصول منذ أكتوبر ‎2024:‎ محادثة بالكتابة وبالصوت، يسأل فيها الزائر بلغته فيُجاب بلغته</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‎16,653‎</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محادثة</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مع أناس يسألون عن الإسلام</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‎150‎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دولة</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جاءت منها المحادثات</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‎52‎</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لغة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من السواحيلية إلى اليابانية</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‎2024‎</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منذ أكتوبر</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كتابةً وصوتاً، من جمعية أصول</a:t>
            </a:r>
            <a:endParaRPr/>
          </a:p>
        </p:txBody>
      </p:sp>
      <p:sp>
        <p:nvSpPr>
          <p:cNvPr id="3001" name="deck 3001"/>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200" b="1" dirty="0">
                <a:solidFill>
                  <a:srgbClr val="2EF2C2"/>
                </a:solidFill>
                <a:latin typeface="Readex Pro"/>
                <a:ea typeface="Readex Pro"/>
                <a:cs typeface="Readex Pro"/>
                <a:sym typeface="Readex Pro"/>
              </a:rPr>
              <a:t>لماذا يهمّ هذا؟ </a:t>
            </a:r>
            <a:r>
              <a:rPr lang="ar-SA" sz="2100" b="0" dirty="0">
                <a:solidFill>
                  <a:srgbClr val="F2F4FF"/>
                </a:solidFill>
                <a:latin typeface="Readex Pro"/>
                <a:ea typeface="Readex Pro"/>
                <a:cs typeface="Readex Pro"/>
                <a:sym typeface="Readex Pro"/>
              </a:rPr>
              <a:t>لأن أناساً من بلاد ولغات كثيرة يدخلون الموقع فعلاً ويسألون عن الإسلام؛ فالمشروع يُضاف إلى موقع له زوّار حقيقيون.</a:t>
            </a:r>
          </a:p>
        </p:txBody>
      </p:sp>
      <p:sp>
        <p:nvSpPr>
          <p:cNvPr id="3002" name="deck 3002"/>
          <p:cNvSpPr txBox="1"/>
          <p:nvPr/>
        </p:nvSpPr>
        <p:spPr>
          <a:xfrm>
            <a:off x="1409700" y="7762875"/>
            <a:ext cx="15430500" cy="419100"/>
          </a:xfrm>
          <a:prstGeom prst="rect">
            <a:avLst/>
          </a:prstGeom>
          <a:noFill/>
          <a:ln>
            <a:noFill/>
          </a:ln>
        </p:spPr>
        <p:txBody>
          <a:bodyPr wrap="square" lIns="0" tIns="0" rIns="0" bIns="0" anchor="ctr" rtlCol="1">
            <a:noAutofit/>
          </a:bodyPr>
          <a:lstStyle/>
          <a:p>
            <a:pPr marL="0" indent="0" rtl="1" algn="r">
              <a:lnSpc>
                <a:spcPct val="100000"/>
              </a:lnSpc>
              <a:spcBef>
                <a:spcPts val="0"/>
              </a:spcBef>
              <a:spcAft>
                <a:spcPts val="0"/>
              </a:spcAft>
              <a:buNone/>
            </a:pPr>
            <a:r>
              <a:rPr lang="ar-SA" sz="1700" b="0" dirty="0">
                <a:solidFill>
                  <a:srgbClr val="CBCFE6"/>
                </a:solidFill>
                <a:latin typeface="Readex Pro"/>
                <a:ea typeface="Readex Pro"/>
                <a:cs typeface="Readex Pro"/>
                <a:sym typeface="Readex Pro"/>
              </a:rPr>
              <a:t>شاهد التعريف بالمنصة: «اكتشف الإسلام من خلال الحوار | Chat &amp; Decide» (من قبل التحدي) · </a:t>
            </a:r>
            <a:r>
              <a:rPr lang="ar-SA" sz="1700" b="1" dirty="0">
                <a:solidFill>
                  <a:srgbClr val="2EF2C2"/>
                </a:solidFill>
                <a:latin typeface="Readex Pro"/>
                <a:ea typeface="Readex Pro"/>
                <a:cs typeface="Readex Pro"/>
                <a:sym typeface="Readex Pro"/>
              </a:rPr>
              <a:t>youtu.be/ceo9dsxPZrI</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شهادة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«لقد أذهلني»: داعية جرّب الحوار الصوتي</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الدكتور لورانس براون، طبيب وكاتب وداعية، عن الحوار الصوتي في theislam.chat · تسجيل مصوّر</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3001" name="testimonial" descr="Laurence Brown"/>
          <p:cNvPicPr>
            <a:picLocks noChangeAspect="1"/>
          </p:cNvPicPr>
          <p:nvPr/>
        </p:nvPicPr>
        <p:blipFill>
          <a:blip r:embed="rId100"/>
          <a:stretch>
            <a:fillRect/>
          </a:stretch>
        </p:blipFill>
        <p:spPr>
          <a:xfrm>
            <a:off x="1714500" y="3429000"/>
            <a:ext cx="3143250" cy="4714875"/>
          </a:xfrm>
          <a:prstGeom prst="roundRect">
            <a:avLst>
              <a:gd name="adj" fmla="val 2500"/>
            </a:avLst>
          </a:prstGeom>
          <a:ln w="19050">
            <a:solidFill>
              <a:srgbClr val="2EF2C2"/>
            </a:solidFill>
          </a:ln>
        </p:spPr>
      </p:pic>
      <p:sp>
        <p:nvSpPr>
          <p:cNvPr id="3002" name="deck 3002"/>
          <p:cNvSpPr/>
          <p:nvPr/>
        </p:nvSpPr>
        <p:spPr>
          <a:xfrm>
            <a:off x="5334000" y="3429000"/>
            <a:ext cx="11506200" cy="4714875"/>
          </a:xfrm>
          <a:prstGeom prst="roundRect">
            <a:avLst>
              <a:gd name="adj" fmla="val 6000"/>
            </a:avLst>
          </a:prstGeom>
          <a:solidFill>
            <a:srgbClr val="FFFFFF">
              <a:alpha val="4000"/>
            </a:srgbClr>
          </a:solidFill>
          <a:ln w="9525">
            <a:solidFill>
              <a:srgbClr val="2EF2C2">
                <a:alpha val="18000"/>
              </a:srgbClr>
            </a:solidFill>
          </a:ln>
        </p:spPr>
        <p:txBody>
          <a:bodyPr wrap="square" lIns="323850" tIns="323850" rIns="323850" bIns="323850" anchor="t" rtlCol="1">
            <a:noAutofit/>
          </a:bodyPr>
          <a:lstStyle/>
          <a:p>
            <a:pPr marL="0" indent="0" rtl="0" algn="l">
              <a:lnSpc>
                <a:spcPct val="120000"/>
              </a:lnSpc>
              <a:spcBef>
                <a:spcPts val="0"/>
              </a:spcBef>
              <a:spcAft>
                <a:spcPts val="0"/>
              </a:spcAft>
              <a:buNone/>
            </a:pPr>
            <a:r>
              <a:rPr lang="ar-SA" sz="2500" b="1" dirty="0">
                <a:solidFill>
                  <a:srgbClr val="F2F4FF"/>
                </a:solidFill>
                <a:latin typeface="Readex Pro"/>
                <a:ea typeface="Readex Pro"/>
                <a:cs typeface="Readex Pro"/>
                <a:sym typeface="Readex Pro"/>
              </a:rPr>
              <a:t>«Subhanallah brother, Mashallah tabarakallah, it is really amazing. And it's kind of blown my mind, actually.»</a:t>
            </a:r>
          </a:p>
          <a:p>
            <a:pPr marL="0" indent="0" rtl="1" algn="r">
              <a:lnSpc>
                <a:spcPct val="125000"/>
              </a:lnSpc>
              <a:spcBef>
                <a:spcPts val="1800"/>
              </a:spcBef>
              <a:spcAft>
                <a:spcPts val="0"/>
              </a:spcAft>
              <a:buNone/>
            </a:pPr>
            <a:r>
              <a:rPr lang="ar-SA" sz="2200" b="1" dirty="0">
                <a:solidFill>
                  <a:srgbClr val="2EF2C2"/>
                </a:solidFill>
                <a:latin typeface="Readex Pro"/>
                <a:ea typeface="Readex Pro"/>
                <a:cs typeface="Readex Pro"/>
                <a:sym typeface="Readex Pro"/>
              </a:rPr>
              <a:t>«سبحان الله يا أخي، ما شاء الله تبارك الله، إنه مذهل حقاً… لقد أذهلني فعلاً.»</a:t>
            </a:r>
          </a:p>
          <a:p>
            <a:pPr marL="0" indent="0" rtl="0" algn="l">
              <a:lnSpc>
                <a:spcPct val="120000"/>
              </a:lnSpc>
              <a:spcBef>
                <a:spcPts val="2200"/>
              </a:spcBef>
              <a:spcAft>
                <a:spcPts val="0"/>
              </a:spcAft>
              <a:buNone/>
            </a:pPr>
            <a:r>
              <a:rPr lang="ar-SA" sz="1900" b="0" dirty="0">
                <a:solidFill>
                  <a:srgbClr val="CBCFE6"/>
                </a:solidFill>
                <a:latin typeface="Readex Pro"/>
                <a:ea typeface="Readex Pro"/>
                <a:cs typeface="Readex Pro"/>
                <a:sym typeface="Readex Pro"/>
              </a:rPr>
              <a:t>«…an incredible tool, not just for your website, but to be made available to the Muslims in general.»</a:t>
            </a:r>
          </a:p>
          <a:p>
            <a:pPr marL="0" indent="0" rtl="1" algn="r">
              <a:lnSpc>
                <a:spcPct val="125000"/>
              </a:lnSpc>
              <a:spcBef>
                <a:spcPts val="2200"/>
              </a:spcBef>
              <a:spcAft>
                <a:spcPts val="0"/>
              </a:spcAft>
              <a:buNone/>
            </a:pPr>
            <a:r>
              <a:rPr lang="ar-SA" sz="1900" b="0" dirty="0">
                <a:solidFill>
                  <a:srgbClr val="CBCFE6"/>
                </a:solidFill>
                <a:latin typeface="Readex Pro"/>
                <a:ea typeface="Readex Pro"/>
                <a:cs typeface="Readex Pro"/>
                <a:sym typeface="Readex Pro"/>
              </a:rPr>
              <a:t>رأيه في جودة الحوار (لا اعتماد شرعي للمحتوى)، وقال إنه ينبغي أن يكون متاحاً للمسلمين عموماً، لا لموقعنا وحده.</a:t>
            </a:r>
          </a:p>
          <a:p>
            <a:pPr marL="0" indent="0" rtl="1" algn="r">
              <a:lnSpc>
                <a:spcPct val="100000"/>
              </a:lnSpc>
              <a:spcBef>
                <a:spcPts val="1800"/>
              </a:spcBef>
              <a:spcAft>
                <a:spcPts val="0"/>
              </a:spcAft>
              <a:buNone/>
            </a:pPr>
            <a:r>
              <a:rPr lang="ar-SA" sz="1900" b="1" dirty="0">
                <a:solidFill>
                  <a:srgbClr val="2EF2C2"/>
                </a:solidFill>
                <a:latin typeface="Readex Pro"/>
                <a:ea typeface="Readex Pro"/>
                <a:cs typeface="Readex Pro"/>
                <a:sym typeface="Readex Pro"/>
              </a:rPr>
              <a:t>شاهد التسجيل: shahada.theislam.chat/testimonial</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اللحظة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وفي ‎166‎ محادثة، نطق صاحبها بالشهادتين</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في المحادثة نفسها، كتابةً أو صوتاً · والهداية من الله وحده</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txBox="1"/>
          <p:nvPr/>
        </p:nvSpPr>
        <p:spPr>
          <a:xfrm>
            <a:off x="3429000" y="3524250"/>
            <a:ext cx="11430000" cy="3810000"/>
          </a:xfrm>
          <a:prstGeom prst="rect">
            <a:avLst/>
          </a:prstGeom>
          <a:noFill/>
          <a:ln>
            <a:noFill/>
          </a:ln>
        </p:spPr>
        <p:txBody>
          <a:bodyPr wrap="square" lIns="0" tIns="0" rIns="0" bIns="0" anchor="ctr" rtlCol="1">
            <a:noAutofit/>
          </a:bodyPr>
          <a:lstStyle/>
          <a:p>
            <a:pPr marL="0" indent="0" rtl="1" algn="ctr">
              <a:lnSpc>
                <a:spcPct val="100000"/>
              </a:lnSpc>
              <a:spcBef>
                <a:spcPts val="0"/>
              </a:spcBef>
              <a:spcAft>
                <a:spcPts val="0"/>
              </a:spcAft>
              <a:buNone/>
            </a:pPr>
            <a:r>
              <a:rPr lang="ar-SA" sz="15000" b="1" dirty="0">
                <a:solidFill>
                  <a:srgbClr val="2EF2C2"/>
                </a:solidFill>
                <a:latin typeface="Readex Pro"/>
                <a:ea typeface="Readex Pro"/>
                <a:cs typeface="Readex Pro"/>
                <a:sym typeface="Readex Pro"/>
              </a:rPr>
              <a:t>‎166‎</a:t>
            </a:r>
          </a:p>
          <a:p>
            <a:pPr marL="0" indent="0" rtl="1" algn="ctr">
              <a:lnSpc>
                <a:spcPct val="100000"/>
              </a:lnSpc>
              <a:spcBef>
                <a:spcPts val="600"/>
              </a:spcBef>
              <a:spcAft>
                <a:spcPts val="0"/>
              </a:spcAft>
              <a:buNone/>
            </a:pPr>
            <a:r>
              <a:rPr lang="ar-SA" sz="3400" b="1" dirty="0">
                <a:solidFill>
                  <a:srgbClr val="F2F4FF"/>
                </a:solidFill>
                <a:latin typeface="Readex Pro"/>
                <a:ea typeface="Readex Pro"/>
                <a:cs typeface="Readex Pro"/>
                <a:sym typeface="Readex Pro"/>
              </a:rPr>
              <a:t>محادثة نطق فيها صاحبها بالشهادتين</a:t>
            </a:r>
          </a:p>
          <a:p>
            <a:pPr marL="0" indent="0" rtl="1" algn="ctr">
              <a:lnSpc>
                <a:spcPct val="100000"/>
              </a:lnSpc>
              <a:spcBef>
                <a:spcPts val="1800"/>
              </a:spcBef>
              <a:spcAft>
                <a:spcPts val="0"/>
              </a:spcAft>
              <a:buNone/>
            </a:pPr>
            <a:r>
              <a:rPr lang="ar-SA" sz="2600" b="0" dirty="0">
                <a:solidFill>
                  <a:srgbClr val="CBCFE6"/>
                </a:solidFill>
                <a:latin typeface="Readex Pro"/>
                <a:ea typeface="Readex Pro"/>
                <a:cs typeface="Readex Pro"/>
                <a:sym typeface="Readex Pro"/>
              </a:rPr>
              <a:t>والفضل في ذلك لله.</a:t>
            </a:r>
          </a:p>
        </p:txBody>
      </p:sp>
      <p:sp>
        <p:nvSpPr>
          <p:cNvPr id="3002" name="deck 3002"/>
          <p:cNvSpPr/>
          <p:nvPr/>
        </p:nvSpPr>
        <p:spPr>
          <a:xfrm>
            <a:off x="5334000" y="7810500"/>
            <a:ext cx="7620000" cy="9525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4000" b="1" dirty="0">
                <a:solidFill>
                  <a:srgbClr val="F2F4FF"/>
                </a:solidFill>
                <a:latin typeface="Readex Pro"/>
                <a:ea typeface="Readex Pro"/>
                <a:cs typeface="Readex Pro"/>
                <a:sym typeface="Readex Pro"/>
              </a:rPr>
              <a:t>لكن… أين المشكلة؟</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‎89‎ من ‎166‎ محادثة انتهت برسالتين أو أقل</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الشهادتين لم نستطع مواصلة الحوار مع أكثرهم · أرقام من سجلات المنصة في ‎8‎ سبتمبر ‎2026‎، ولم نقرأ نص أي محادثة</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‎166‎</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نطقوا بالشهادتين</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المحادثة نفسها</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‎89‎</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انتهت محادثتهم</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برسالتين أو أقل بعد الشهادتين (‎54%‎)</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‎22‎</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سألوا في الحال</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كيف أتوضأ؟ كيف أصلي؟ ماذا أفعل الآن؟</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‎11‎</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تركوا وسيلة تواصل</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فقط (‎6.6%‎)؛ ولم نملك وسيلة لنكمل مع الباقين</a:t>
            </a:r>
            <a:endParaRPr/>
          </a:p>
        </p:txBody>
      </p:sp>
      <p:sp>
        <p:nvSpPr>
          <p:cNvPr id="3001" name="deck 3001"/>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000" b="1" dirty="0">
                <a:solidFill>
                  <a:srgbClr val="2EF2C2"/>
                </a:solidFill>
                <a:latin typeface="Readex Pro"/>
                <a:ea typeface="Readex Pro"/>
                <a:cs typeface="Readex Pro"/>
                <a:sym typeface="Readex Pro"/>
              </a:rPr>
              <a:t>سألوا «كيف أتوضأ؟» ولم يكن عندنا درس نقدّمه: </a:t>
            </a:r>
            <a:r>
              <a:rPr lang="ar-SA" sz="1900" b="0" dirty="0">
                <a:solidFill>
                  <a:srgbClr val="F2F4FF"/>
                </a:solidFill>
                <a:latin typeface="Readex Pro"/>
                <a:ea typeface="Readex Pro"/>
                <a:cs typeface="Readex Pro"/>
                <a:sym typeface="Readex Pro"/>
              </a:rPr>
              <a:t>منعنا الذكاء الاصطناعي عمداً من تعليم العبادة من عنده خشية الخطأ، فبقي السؤال بلا جواب. والمسؤولية في هذا علينا.</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فكان القرار: ألا تكون الشهادتان آخرَ رسالة</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بعد الشهادة»: المحادثة نفسها تصبح فصلاً دراسياً</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ست خطوات، من الشهادتين إلى إنسان يسمعه؛ كلها من «الوجيز» لمركز أصول، وبلغة المتعلم. ونسأل الله أن يثبّته</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p:nvPr/>
        </p:nvSpPr>
        <p:spPr>
          <a:xfrm>
            <a:off x="1445895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‎01‎</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الشهادتان</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حين ينطق بهما، يعرف النظام ذلك، فتظهر تحت التهنئة بطاقة تدعوه للبدء.</a:t>
            </a:r>
          </a:p>
        </p:txBody>
      </p:sp>
      <p:sp>
        <p:nvSpPr>
          <p:cNvPr id="3002" name="deck 3002"/>
          <p:cNvSpPr/>
          <p:nvPr/>
        </p:nvSpPr>
        <p:spPr>
          <a:xfrm>
            <a:off x="14239875" y="5810250"/>
            <a:ext cx="209550" cy="228600"/>
          </a:xfrm>
          <a:prstGeom prst="leftArrow">
            <a:avLst/>
          </a:prstGeom>
          <a:solidFill>
            <a:srgbClr val="2EF2C2">
              <a:alpha val="85000"/>
            </a:srgbClr>
          </a:solidFill>
          <a:ln>
            <a:noFill/>
          </a:ln>
        </p:spPr>
      </p:sp>
      <p:sp>
        <p:nvSpPr>
          <p:cNvPr id="3003" name="deck 3003"/>
          <p:cNvSpPr/>
          <p:nvPr/>
        </p:nvSpPr>
        <p:spPr>
          <a:xfrm>
            <a:off x="1184910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‎02‎</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بطاقة التعارف</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نموذج قصير بلغته وبلده وسؤاله، بكلماته هو. لا يُحفظ قبل موافقته.</a:t>
            </a:r>
          </a:p>
        </p:txBody>
      </p:sp>
      <p:sp>
        <p:nvSpPr>
          <p:cNvPr id="3004" name="deck 3004"/>
          <p:cNvSpPr/>
          <p:nvPr/>
        </p:nvSpPr>
        <p:spPr>
          <a:xfrm>
            <a:off x="11630025" y="5810250"/>
            <a:ext cx="209550" cy="228600"/>
          </a:xfrm>
          <a:prstGeom prst="leftArrow">
            <a:avLst/>
          </a:prstGeom>
          <a:solidFill>
            <a:srgbClr val="2EF2C2">
              <a:alpha val="85000"/>
            </a:srgbClr>
          </a:solidFill>
          <a:ln>
            <a:noFill/>
          </a:ln>
        </p:spPr>
      </p:sp>
      <p:sp>
        <p:nvSpPr>
          <p:cNvPr id="3005" name="deck 3005"/>
          <p:cNvSpPr/>
          <p:nvPr/>
        </p:nvSpPr>
        <p:spPr>
          <a:xfrm>
            <a:off x="923925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‎03‎</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الدرس الأول</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معنى الشهادتين اللتين نطق بهما، وبعد كل جملة رقم صفحتها في الكتاب.</a:t>
            </a:r>
          </a:p>
        </p:txBody>
      </p:sp>
      <p:sp>
        <p:nvSpPr>
          <p:cNvPr id="3006" name="deck 3006"/>
          <p:cNvSpPr/>
          <p:nvPr/>
        </p:nvSpPr>
        <p:spPr>
          <a:xfrm>
            <a:off x="9020175" y="5810250"/>
            <a:ext cx="209550" cy="228600"/>
          </a:xfrm>
          <a:prstGeom prst="leftArrow">
            <a:avLst/>
          </a:prstGeom>
          <a:solidFill>
            <a:srgbClr val="2EF2C2">
              <a:alpha val="85000"/>
            </a:srgbClr>
          </a:solidFill>
          <a:ln>
            <a:noFill/>
          </a:ln>
        </p:spPr>
      </p:sp>
      <p:sp>
        <p:nvSpPr>
          <p:cNvPr id="3007" name="deck 3007"/>
          <p:cNvSpPr/>
          <p:nvPr/>
        </p:nvSpPr>
        <p:spPr>
          <a:xfrm>
            <a:off x="662940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‎04‎</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ماذا أتعلم أولاً؟</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يختار: الوضوء أو الصلاة أو الفاتحة أو «لا أعرف»، فيُرتَّب له الطريق.</a:t>
            </a:r>
          </a:p>
        </p:txBody>
      </p:sp>
      <p:sp>
        <p:nvSpPr>
          <p:cNvPr id="3008" name="deck 3008"/>
          <p:cNvSpPr/>
          <p:nvPr/>
        </p:nvSpPr>
        <p:spPr>
          <a:xfrm>
            <a:off x="6410325" y="5810250"/>
            <a:ext cx="209550" cy="228600"/>
          </a:xfrm>
          <a:prstGeom prst="leftArrow">
            <a:avLst/>
          </a:prstGeom>
          <a:solidFill>
            <a:srgbClr val="2EF2C2">
              <a:alpha val="85000"/>
            </a:srgbClr>
          </a:solidFill>
          <a:ln>
            <a:noFill/>
          </a:ln>
        </p:spPr>
      </p:sp>
      <p:sp>
        <p:nvSpPr>
          <p:cNvPr id="3009" name="deck 3009"/>
          <p:cNvSpPr/>
          <p:nvPr/>
        </p:nvSpPr>
        <p:spPr>
          <a:xfrm>
            <a:off x="401955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‎05‎</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درس كل يوم</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تذكير يومي بالدرس التالي، ويسأل متى شاء فيُجاب من الكتاب وحده.</a:t>
            </a:r>
          </a:p>
        </p:txBody>
      </p:sp>
      <p:sp>
        <p:nvSpPr>
          <p:cNvPr id="3010" name="deck 3010"/>
          <p:cNvSpPr/>
          <p:nvPr/>
        </p:nvSpPr>
        <p:spPr>
          <a:xfrm>
            <a:off x="3800475" y="5810250"/>
            <a:ext cx="209550" cy="228600"/>
          </a:xfrm>
          <a:prstGeom prst="leftArrow">
            <a:avLst/>
          </a:prstGeom>
          <a:solidFill>
            <a:srgbClr val="2EF2C2">
              <a:alpha val="85000"/>
            </a:srgbClr>
          </a:solidFill>
          <a:ln>
            <a:noFill/>
          </a:ln>
        </p:spPr>
      </p:sp>
      <p:sp>
        <p:nvSpPr>
          <p:cNvPr id="3011" name="deck 3011"/>
          <p:cNvSpPr/>
          <p:nvPr/>
        </p:nvSpPr>
        <p:spPr>
          <a:xfrm>
            <a:off x="140970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‎06‎</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مرشد أو مرشدة</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الأمور الشخصية والأزمات تُحال إلى إنسان، بموافقته.</a:t>
            </a:r>
          </a:p>
        </p:txBody>
      </p:sp>
      <p:sp>
        <p:nvSpPr>
          <p:cNvPr id="3012" name="deck 3012"/>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900" b="1" dirty="0">
                <a:solidFill>
                  <a:srgbClr val="2EF2C2"/>
                </a:solidFill>
                <a:latin typeface="Readex Pro"/>
                <a:ea typeface="Readex Pro"/>
                <a:cs typeface="Readex Pro"/>
                <a:sym typeface="Readex Pro"/>
              </a:rPr>
              <a:t>وحولها: </a:t>
            </a:r>
            <a:r>
              <a:rPr lang="ar-SA" sz="1900" b="0" dirty="0">
                <a:solidFill>
                  <a:srgbClr val="F2F4FF"/>
                </a:solidFill>
                <a:latin typeface="Readex Pro"/>
                <a:ea typeface="Readex Pro"/>
                <a:cs typeface="Readex Pro"/>
                <a:sym typeface="Readex Pro"/>
              </a:rPr>
              <a:t>الكتاب كاملاً · حساب يحفظ تقدّمه · «استمع وردّد»: يسمع الفاتحة آيةً آية ثم يردّدها · منصة لفريق المرشدين</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من الموقع الحي</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ننظر بعينيه: لحظة الشهادتين، فدرسه الأول، فالوضوء</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txBox="1"/>
          <p:nvPr/>
        </p:nvSpPr>
        <p:spPr>
          <a:xfrm>
            <a:off x="1409700" y="2781300"/>
            <a:ext cx="15430500" cy="381000"/>
          </a:xfrm>
          <a:prstGeom prst="rect">
            <a:avLst/>
          </a:prstGeom>
          <a:noFill/>
          <a:ln>
            <a:noFill/>
          </a:ln>
        </p:spPr>
        <p:txBody>
          <a:bodyPr wrap="square" lIns="0" tIns="0" rIns="0" bIns="0" anchor="t" rtlCol="1">
            <a:noAutofit/>
          </a:bodyPr>
          <a:lstStyle/>
          <a:p>
            <a:pPr marL="0" indent="0" rtl="1" algn="r">
              <a:lnSpc>
                <a:spcPct val="100000"/>
              </a:lnSpc>
              <a:spcBef>
                <a:spcPts val="0"/>
              </a:spcBef>
              <a:spcAft>
                <a:spcPts val="0"/>
              </a:spcAft>
              <a:buNone/>
            </a:pPr>
            <a:r>
              <a:rPr lang="ar-SA" sz="1700" b="0" dirty="0">
                <a:solidFill>
                  <a:srgbClr val="CBCFE6"/>
                </a:solidFill>
                <a:latin typeface="Readex Pro"/>
                <a:ea typeface="Readex Pro"/>
                <a:cs typeface="Readex Pro"/>
                <a:sym typeface="Readex Pro"/>
              </a:rPr>
              <a:t>لقطات حقيقية من shahada.theislam.chat/ar?demo=shahada</a:t>
            </a:r>
          </a:p>
        </p:txBody>
      </p:sp>
      <p:pic>
        <p:nvPicPr>
          <p:cNvPr id="3002" name="screenshot start" descr="بطاقة التعارف: كلماته هو، يعدّلها، ولا تُحفظ قبل «متابعة»"/>
          <p:cNvPicPr>
            <a:picLocks noChangeAspect="1"/>
          </p:cNvPicPr>
          <p:nvPr/>
        </p:nvPicPr>
        <p:blipFill>
          <a:blip r:embed="rId100"/>
          <a:stretch>
            <a:fillRect/>
          </a:stretch>
        </p:blipFill>
        <p:spPr>
          <a:xfrm>
            <a:off x="11887200" y="3286125"/>
            <a:ext cx="4953000" cy="4953000"/>
          </a:xfrm>
          <a:prstGeom prst="roundRect">
            <a:avLst>
              <a:gd name="adj" fmla="val 2500"/>
            </a:avLst>
          </a:prstGeom>
          <a:ln w="19050">
            <a:solidFill>
              <a:srgbClr val="2EF2C2"/>
            </a:solidFill>
          </a:ln>
        </p:spPr>
      </p:pic>
      <p:sp>
        <p:nvSpPr>
          <p:cNvPr id="3003" name="deck 3003"/>
          <p:cNvSpPr txBox="1"/>
          <p:nvPr/>
        </p:nvSpPr>
        <p:spPr>
          <a:xfrm>
            <a:off x="118872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بطاقة التعارف: كلماته هو، يعدّلها، ولا تُحفظ قبل «متابعة»</a:t>
            </a:r>
          </a:p>
        </p:txBody>
      </p:sp>
      <p:pic>
        <p:nvPicPr>
          <p:cNvPr id="3004" name="screenshot lesson" descr="الدرس الأول: بعد كل جملة رقم يفتح صفحتها من «الوجيز»"/>
          <p:cNvPicPr>
            <a:picLocks noChangeAspect="1"/>
          </p:cNvPicPr>
          <p:nvPr/>
        </p:nvPicPr>
        <p:blipFill>
          <a:blip r:embed="rId101"/>
          <a:stretch>
            <a:fillRect/>
          </a:stretch>
        </p:blipFill>
        <p:spPr>
          <a:xfrm>
            <a:off x="6648450" y="3286125"/>
            <a:ext cx="4953000" cy="4953000"/>
          </a:xfrm>
          <a:prstGeom prst="roundRect">
            <a:avLst>
              <a:gd name="adj" fmla="val 2500"/>
            </a:avLst>
          </a:prstGeom>
          <a:ln w="19050">
            <a:solidFill>
              <a:srgbClr val="2EF2C2"/>
            </a:solidFill>
          </a:ln>
        </p:spPr>
      </p:pic>
      <p:sp>
        <p:nvSpPr>
          <p:cNvPr id="3005" name="deck 3005"/>
          <p:cNvSpPr txBox="1"/>
          <p:nvPr/>
        </p:nvSpPr>
        <p:spPr>
          <a:xfrm>
            <a:off x="664845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الدرس الأول: بعد كل جملة رقم يفتح صفحتها من «الوجيز»</a:t>
            </a:r>
          </a:p>
        </p:txBody>
      </p:sp>
      <p:pic>
        <p:nvPicPr>
          <p:cNvPr id="3006" name="screenshot wudu" descr="الوضوء: بنص الكتاب وترتيبه، ثم تمارين قصيرة"/>
          <p:cNvPicPr>
            <a:picLocks noChangeAspect="1"/>
          </p:cNvPicPr>
          <p:nvPr/>
        </p:nvPicPr>
        <p:blipFill>
          <a:blip r:embed="rId102"/>
          <a:stretch>
            <a:fillRect/>
          </a:stretch>
        </p:blipFill>
        <p:spPr>
          <a:xfrm>
            <a:off x="1409700" y="3286125"/>
            <a:ext cx="4953000" cy="4953000"/>
          </a:xfrm>
          <a:prstGeom prst="roundRect">
            <a:avLst>
              <a:gd name="adj" fmla="val 2500"/>
            </a:avLst>
          </a:prstGeom>
          <a:ln w="19050">
            <a:solidFill>
              <a:srgbClr val="2EF2C2"/>
            </a:solidFill>
          </a:ln>
        </p:spPr>
      </p:pic>
      <p:sp>
        <p:nvSpPr>
          <p:cNvPr id="3007" name="deck 3007"/>
          <p:cNvSpPr txBox="1"/>
          <p:nvPr/>
        </p:nvSpPr>
        <p:spPr>
          <a:xfrm>
            <a:off x="14097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الوضوء: بنص الكتاب وترتيبه، ثم تمارين قصيرة</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من الموقع الحي</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وحين يسأل: جواب بصفحته، أو «لم أجده»، أو إنسان</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txBox="1"/>
          <p:nvPr/>
        </p:nvSpPr>
        <p:spPr>
          <a:xfrm>
            <a:off x="1409700" y="2781300"/>
            <a:ext cx="15430500" cy="381000"/>
          </a:xfrm>
          <a:prstGeom prst="rect">
            <a:avLst/>
          </a:prstGeom>
          <a:noFill/>
          <a:ln>
            <a:noFill/>
          </a:ln>
        </p:spPr>
        <p:txBody>
          <a:bodyPr wrap="square" lIns="0" tIns="0" rIns="0" bIns="0" anchor="t" rtlCol="1">
            <a:noAutofit/>
          </a:bodyPr>
          <a:lstStyle/>
          <a:p>
            <a:pPr marL="0" indent="0" rtl="1" algn="r">
              <a:lnSpc>
                <a:spcPct val="100000"/>
              </a:lnSpc>
              <a:spcBef>
                <a:spcPts val="0"/>
              </a:spcBef>
              <a:spcAft>
                <a:spcPts val="0"/>
              </a:spcAft>
              <a:buNone/>
            </a:pPr>
            <a:r>
              <a:rPr lang="ar-SA" sz="1700" b="0" dirty="0">
                <a:solidFill>
                  <a:srgbClr val="CBCFE6"/>
                </a:solidFill>
                <a:latin typeface="Readex Pro"/>
                <a:ea typeface="Readex Pro"/>
                <a:cs typeface="Readex Pro"/>
                <a:sym typeface="Readex Pro"/>
              </a:rPr>
              <a:t>الأسئلة الثلاثة: «Can I pray if I don't know Arabic yet?» · «ما رأيك في العملات الرقمية؟» · «زوجتي مسيحية، هل زواجي صحيح بعد إسلامي؟»</a:t>
            </a:r>
          </a:p>
        </p:txBody>
      </p:sp>
      <p:pic>
        <p:nvPicPr>
          <p:cNvPr id="3002" name="screenshot answer" descr="سؤال بالإنجليزية: خطوات الصلاة من الكتاب، وبعد كل جملة رقم مصدرها"/>
          <p:cNvPicPr>
            <a:picLocks noChangeAspect="1"/>
          </p:cNvPicPr>
          <p:nvPr/>
        </p:nvPicPr>
        <p:blipFill>
          <a:blip r:embed="rId100"/>
          <a:stretch>
            <a:fillRect/>
          </a:stretch>
        </p:blipFill>
        <p:spPr>
          <a:xfrm>
            <a:off x="11887200" y="3286125"/>
            <a:ext cx="4953000" cy="4953000"/>
          </a:xfrm>
          <a:prstGeom prst="roundRect">
            <a:avLst>
              <a:gd name="adj" fmla="val 2500"/>
            </a:avLst>
          </a:prstGeom>
          <a:ln w="19050">
            <a:solidFill>
              <a:srgbClr val="2EF2C2"/>
            </a:solidFill>
          </a:ln>
        </p:spPr>
      </p:pic>
      <p:sp>
        <p:nvSpPr>
          <p:cNvPr id="3003" name="deck 3003"/>
          <p:cNvSpPr txBox="1"/>
          <p:nvPr/>
        </p:nvSpPr>
        <p:spPr>
          <a:xfrm>
            <a:off x="118872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سؤال بالإنجليزية: خطوات الصلاة من الكتاب، وبعد كل جملة رقم مصدرها</a:t>
            </a:r>
          </a:p>
        </p:txBody>
      </p:sp>
      <p:pic>
        <p:nvPicPr>
          <p:cNvPr id="3004" name="screenshot refusal" descr="ليس في الكتاب: يعتذر بوضوح، ويعرض «تحدث إلى إنسان»"/>
          <p:cNvPicPr>
            <a:picLocks noChangeAspect="1"/>
          </p:cNvPicPr>
          <p:nvPr/>
        </p:nvPicPr>
        <p:blipFill>
          <a:blip r:embed="rId101"/>
          <a:stretch>
            <a:fillRect/>
          </a:stretch>
        </p:blipFill>
        <p:spPr>
          <a:xfrm>
            <a:off x="6648450" y="3286125"/>
            <a:ext cx="4953000" cy="4953000"/>
          </a:xfrm>
          <a:prstGeom prst="roundRect">
            <a:avLst>
              <a:gd name="adj" fmla="val 2500"/>
            </a:avLst>
          </a:prstGeom>
          <a:ln w="19050">
            <a:solidFill>
              <a:srgbClr val="2EF2C2"/>
            </a:solidFill>
          </a:ln>
        </p:spPr>
      </p:pic>
      <p:sp>
        <p:nvSpPr>
          <p:cNvPr id="3005" name="deck 3005"/>
          <p:cNvSpPr txBox="1"/>
          <p:nvPr/>
        </p:nvSpPr>
        <p:spPr>
          <a:xfrm>
            <a:off x="664845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ليس في الكتاب: يعتذر بوضوح، ويعرض «تحدث إلى إنسان»</a:t>
            </a:r>
          </a:p>
        </p:txBody>
      </p:sp>
      <p:pic>
        <p:nvPicPr>
          <p:cNvPr id="3006" name="screenshot dialog" descr="سؤال شخصي: يختار مرشداً أو مرشدة، ويرى ما سيُرسل قبل أن يوافق"/>
          <p:cNvPicPr>
            <a:picLocks noChangeAspect="1"/>
          </p:cNvPicPr>
          <p:nvPr/>
        </p:nvPicPr>
        <p:blipFill>
          <a:blip r:embed="rId102"/>
          <a:stretch>
            <a:fillRect/>
          </a:stretch>
        </p:blipFill>
        <p:spPr>
          <a:xfrm>
            <a:off x="1409700" y="3286125"/>
            <a:ext cx="4953000" cy="4953000"/>
          </a:xfrm>
          <a:prstGeom prst="roundRect">
            <a:avLst>
              <a:gd name="adj" fmla="val 2500"/>
            </a:avLst>
          </a:prstGeom>
          <a:ln w="19050">
            <a:solidFill>
              <a:srgbClr val="2EF2C2"/>
            </a:solidFill>
          </a:ln>
        </p:spPr>
      </p:pic>
      <p:sp>
        <p:nvSpPr>
          <p:cNvPr id="3007" name="deck 3007"/>
          <p:cNvSpPr txBox="1"/>
          <p:nvPr/>
        </p:nvSpPr>
        <p:spPr>
          <a:xfrm>
            <a:off x="14097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سؤال شخصي: يختار مرشداً أو مرشدة، ويرى ما سيُرسل قبل أن يوافق</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من الموقع الحي</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ومن الجهة الأخرى: مرشد يستقبله، والكتاب بين يديه</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txBox="1"/>
          <p:nvPr/>
        </p:nvSpPr>
        <p:spPr>
          <a:xfrm>
            <a:off x="1409700" y="2781300"/>
            <a:ext cx="15430500" cy="381000"/>
          </a:xfrm>
          <a:prstGeom prst="rect">
            <a:avLst/>
          </a:prstGeom>
          <a:noFill/>
          <a:ln>
            <a:noFill/>
          </a:ln>
        </p:spPr>
        <p:txBody>
          <a:bodyPr wrap="square" lIns="0" tIns="0" rIns="0" bIns="0" anchor="t" rtlCol="1">
            <a:noAutofit/>
          </a:bodyPr>
          <a:lstStyle/>
          <a:p>
            <a:pPr marL="0" indent="0" rtl="1" algn="r">
              <a:lnSpc>
                <a:spcPct val="100000"/>
              </a:lnSpc>
              <a:spcBef>
                <a:spcPts val="0"/>
              </a:spcBef>
              <a:spcAft>
                <a:spcPts val="0"/>
              </a:spcAft>
              <a:buNone/>
            </a:pPr>
            <a:r>
              <a:rPr lang="ar-SA" sz="1700" b="0" dirty="0">
                <a:solidFill>
                  <a:srgbClr val="CBCFE6"/>
                </a:solidFill>
                <a:latin typeface="Readex Pro"/>
                <a:ea typeface="Readex Pro"/>
                <a:cs typeface="Readex Pro"/>
                <a:sym typeface="Readex Pro"/>
              </a:rPr>
              <a:t>لقطات حقيقية من الموقع الحي: صفحة المتعلم، ومنصة المرشدين</a:t>
            </a:r>
          </a:p>
        </p:txBody>
      </p:sp>
      <p:pic>
        <p:nvPicPr>
          <p:cNvPr id="3002" name="screenshot book" descr="الكتاب كاملاً: يقرؤه صفحة صفحة بفهرس، وكل صفحة تدلّ على درسها"/>
          <p:cNvPicPr>
            <a:picLocks noChangeAspect="1"/>
          </p:cNvPicPr>
          <p:nvPr/>
        </p:nvPicPr>
        <p:blipFill>
          <a:blip r:embed="rId100"/>
          <a:stretch>
            <a:fillRect/>
          </a:stretch>
        </p:blipFill>
        <p:spPr>
          <a:xfrm>
            <a:off x="11887200" y="3286125"/>
            <a:ext cx="4953000" cy="4953000"/>
          </a:xfrm>
          <a:prstGeom prst="roundRect">
            <a:avLst>
              <a:gd name="adj" fmla="val 2500"/>
            </a:avLst>
          </a:prstGeom>
          <a:ln w="19050">
            <a:solidFill>
              <a:srgbClr val="2EF2C2"/>
            </a:solidFill>
          </a:ln>
        </p:spPr>
      </p:pic>
      <p:sp>
        <p:nvSpPr>
          <p:cNvPr id="3003" name="deck 3003"/>
          <p:cNvSpPr txBox="1"/>
          <p:nvPr/>
        </p:nvSpPr>
        <p:spPr>
          <a:xfrm>
            <a:off x="118872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الكتاب كاملاً: يقرؤه صفحة صفحة بفهرس، وكل صفحة تدلّ على درسها</a:t>
            </a:r>
          </a:p>
        </p:txBody>
      </p:sp>
      <p:pic>
        <p:nvPicPr>
          <p:cNvPr id="3004" name="screenshot inbox" descr="منصة المرشدين: كل الطلبات في مكان واحد، والأزمات في أعلاها"/>
          <p:cNvPicPr>
            <a:picLocks noChangeAspect="1"/>
          </p:cNvPicPr>
          <p:nvPr/>
        </p:nvPicPr>
        <p:blipFill>
          <a:blip r:embed="rId101"/>
          <a:stretch>
            <a:fillRect/>
          </a:stretch>
        </p:blipFill>
        <p:spPr>
          <a:xfrm>
            <a:off x="6648450" y="3286125"/>
            <a:ext cx="4953000" cy="4714301"/>
          </a:xfrm>
          <a:prstGeom prst="roundRect">
            <a:avLst>
              <a:gd name="adj" fmla="val 2500"/>
            </a:avLst>
          </a:prstGeom>
          <a:ln w="19050">
            <a:solidFill>
              <a:srgbClr val="2EF2C2"/>
            </a:solidFill>
          </a:ln>
        </p:spPr>
      </p:pic>
      <p:sp>
        <p:nvSpPr>
          <p:cNvPr id="3005" name="deck 3005"/>
          <p:cNvSpPr txBox="1"/>
          <p:nvPr/>
        </p:nvSpPr>
        <p:spPr>
          <a:xfrm>
            <a:off x="664845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منصة المرشدين: كل الطلبات في مكان واحد، والأزمات في أعلاها</a:t>
            </a:r>
          </a:p>
        </p:txBody>
      </p:sp>
      <p:pic>
        <p:nvPicPr>
          <p:cNvPr id="3006" name="screenshot crisis" descr="طلب عاجل: رقم الطوارئ في بلد المتعلم أولاً، ثم المحادثة"/>
          <p:cNvPicPr>
            <a:picLocks noChangeAspect="1"/>
          </p:cNvPicPr>
          <p:nvPr/>
        </p:nvPicPr>
        <p:blipFill>
          <a:blip r:embed="rId102"/>
          <a:stretch>
            <a:fillRect/>
          </a:stretch>
        </p:blipFill>
        <p:spPr>
          <a:xfrm>
            <a:off x="1409700" y="3286125"/>
            <a:ext cx="4953000" cy="3952135"/>
          </a:xfrm>
          <a:prstGeom prst="roundRect">
            <a:avLst>
              <a:gd name="adj" fmla="val 2500"/>
            </a:avLst>
          </a:prstGeom>
          <a:ln w="19050">
            <a:solidFill>
              <a:srgbClr val="2EF2C2"/>
            </a:solidFill>
          </a:ln>
        </p:spPr>
      </p:pic>
      <p:sp>
        <p:nvSpPr>
          <p:cNvPr id="3007" name="deck 3007"/>
          <p:cNvSpPr txBox="1"/>
          <p:nvPr/>
        </p:nvSpPr>
        <p:spPr>
          <a:xfrm>
            <a:off x="14097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طلب عاجل: رقم الطوارئ في بلد المتعلم أولاً، ثم المحادثة</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ما بنيناه حول الدروس</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«صار لنا طريق إليه»: أربعة أمور تعيده في الغد</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درس واحد لا يكفي. وكلها يعمل الآن على الموقع، وقد بنيناها في أيام التحدي</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p:nvPr/>
        </p:nvSpPr>
        <p:spPr>
          <a:xfrm>
            <a:off x="13192125" y="3762375"/>
            <a:ext cx="3648075" cy="433387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3600" b="1" dirty="0">
                <a:solidFill>
                  <a:srgbClr val="2EF2C2"/>
                </a:solidFill>
                <a:latin typeface="Readex Pro"/>
                <a:ea typeface="Readex Pro"/>
                <a:cs typeface="Readex Pro"/>
                <a:sym typeface="Readex Pro"/>
              </a:rPr>
              <a:t>‎01‎</a:t>
            </a:r>
          </a:p>
          <a:p>
            <a:pPr marL="0" indent="0" rtl="1" algn="r">
              <a:lnSpc>
                <a:spcPct val="105000"/>
              </a:lnSpc>
              <a:spcBef>
                <a:spcPts val="1200"/>
              </a:spcBef>
              <a:spcAft>
                <a:spcPts val="0"/>
              </a:spcAft>
              <a:buNone/>
            </a:pPr>
            <a:r>
              <a:rPr lang="ar-SA" sz="2600" b="1" dirty="0">
                <a:solidFill>
                  <a:srgbClr val="F2F4FF"/>
                </a:solidFill>
                <a:latin typeface="Readex Pro"/>
                <a:ea typeface="Readex Pro"/>
                <a:cs typeface="Readex Pro"/>
                <a:sym typeface="Readex Pro"/>
              </a:rPr>
              <a:t>الكتاب كاملاً</a:t>
            </a:r>
          </a:p>
          <a:p>
            <a:pPr marL="0" indent="0" rtl="1" algn="r">
              <a:lnSpc>
                <a:spcPct val="130000"/>
              </a:lnSpc>
              <a:spcBef>
                <a:spcPts val="1600"/>
              </a:spcBef>
              <a:spcAft>
                <a:spcPts val="0"/>
              </a:spcAft>
              <a:buNone/>
            </a:pPr>
            <a:r>
              <a:rPr lang="ar-SA" sz="2100" b="0" dirty="0">
                <a:solidFill>
                  <a:srgbClr val="CBCFE6"/>
                </a:solidFill>
                <a:latin typeface="Readex Pro"/>
                <a:ea typeface="Readex Pro"/>
                <a:cs typeface="Readex Pro"/>
                <a:sym typeface="Readex Pro"/>
              </a:rPr>
              <a:t>يقرأ «الوجيز» صفحة صفحة بفهرس. وكل مصدر في درس أو جواب يفتح صفحته.</a:t>
            </a:r>
          </a:p>
        </p:txBody>
      </p:sp>
      <p:sp>
        <p:nvSpPr>
          <p:cNvPr id="3002" name="deck 3002"/>
          <p:cNvSpPr/>
          <p:nvPr/>
        </p:nvSpPr>
        <p:spPr>
          <a:xfrm>
            <a:off x="9258300" y="3762375"/>
            <a:ext cx="3648075" cy="433387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3600" b="1" dirty="0">
                <a:solidFill>
                  <a:srgbClr val="2EF2C2"/>
                </a:solidFill>
                <a:latin typeface="Readex Pro"/>
                <a:ea typeface="Readex Pro"/>
                <a:cs typeface="Readex Pro"/>
                <a:sym typeface="Readex Pro"/>
              </a:rPr>
              <a:t>‎02‎</a:t>
            </a:r>
          </a:p>
          <a:p>
            <a:pPr marL="0" indent="0" rtl="1" algn="r">
              <a:lnSpc>
                <a:spcPct val="105000"/>
              </a:lnSpc>
              <a:spcBef>
                <a:spcPts val="1200"/>
              </a:spcBef>
              <a:spcAft>
                <a:spcPts val="0"/>
              </a:spcAft>
              <a:buNone/>
            </a:pPr>
            <a:r>
              <a:rPr lang="ar-SA" sz="2600" b="1" dirty="0">
                <a:solidFill>
                  <a:srgbClr val="F2F4FF"/>
                </a:solidFill>
                <a:latin typeface="Readex Pro"/>
                <a:ea typeface="Readex Pro"/>
                <a:cs typeface="Readex Pro"/>
                <a:sym typeface="Readex Pro"/>
              </a:rPr>
              <a:t>حساب وتذكير</a:t>
            </a:r>
          </a:p>
          <a:p>
            <a:pPr marL="0" indent="0" rtl="1" algn="r">
              <a:lnSpc>
                <a:spcPct val="130000"/>
              </a:lnSpc>
              <a:spcBef>
                <a:spcPts val="1600"/>
              </a:spcBef>
              <a:spcAft>
                <a:spcPts val="0"/>
              </a:spcAft>
              <a:buNone/>
            </a:pPr>
            <a:r>
              <a:rPr lang="ar-SA" sz="2100" b="0" dirty="0">
                <a:solidFill>
                  <a:srgbClr val="CBCFE6"/>
                </a:solidFill>
                <a:latin typeface="Readex Pro"/>
                <a:ea typeface="Readex Pro"/>
                <a:cs typeface="Readex Pro"/>
                <a:sym typeface="Readex Pro"/>
              </a:rPr>
              <a:t>يدخل بحساب Google أو برابط في بريده، فيُحفظ تقدّمه، ويصله تذكير بدرسه في الساعة التي يختارها.</a:t>
            </a:r>
          </a:p>
        </p:txBody>
      </p:sp>
      <p:sp>
        <p:nvSpPr>
          <p:cNvPr id="3003" name="deck 3003"/>
          <p:cNvSpPr/>
          <p:nvPr/>
        </p:nvSpPr>
        <p:spPr>
          <a:xfrm>
            <a:off x="5324475" y="3762375"/>
            <a:ext cx="3648075" cy="433387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3600" b="1" dirty="0">
                <a:solidFill>
                  <a:srgbClr val="2EF2C2"/>
                </a:solidFill>
                <a:latin typeface="Readex Pro"/>
                <a:ea typeface="Readex Pro"/>
                <a:cs typeface="Readex Pro"/>
                <a:sym typeface="Readex Pro"/>
              </a:rPr>
              <a:t>‎03‎</a:t>
            </a:r>
          </a:p>
          <a:p>
            <a:pPr marL="0" indent="0" rtl="1" algn="r">
              <a:lnSpc>
                <a:spcPct val="105000"/>
              </a:lnSpc>
              <a:spcBef>
                <a:spcPts val="1200"/>
              </a:spcBef>
              <a:spcAft>
                <a:spcPts val="0"/>
              </a:spcAft>
              <a:buNone/>
            </a:pPr>
            <a:r>
              <a:rPr lang="ar-SA" sz="2600" b="1" dirty="0">
                <a:solidFill>
                  <a:srgbClr val="F2F4FF"/>
                </a:solidFill>
                <a:latin typeface="Readex Pro"/>
                <a:ea typeface="Readex Pro"/>
                <a:cs typeface="Readex Pro"/>
                <a:sym typeface="Readex Pro"/>
              </a:rPr>
              <a:t>محادثة مع المرشد</a:t>
            </a:r>
          </a:p>
          <a:p>
            <a:pPr marL="0" indent="0" rtl="1" algn="r">
              <a:lnSpc>
                <a:spcPct val="130000"/>
              </a:lnSpc>
              <a:spcBef>
                <a:spcPts val="1600"/>
              </a:spcBef>
              <a:spcAft>
                <a:spcPts val="0"/>
              </a:spcAft>
              <a:buNone/>
            </a:pPr>
            <a:r>
              <a:rPr lang="ar-SA" sz="2100" b="0" dirty="0">
                <a:solidFill>
                  <a:srgbClr val="CBCFE6"/>
                </a:solidFill>
                <a:latin typeface="Readex Pro"/>
                <a:ea typeface="Readex Pro"/>
                <a:cs typeface="Readex Pro"/>
                <a:sym typeface="Readex Pro"/>
              </a:rPr>
              <a:t>لكل طلب محادثة محفوظة، وردّ المرشد ينتظر المتعلم حين يعود.</a:t>
            </a:r>
          </a:p>
        </p:txBody>
      </p:sp>
      <p:sp>
        <p:nvSpPr>
          <p:cNvPr id="3004" name="deck 3004"/>
          <p:cNvSpPr/>
          <p:nvPr/>
        </p:nvSpPr>
        <p:spPr>
          <a:xfrm>
            <a:off x="1390650" y="3762375"/>
            <a:ext cx="3648075" cy="433387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3600" b="1" dirty="0">
                <a:solidFill>
                  <a:srgbClr val="2EF2C2"/>
                </a:solidFill>
                <a:latin typeface="Readex Pro"/>
                <a:ea typeface="Readex Pro"/>
                <a:cs typeface="Readex Pro"/>
                <a:sym typeface="Readex Pro"/>
              </a:rPr>
              <a:t>‎04‎</a:t>
            </a:r>
          </a:p>
          <a:p>
            <a:pPr marL="0" indent="0" rtl="1" algn="r">
              <a:lnSpc>
                <a:spcPct val="105000"/>
              </a:lnSpc>
              <a:spcBef>
                <a:spcPts val="1200"/>
              </a:spcBef>
              <a:spcAft>
                <a:spcPts val="0"/>
              </a:spcAft>
              <a:buNone/>
            </a:pPr>
            <a:r>
              <a:rPr lang="ar-SA" sz="2600" b="1" dirty="0">
                <a:solidFill>
                  <a:srgbClr val="F2F4FF"/>
                </a:solidFill>
                <a:latin typeface="Readex Pro"/>
                <a:ea typeface="Readex Pro"/>
                <a:cs typeface="Readex Pro"/>
                <a:sym typeface="Readex Pro"/>
              </a:rPr>
              <a:t>استمع وردّد</a:t>
            </a:r>
          </a:p>
          <a:p>
            <a:pPr marL="0" indent="0" rtl="1" algn="r">
              <a:lnSpc>
                <a:spcPct val="130000"/>
              </a:lnSpc>
              <a:spcBef>
                <a:spcPts val="1600"/>
              </a:spcBef>
              <a:spcAft>
                <a:spcPts val="0"/>
              </a:spcAft>
              <a:buNone/>
            </a:pPr>
            <a:r>
              <a:rPr lang="ar-SA" sz="2100" b="0" dirty="0">
                <a:solidFill>
                  <a:srgbClr val="CBCFE6"/>
                </a:solidFill>
                <a:latin typeface="Readex Pro"/>
                <a:ea typeface="Readex Pro"/>
                <a:cs typeface="Readex Pro"/>
                <a:sym typeface="Readex Pro"/>
              </a:rPr>
              <a:t>يسمع الفاتحة وقصار السور آيةً آية بصوت قارئ (المنشاوي أو العفاسي)، ثم يردّدها بنفسه.</a:t>
            </a:r>
          </a:p>
        </p:txBody>
      </p:sp>
      <p:sp>
        <p:nvSpPr>
          <p:cNvPr id="3005" name="deck 3005"/>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900" b="1" dirty="0">
                <a:solidFill>
                  <a:srgbClr val="2EF2C2"/>
                </a:solidFill>
                <a:latin typeface="Readex Pro"/>
                <a:ea typeface="Readex Pro"/>
                <a:cs typeface="Readex Pro"/>
                <a:sym typeface="Readex Pro"/>
              </a:rPr>
              <a:t>وأيضاً: </a:t>
            </a:r>
            <a:r>
              <a:rPr lang="ar-SA" sz="1900" b="0" dirty="0">
                <a:solidFill>
                  <a:srgbClr val="F2F4FF"/>
                </a:solidFill>
                <a:latin typeface="Readex Pro"/>
                <a:ea typeface="Readex Pro"/>
                <a:cs typeface="Readex Pro"/>
                <a:sym typeface="Readex Pro"/>
              </a:rPr>
              <a:t>تمارين بعد كل درس · خطوات الوضوء والغسل والصلاة بنص الكتاب في كل مرة · «احذف بياناتي» متى شاء</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الأصالة والقيمة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لا يكفي ملف PDF أو بوت عام؟</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هذه هي البدائل التي يجدها المسلم الجديد اليوم، وما ينقصها</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11953875" y="3762375"/>
            <a:ext cx="4886325" cy="4286250"/>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المنصة قبل المشروع</a:t>
            </a:r>
          </a:p>
          <a:p>
            <a:pPr marL="0" indent="0" rtl="1" algn="r">
              <a:lnSpc>
                <a:spcPct val="100000"/>
              </a:lnSpc>
              <a:spcBef>
                <a:spcPts val="1800"/>
              </a:spcBef>
              <a:spcAft>
                <a:spcPts val="0"/>
              </a:spcAft>
              <a:buNone/>
            </a:pPr>
            <a:r>
              <a:rPr lang="ar-SA" sz="1600" b="1" dirty="0">
                <a:solidFill>
                  <a:srgbClr val="8E99CC"/>
                </a:solidFill>
                <a:latin typeface="Readex Pro"/>
                <a:ea typeface="Readex Pro"/>
                <a:cs typeface="Readex Pro"/>
                <a:sym typeface="Readex Pro"/>
              </a:rPr>
              <a:t>ما ينقصه</a:t>
            </a:r>
          </a:p>
          <a:p>
            <a:pPr marL="0" indent="0" rtl="1" algn="r">
              <a:lnSpc>
                <a:spcPct val="125000"/>
              </a:lnSpc>
              <a:spcBef>
                <a:spcPts val="400"/>
              </a:spcBef>
              <a:spcAft>
                <a:spcPts val="0"/>
              </a:spcAft>
              <a:buNone/>
            </a:pPr>
            <a:r>
              <a:rPr lang="ar-SA" sz="1800" b="0" dirty="0">
                <a:solidFill>
                  <a:srgbClr val="CBCFE6"/>
                </a:solidFill>
                <a:latin typeface="Readex Pro"/>
                <a:ea typeface="Readex Pro"/>
                <a:cs typeface="Readex Pro"/>
                <a:sym typeface="Readex Pro"/>
              </a:rPr>
              <a:t>لا درس داخل المحادثة، لأن الذكاء الاصطناعي ممنوع من تعليم العبادة من عنده.</a:t>
            </a:r>
          </a:p>
          <a:p>
            <a:pPr marL="0" indent="0" rtl="1" algn="r">
              <a:lnSpc>
                <a:spcPct val="100000"/>
              </a:lnSpc>
              <a:spcBef>
                <a:spcPts val="2200"/>
              </a:spcBef>
              <a:spcAft>
                <a:spcPts val="0"/>
              </a:spcAft>
              <a:buNone/>
            </a:pPr>
            <a:r>
              <a:rPr lang="ar-SA" sz="1600" b="1" dirty="0">
                <a:solidFill>
                  <a:srgbClr val="2EF2C2"/>
                </a:solidFill>
                <a:latin typeface="Readex Pro"/>
                <a:ea typeface="Readex Pro"/>
                <a:cs typeface="Readex Pro"/>
                <a:sym typeface="Readex Pro"/>
              </a:rPr>
              <a:t>ما نقدّمه</a:t>
            </a:r>
          </a:p>
          <a:p>
            <a:pPr marL="0" indent="0" rtl="1" algn="r">
              <a:lnSpc>
                <a:spcPct val="125000"/>
              </a:lnSpc>
              <a:spcBef>
                <a:spcPts val="400"/>
              </a:spcBef>
              <a:spcAft>
                <a:spcPts val="0"/>
              </a:spcAft>
              <a:buNone/>
            </a:pPr>
            <a:r>
              <a:rPr lang="ar-SA" sz="1800" b="0" dirty="0">
                <a:solidFill>
                  <a:srgbClr val="F2F4FF"/>
                </a:solidFill>
                <a:latin typeface="Readex Pro"/>
                <a:ea typeface="Readex Pro"/>
                <a:cs typeface="Readex Pro"/>
                <a:sym typeface="Readex Pro"/>
              </a:rPr>
              <a:t>أول درس موثّق يبدأ فوراً، في المحادثة نفسها، بلغة المتعلم.</a:t>
            </a:r>
          </a:p>
        </p:txBody>
      </p:sp>
      <p:sp>
        <p:nvSpPr>
          <p:cNvPr id="3002" name="deck 3002"/>
          <p:cNvSpPr/>
          <p:nvPr/>
        </p:nvSpPr>
        <p:spPr>
          <a:xfrm>
            <a:off x="6686550" y="3762375"/>
            <a:ext cx="4886325" cy="4286250"/>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ملف PDF أو بحث نصي</a:t>
            </a:r>
          </a:p>
          <a:p>
            <a:pPr marL="0" indent="0" rtl="1" algn="r">
              <a:lnSpc>
                <a:spcPct val="100000"/>
              </a:lnSpc>
              <a:spcBef>
                <a:spcPts val="1800"/>
              </a:spcBef>
              <a:spcAft>
                <a:spcPts val="0"/>
              </a:spcAft>
              <a:buNone/>
            </a:pPr>
            <a:r>
              <a:rPr lang="ar-SA" sz="1600" b="1" dirty="0">
                <a:solidFill>
                  <a:srgbClr val="8E99CC"/>
                </a:solidFill>
                <a:latin typeface="Readex Pro"/>
                <a:ea typeface="Readex Pro"/>
                <a:cs typeface="Readex Pro"/>
                <a:sym typeface="Readex Pro"/>
              </a:rPr>
              <a:t>ما ينقصه</a:t>
            </a:r>
          </a:p>
          <a:p>
            <a:pPr marL="0" indent="0" rtl="1" algn="r">
              <a:lnSpc>
                <a:spcPct val="125000"/>
              </a:lnSpc>
              <a:spcBef>
                <a:spcPts val="400"/>
              </a:spcBef>
              <a:spcAft>
                <a:spcPts val="0"/>
              </a:spcAft>
              <a:buNone/>
            </a:pPr>
            <a:r>
              <a:rPr lang="ar-SA" sz="1800" b="0" dirty="0">
                <a:solidFill>
                  <a:srgbClr val="CBCFE6"/>
                </a:solidFill>
                <a:latin typeface="Readex Pro"/>
                <a:ea typeface="Readex Pro"/>
                <a:cs typeface="Readex Pro"/>
                <a:sym typeface="Readex Pro"/>
              </a:rPr>
              <a:t>لا يعرف أين توقف القارئ، ولا يحاوره بلغته، ولا يذكّره بشيء.</a:t>
            </a:r>
          </a:p>
          <a:p>
            <a:pPr marL="0" indent="0" rtl="1" algn="r">
              <a:lnSpc>
                <a:spcPct val="100000"/>
              </a:lnSpc>
              <a:spcBef>
                <a:spcPts val="2200"/>
              </a:spcBef>
              <a:spcAft>
                <a:spcPts val="0"/>
              </a:spcAft>
              <a:buNone/>
            </a:pPr>
            <a:r>
              <a:rPr lang="ar-SA" sz="1600" b="1" dirty="0">
                <a:solidFill>
                  <a:srgbClr val="2EF2C2"/>
                </a:solidFill>
                <a:latin typeface="Readex Pro"/>
                <a:ea typeface="Readex Pro"/>
                <a:cs typeface="Readex Pro"/>
                <a:sym typeface="Readex Pro"/>
              </a:rPr>
              <a:t>ما نقدّمه</a:t>
            </a:r>
          </a:p>
          <a:p>
            <a:pPr marL="0" indent="0" rtl="1" algn="r">
              <a:lnSpc>
                <a:spcPct val="125000"/>
              </a:lnSpc>
              <a:spcBef>
                <a:spcPts val="400"/>
              </a:spcBef>
              <a:spcAft>
                <a:spcPts val="0"/>
              </a:spcAft>
              <a:buNone/>
            </a:pPr>
            <a:r>
              <a:rPr lang="ar-SA" sz="1800" b="0" dirty="0">
                <a:solidFill>
                  <a:srgbClr val="F2F4FF"/>
                </a:solidFill>
                <a:latin typeface="Readex Pro"/>
                <a:ea typeface="Readex Pro"/>
                <a:cs typeface="Readex Pro"/>
                <a:sym typeface="Readex Pro"/>
              </a:rPr>
              <a:t>منهج يحفظ تقدّمه، ودرس كل يوم بتذكير، وجواب على سؤاله برقم الصفحة.</a:t>
            </a:r>
          </a:p>
        </p:txBody>
      </p:sp>
      <p:sp>
        <p:nvSpPr>
          <p:cNvPr id="3003" name="deck 3003"/>
          <p:cNvSpPr/>
          <p:nvPr/>
        </p:nvSpPr>
        <p:spPr>
          <a:xfrm>
            <a:off x="1419225" y="3762375"/>
            <a:ext cx="4886325" cy="4286250"/>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النموذج نفسه دون المدقّق والفرز</a:t>
            </a:r>
          </a:p>
          <a:p>
            <a:pPr marL="0" indent="0" rtl="1" algn="r">
              <a:lnSpc>
                <a:spcPct val="100000"/>
              </a:lnSpc>
              <a:spcBef>
                <a:spcPts val="1800"/>
              </a:spcBef>
              <a:spcAft>
                <a:spcPts val="0"/>
              </a:spcAft>
              <a:buNone/>
            </a:pPr>
            <a:r>
              <a:rPr lang="ar-SA" sz="1600" b="1" dirty="0">
                <a:solidFill>
                  <a:srgbClr val="8E99CC"/>
                </a:solidFill>
                <a:latin typeface="Readex Pro"/>
                <a:ea typeface="Readex Pro"/>
                <a:cs typeface="Readex Pro"/>
                <a:sym typeface="Readex Pro"/>
              </a:rPr>
              <a:t>ما ينقصه</a:t>
            </a:r>
          </a:p>
          <a:p>
            <a:pPr marL="0" indent="0" rtl="1" algn="r">
              <a:lnSpc>
                <a:spcPct val="125000"/>
              </a:lnSpc>
              <a:spcBef>
                <a:spcPts val="400"/>
              </a:spcBef>
              <a:spcAft>
                <a:spcPts val="0"/>
              </a:spcAft>
              <a:buNone/>
            </a:pPr>
            <a:r>
              <a:rPr lang="ar-SA" sz="1800" b="0" dirty="0">
                <a:solidFill>
                  <a:srgbClr val="CBCFE6"/>
                </a:solidFill>
                <a:latin typeface="Readex Pro"/>
                <a:ea typeface="Readex Pro"/>
                <a:cs typeface="Readex Pro"/>
                <a:sym typeface="Readex Pro"/>
              </a:rPr>
              <a:t>قد ينسب إلى الكتاب ما ليس فيه، وقد يفتي في أمر شخصي.</a:t>
            </a:r>
          </a:p>
          <a:p>
            <a:pPr marL="0" indent="0" rtl="1" algn="r">
              <a:lnSpc>
                <a:spcPct val="100000"/>
              </a:lnSpc>
              <a:spcBef>
                <a:spcPts val="2200"/>
              </a:spcBef>
              <a:spcAft>
                <a:spcPts val="0"/>
              </a:spcAft>
              <a:buNone/>
            </a:pPr>
            <a:r>
              <a:rPr lang="ar-SA" sz="1600" b="1" dirty="0">
                <a:solidFill>
                  <a:srgbClr val="2EF2C2"/>
                </a:solidFill>
                <a:latin typeface="Readex Pro"/>
                <a:ea typeface="Readex Pro"/>
                <a:cs typeface="Readex Pro"/>
                <a:sym typeface="Readex Pro"/>
              </a:rPr>
              <a:t>ما نقدّمه</a:t>
            </a:r>
          </a:p>
          <a:p>
            <a:pPr marL="0" indent="0" rtl="1" algn="r">
              <a:lnSpc>
                <a:spcPct val="125000"/>
              </a:lnSpc>
              <a:spcBef>
                <a:spcPts val="400"/>
              </a:spcBef>
              <a:spcAft>
                <a:spcPts val="0"/>
              </a:spcAft>
              <a:buNone/>
            </a:pPr>
            <a:r>
              <a:rPr lang="ar-SA" sz="1800" b="0" dirty="0">
                <a:solidFill>
                  <a:srgbClr val="F2F4FF"/>
                </a:solidFill>
                <a:latin typeface="Readex Pro"/>
                <a:ea typeface="Readex Pro"/>
                <a:cs typeface="Readex Pro"/>
                <a:sym typeface="Readex Pro"/>
              </a:rPr>
              <a:t>مقيس على ‎200‎ سؤال: اقتباسات مطابقة ‎100%‎ مقابل ‎92.1%‎، وحساسة بلا فتوى ‎98.9%‎ مقابل ‎81.1%‎، والخلاف بسعة ‎86.7%‎ مقابل ‎0%‎.</a:t>
            </a:r>
          </a:p>
        </p:txBody>
      </p:sp>
      <p:sp>
        <p:nvSpPr>
          <p:cNvPr id="3004" name="deck 3004"/>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000" b="1" dirty="0">
                <a:solidFill>
                  <a:srgbClr val="2EF2C2"/>
                </a:solidFill>
                <a:latin typeface="Readex Pro"/>
                <a:ea typeface="Readex Pro"/>
                <a:cs typeface="Readex Pro"/>
                <a:sym typeface="Readex Pro"/>
              </a:rPr>
              <a:t>الجديد: </a:t>
            </a:r>
            <a:r>
              <a:rPr lang="ar-SA" sz="2000" b="0" dirty="0">
                <a:solidFill>
                  <a:srgbClr val="F2F4FF"/>
                </a:solidFill>
                <a:latin typeface="Readex Pro"/>
                <a:ea typeface="Readex Pro"/>
                <a:cs typeface="Readex Pro"/>
                <a:sym typeface="Readex Pro"/>
              </a:rPr>
              <a:t>الشهادتان بداية منهج لا نهاية محادثة، في منصة يزورها غير المسلمين فعلاً، لا في تطبيق جديد ينتظر زواره.</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كيف يعمل</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يُصنع الجواب؟ ولماذا يُحذف كل ما لا مصدر له</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الخطأ في الدين ليس كأي خطأ. لذلك يكتب الذكاء الاصطناعي الشرح، ويفحصه برنامج قبل أن يراه أحد</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p:nvPr/>
        </p:nvSpPr>
        <p:spPr>
          <a:xfrm>
            <a:off x="1398270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‎01‎ </a:t>
            </a:r>
            <a:r>
              <a:rPr lang="ar-SA" sz="2400" b="1" dirty="0">
                <a:solidFill>
                  <a:srgbClr val="F2F4FF"/>
                </a:solidFill>
                <a:latin typeface="Readex Pro"/>
                <a:ea typeface="Readex Pro"/>
                <a:cs typeface="Readex Pro"/>
                <a:sym typeface="Readex Pro"/>
              </a:rPr>
              <a:t>الفرز</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نقرّر أولاً: هل يُجاب السؤال من الكتاب، أم يُحال إلى إنسان؟ إن رأت ذلك قائمةُ كلمات الأزمة أو الذكاء الاصطناعي، أُحيل.</a:t>
            </a:r>
          </a:p>
        </p:txBody>
      </p:sp>
      <p:sp>
        <p:nvSpPr>
          <p:cNvPr id="3002" name="deck 3002"/>
          <p:cNvSpPr/>
          <p:nvPr/>
        </p:nvSpPr>
        <p:spPr>
          <a:xfrm>
            <a:off x="13716000" y="5857875"/>
            <a:ext cx="247650" cy="247650"/>
          </a:xfrm>
          <a:prstGeom prst="leftArrow">
            <a:avLst/>
          </a:prstGeom>
          <a:solidFill>
            <a:srgbClr val="2EF2C2">
              <a:alpha val="85000"/>
            </a:srgbClr>
          </a:solidFill>
          <a:ln>
            <a:noFill/>
          </a:ln>
        </p:spPr>
      </p:sp>
      <p:sp>
        <p:nvSpPr>
          <p:cNvPr id="3003" name="deck 3003"/>
          <p:cNvSpPr/>
          <p:nvPr/>
        </p:nvSpPr>
        <p:spPr>
          <a:xfrm>
            <a:off x="1083945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‎02‎ </a:t>
            </a:r>
            <a:r>
              <a:rPr lang="ar-SA" sz="2400" b="1" dirty="0">
                <a:solidFill>
                  <a:srgbClr val="F2F4FF"/>
                </a:solidFill>
                <a:latin typeface="Readex Pro"/>
                <a:ea typeface="Readex Pro"/>
                <a:cs typeface="Readex Pro"/>
                <a:sym typeface="Readex Pro"/>
              </a:rPr>
              <a:t>البحث في الكتاب</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يبحث في «الوجيز» عن الكلمات نفسها وعمّا يشبهها في المعنى، ولو كان السؤال بلغة أخرى. فإن لم يجد: «ليس في الكتاب».</a:t>
            </a:r>
          </a:p>
        </p:txBody>
      </p:sp>
      <p:sp>
        <p:nvSpPr>
          <p:cNvPr id="3004" name="deck 3004"/>
          <p:cNvSpPr/>
          <p:nvPr/>
        </p:nvSpPr>
        <p:spPr>
          <a:xfrm>
            <a:off x="10572750" y="5857875"/>
            <a:ext cx="247650" cy="247650"/>
          </a:xfrm>
          <a:prstGeom prst="leftArrow">
            <a:avLst/>
          </a:prstGeom>
          <a:solidFill>
            <a:srgbClr val="2EF2C2">
              <a:alpha val="85000"/>
            </a:srgbClr>
          </a:solidFill>
          <a:ln>
            <a:noFill/>
          </a:ln>
        </p:spPr>
      </p:sp>
      <p:sp>
        <p:nvSpPr>
          <p:cNvPr id="3005" name="deck 3005"/>
          <p:cNvSpPr/>
          <p:nvPr/>
        </p:nvSpPr>
        <p:spPr>
          <a:xfrm>
            <a:off x="769620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‎03‎ </a:t>
            </a:r>
            <a:r>
              <a:rPr lang="ar-SA" sz="2400" b="1" dirty="0">
                <a:solidFill>
                  <a:srgbClr val="F2F4FF"/>
                </a:solidFill>
                <a:latin typeface="Readex Pro"/>
                <a:ea typeface="Readex Pro"/>
                <a:cs typeface="Readex Pro"/>
                <a:sym typeface="Readex Pro"/>
              </a:rPr>
              <a:t>كتابة الجواب</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يكتب الذكاء الاصطناعي الجواب بلغة المتعلم، وبعد كل جملة رقم الفقرة التي أخذها منها. ولا يكتب آية ولا اقتباساً.</a:t>
            </a:r>
          </a:p>
        </p:txBody>
      </p:sp>
      <p:sp>
        <p:nvSpPr>
          <p:cNvPr id="3006" name="deck 3006"/>
          <p:cNvSpPr/>
          <p:nvPr/>
        </p:nvSpPr>
        <p:spPr>
          <a:xfrm>
            <a:off x="7429500" y="5857875"/>
            <a:ext cx="247650" cy="247650"/>
          </a:xfrm>
          <a:prstGeom prst="leftArrow">
            <a:avLst/>
          </a:prstGeom>
          <a:solidFill>
            <a:srgbClr val="2EF2C2">
              <a:alpha val="85000"/>
            </a:srgbClr>
          </a:solidFill>
          <a:ln>
            <a:noFill/>
          </a:ln>
        </p:spPr>
      </p:sp>
      <p:sp>
        <p:nvSpPr>
          <p:cNvPr id="3007" name="deck 3007"/>
          <p:cNvSpPr/>
          <p:nvPr/>
        </p:nvSpPr>
        <p:spPr>
          <a:xfrm>
            <a:off x="455295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‎04‎ </a:t>
            </a:r>
            <a:r>
              <a:rPr lang="ar-SA" sz="2400" b="1" dirty="0">
                <a:solidFill>
                  <a:srgbClr val="F2F4FF"/>
                </a:solidFill>
                <a:latin typeface="Readex Pro"/>
                <a:ea typeface="Readex Pro"/>
                <a:cs typeface="Readex Pro"/>
                <a:sym typeface="Readex Pro"/>
              </a:rPr>
              <a:t>المدقّق</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برنامج بلا ذكاء اصطناعي: يحذف كل جملة بلا مصدر، ويطابق كل اقتباس بنص الكتاب. إن حذف أكثر من الثلث أعاد الكتابة مرة، ثم يعتذر ويعرض مرشداً.</a:t>
            </a:r>
          </a:p>
        </p:txBody>
      </p:sp>
      <p:sp>
        <p:nvSpPr>
          <p:cNvPr id="3008" name="deck 3008"/>
          <p:cNvSpPr/>
          <p:nvPr/>
        </p:nvSpPr>
        <p:spPr>
          <a:xfrm>
            <a:off x="4286250" y="5857875"/>
            <a:ext cx="247650" cy="247650"/>
          </a:xfrm>
          <a:prstGeom prst="leftArrow">
            <a:avLst/>
          </a:prstGeom>
          <a:solidFill>
            <a:srgbClr val="2EF2C2">
              <a:alpha val="85000"/>
            </a:srgbClr>
          </a:solidFill>
          <a:ln>
            <a:noFill/>
          </a:ln>
        </p:spPr>
      </p:sp>
      <p:sp>
        <p:nvSpPr>
          <p:cNvPr id="3009" name="deck 3009"/>
          <p:cNvSpPr/>
          <p:nvPr/>
        </p:nvSpPr>
        <p:spPr>
          <a:xfrm>
            <a:off x="140970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‎05‎ </a:t>
            </a:r>
            <a:r>
              <a:rPr lang="ar-SA" sz="2400" b="1" dirty="0">
                <a:solidFill>
                  <a:srgbClr val="F2F4FF"/>
                </a:solidFill>
                <a:latin typeface="Readex Pro"/>
                <a:ea typeface="Readex Pro"/>
                <a:cs typeface="Readex Pro"/>
                <a:sym typeface="Readex Pro"/>
              </a:rPr>
              <a:t>العرض</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يظهر الجواب ومصادره تُفتح بلمسة، ومعه رابط درسه، وزر «أبلغ عن خطأ».</a:t>
            </a:r>
          </a:p>
        </p:txBody>
      </p:sp>
      <p:sp>
        <p:nvSpPr>
          <p:cNvPr id="3010" name="deck 3010"/>
          <p:cNvSpPr/>
          <p:nvPr/>
        </p:nvSpPr>
        <p:spPr>
          <a:xfrm>
            <a:off x="1409700" y="8429625"/>
            <a:ext cx="15430500" cy="6858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000" b="1" dirty="0">
                <a:solidFill>
                  <a:srgbClr val="2EF2C2"/>
                </a:solidFill>
                <a:latin typeface="Readex Pro"/>
                <a:ea typeface="Readex Pro"/>
                <a:cs typeface="Readex Pro"/>
                <a:sym typeface="Readex Pro"/>
              </a:rPr>
              <a:t>القاعدة: </a:t>
            </a:r>
            <a:r>
              <a:rPr lang="ar-SA" sz="2000" b="0" dirty="0">
                <a:solidFill>
                  <a:srgbClr val="F2F4FF"/>
                </a:solidFill>
                <a:latin typeface="Readex Pro"/>
                <a:ea typeface="Readex Pro"/>
                <a:cs typeface="Readex Pro"/>
                <a:sym typeface="Readex Pro"/>
              </a:rPr>
              <a:t>الآية ونص الكتاب لا يكتبهما الذكاء الاصطناعي؛ يشير إلى رقمهما، والبرنامج ينقلهما من المصدر كما هما.</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ما يضيفه الذكاء الاصطناعي</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الذكاء الاصطناعي يشرح من الكتاب، والمرشد يرشد</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وبينهما برنامج يفحص كل جملة. أما المسائل الشخصية فلأهل العلم، لا للآلة</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11953875" y="3762375"/>
            <a:ext cx="4886325" cy="442912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1400"/>
              </a:spcAft>
              <a:buNone/>
            </a:pPr>
            <a:r>
              <a:rPr lang="ar-SA" sz="2600" b="1" dirty="0">
                <a:solidFill>
                  <a:srgbClr val="2EF2C2"/>
                </a:solidFill>
                <a:latin typeface="Readex Pro"/>
                <a:ea typeface="Readex Pro"/>
                <a:cs typeface="Readex Pro"/>
                <a:sym typeface="Readex Pro"/>
              </a:rPr>
              <a:t>الذكاء الاصطناعي</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يلاحظ لحظة الشهادتين في المحادثة، بأي لغة</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يفهم السؤال، ويجد جوابه في الكتاب بالمعنى</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يشرح بلغة المتعلم، ويذكر مصدر كل جملة</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يساعد في تقرير: كتاب أم إنسان؟</a:t>
            </a:r>
          </a:p>
        </p:txBody>
      </p:sp>
      <p:sp>
        <p:nvSpPr>
          <p:cNvPr id="3002" name="deck 3002"/>
          <p:cNvSpPr/>
          <p:nvPr/>
        </p:nvSpPr>
        <p:spPr>
          <a:xfrm>
            <a:off x="6686550" y="3762375"/>
            <a:ext cx="4886325" cy="442912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1400"/>
              </a:spcAft>
              <a:buNone/>
            </a:pPr>
            <a:r>
              <a:rPr lang="ar-SA" sz="2600" b="1" dirty="0">
                <a:solidFill>
                  <a:srgbClr val="F2F4FF"/>
                </a:solidFill>
                <a:latin typeface="Readex Pro"/>
                <a:ea typeface="Readex Pro"/>
                <a:cs typeface="Readex Pro"/>
                <a:sym typeface="Readex Pro"/>
              </a:rPr>
              <a:t>البرنامج (قواعد ثابتة)</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يرتّب الدروس ويحفظ التقدّم</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يحذف كل جملة بلا مصدر، ويطابق الاقتباسات</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ينقل الآيات ومعانيها من مصادرها</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يُظهر رقم الطوارئ أولاً عند الخطر</a:t>
            </a:r>
          </a:p>
        </p:txBody>
      </p:sp>
      <p:sp>
        <p:nvSpPr>
          <p:cNvPr id="3003" name="deck 3003"/>
          <p:cNvSpPr/>
          <p:nvPr/>
        </p:nvSpPr>
        <p:spPr>
          <a:xfrm>
            <a:off x="1419225" y="3762375"/>
            <a:ext cx="4886325" cy="442912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1400"/>
              </a:spcAft>
              <a:buNone/>
            </a:pPr>
            <a:r>
              <a:rPr lang="ar-SA" sz="2600" b="1" dirty="0">
                <a:solidFill>
                  <a:srgbClr val="F2F4FF"/>
                </a:solidFill>
                <a:latin typeface="Readex Pro"/>
                <a:ea typeface="Readex Pro"/>
                <a:cs typeface="Readex Pro"/>
                <a:sym typeface="Readex Pro"/>
              </a:rPr>
              <a:t>الإنسان</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مركز أصول: كتاب «الوجيز»، مصدرنا الوحيد</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المختص الشرعي: يراجع الدروس؛ وما لم يُراجع بعدُ يُعرض بنص الكتاب فقط</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المرشد والمرشدة: الأسئلة الشخصية والأزمات</a:t>
            </a:r>
          </a:p>
        </p:txBody>
      </p:sp>
      <p:sp>
        <p:nvSpPr>
          <p:cNvPr id="3004" name="deck 3004"/>
          <p:cNvSpPr/>
          <p:nvPr/>
        </p:nvSpPr>
        <p:spPr>
          <a:xfrm>
            <a:off x="1409700" y="8429625"/>
            <a:ext cx="15430500" cy="6858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000" b="1" dirty="0">
                <a:solidFill>
                  <a:srgbClr val="2EF2C2"/>
                </a:solidFill>
                <a:latin typeface="Readex Pro"/>
                <a:ea typeface="Readex Pro"/>
                <a:cs typeface="Readex Pro"/>
                <a:sym typeface="Readex Pro"/>
              </a:rPr>
              <a:t>القاعدة: </a:t>
            </a:r>
            <a:r>
              <a:rPr lang="ar-SA" sz="2000" b="0" dirty="0">
                <a:solidFill>
                  <a:srgbClr val="F2F4FF"/>
                </a:solidFill>
                <a:latin typeface="Readex Pro"/>
                <a:ea typeface="Readex Pro"/>
                <a:cs typeface="Readex Pro"/>
                <a:sym typeface="Readex Pro"/>
              </a:rPr>
              <a:t>الذكاء الاصطناعي مصمَّم ألا يكتب آية، ولا ينقل من الكتاب بنفسه، ولا يفتي: يحيل إلى مرشد، والفتوى لأهلها.</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التقنيات المستخدمة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الخوارزميات والنماذج والأدوات، وماذا يفعل كلٌّ منها</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هذه الشريحة وحدها تحمل المصطلحات التقنية، وبجانب كل مصطلح شرح موجز · الإصدارات والتراخيص في SOURCES.md</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البرمجيات: Node.js وTypeScript (الخادم) · SQLite (البيانات) · Vue ‎3‎ (الواجهة) · Docker (التشغيل) · Python وpoppler (تحويل الكتاب إلى نص)</a:t>
            </a:r>
            <a:endParaRPr/>
          </a:p>
        </p:txBody>
      </p:sp>
      <p:graphicFrame>
        <p:nvGraphicFramePr>
          <p:cNvPr id="3001" name="algorithms"/>
          <p:cNvGraphicFramePr>
            <a:graphicFrameLocks noGrp="1"/>
          </p:cNvGraphicFramePr>
          <p:nvPr/>
        </p:nvGraphicFramePr>
        <p:xfrm>
          <a:off x="1409700" y="3667125"/>
          <a:ext cx="15430500" cy="4343400"/>
        </p:xfrm>
        <a:graphic>
          <a:graphicData uri="http://schemas.openxmlformats.org/drawingml/2006/table">
            <a:tbl>
              <a:tblPr rtl="1" firstRow="1" bandRow="0"/>
              <a:tblGrid>
                <a:gridCol w="2857500"/>
                <a:gridCol w="8572500"/>
                <a:gridCol w="4000500"/>
              </a:tblGrid>
              <a:tr h="476250">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المهمة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الخوارزمية، بكلمات بسيطة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النموذج أو الأداة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لحظة الشهادتين</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علامة خفية يضعها بوت الحوار مع التهنئة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gpt-5.4-mini (OpenAI)</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بطاقة التعارف</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استخراج منظّم: يملأ البطاقة من كلام المتعلم، ثم يفحصها برنامج</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gemini-3.5-flash-lite</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الفرز (router)</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يفهم السؤال ويترجمه، ثم: قائمة كلمات أزمة + تصنيف إلى ‎7‎ أنواع</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gemini-3.5-flash-lite</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البحث الهجين</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BM‎25‎ (بحث بالكلمة) + متجهات ‎768‎ بُعداً (بحث بالمعنى)</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BM25 · gemini-embedding-2</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التوليد المقيّد</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كتابة الجواب بشرط: رقم المصدر بعد كل جملة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gemini-3.8-flash · fallback: gpt-5.4-mini</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المدقّق (checker)</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قواعد مكتوبة بلا نموذج: يحذف ما لا مصدر له، ويطابق الاقتباسات</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TypeScript rules · no model</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التقييم</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نموذج مصحّح يحكم على كل جملة؛ وبصمة SHA-‎256‎ تكشف أي تغيير في أسئلة الامتحان</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gemini-3.1-pro-preview</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 الشرعية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أربعة أنواع من الأسئلة، ولكل نوع تصرّف ثابت</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سؤال الوضوء غير سؤال الزواج الشخصي، فقسّمنا الأسئلة كما في المواد العلمية التي زوّدنا بها منظّمو التحدي</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وتحت كل درس وجواب زر «أبلغ عن خطأ». والدرس الذي لم يراجعه المختص الشرعي بعدُ يُعرض بنص الكتاب وصفحته فقط.</a:t>
            </a:r>
            <a:endParaRPr/>
          </a:p>
        </p:txBody>
      </p:sp>
      <p:graphicFrame>
        <p:nvGraphicFramePr>
          <p:cNvPr id="3001" name="content levels"/>
          <p:cNvGraphicFramePr>
            <a:graphicFrameLocks noGrp="1"/>
          </p:cNvGraphicFramePr>
          <p:nvPr/>
        </p:nvGraphicFramePr>
        <p:xfrm>
          <a:off x="1409700" y="3810000"/>
          <a:ext cx="15430500" cy="4819650"/>
        </p:xfrm>
        <a:graphic>
          <a:graphicData uri="http://schemas.openxmlformats.org/drawingml/2006/table">
            <a:tbl>
              <a:tblPr rtl="1" firstRow="1" bandRow="0"/>
              <a:tblGrid>
                <a:gridCol w="3810000"/>
                <a:gridCol w="8382000"/>
                <a:gridCol w="3238500"/>
              </a:tblGrid>
              <a:tr h="552450">
                <a:tc>
                  <a:txBody>
                    <a:bodyPr/>
                    <a:lstStyle/>
                    <a:p>
                      <a:pPr marL="0" indent="0" rtl="1" algn="r">
                        <a:lnSpc>
                          <a:spcPct val="100000"/>
                        </a:lnSpc>
                        <a:spcBef>
                          <a:spcPts val="0"/>
                        </a:spcBef>
                        <a:spcAft>
                          <a:spcPts val="0"/>
                        </a:spcAft>
                        <a:buNone/>
                      </a:pPr>
                      <a:r>
                        <a:rPr lang="ar-SA" sz="1900" b="1" dirty="0">
                          <a:solidFill>
                            <a:srgbClr val="2EF2C2"/>
                          </a:solidFill>
                          <a:latin typeface="Readex Pro"/>
                          <a:ea typeface="Readex Pro"/>
                          <a:cs typeface="Readex Pro"/>
                          <a:sym typeface="Readex Pro"/>
                        </a:rPr>
                        <a:t>نوع السؤال</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900" b="1" dirty="0">
                          <a:solidFill>
                            <a:srgbClr val="2EF2C2"/>
                          </a:solidFill>
                          <a:latin typeface="Readex Pro"/>
                          <a:ea typeface="Readex Pro"/>
                          <a:cs typeface="Readex Pro"/>
                          <a:sym typeface="Readex Pro"/>
                        </a:rPr>
                        <a:t>ماذا يفعل النظام</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900" b="1" dirty="0">
                          <a:solidFill>
                            <a:srgbClr val="2EF2C2"/>
                          </a:solidFill>
                          <a:latin typeface="Readex Pro"/>
                          <a:ea typeface="Readex Pro"/>
                          <a:cs typeface="Readex Pro"/>
                          <a:sym typeface="Readex Pro"/>
                        </a:rPr>
                        <a:t>مثال</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r>
              <a:tr h="1066800">
                <a:tc>
                  <a:txBody>
                    <a:bodyPr/>
                    <a:lstStyle/>
                    <a:p>
                      <a:pPr marL="0" indent="0" rtl="1" algn="r">
                        <a:lnSpc>
                          <a:spcPct val="115000"/>
                        </a:lnSpc>
                        <a:spcBef>
                          <a:spcPts val="0"/>
                        </a:spcBef>
                        <a:spcAft>
                          <a:spcPts val="0"/>
                        </a:spcAft>
                        <a:buNone/>
                      </a:pPr>
                      <a:r>
                        <a:rPr lang="ar-SA" sz="1900" b="1" dirty="0">
                          <a:solidFill>
                            <a:srgbClr val="F2F4FF"/>
                          </a:solidFill>
                          <a:latin typeface="Readex Pro"/>
                          <a:ea typeface="Readex Pro"/>
                          <a:cs typeface="Readex Pro"/>
                          <a:sym typeface="Readex Pro"/>
                        </a:rPr>
                        <a:t>العبادات والثوابت</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ينقل نص الكتاب كما هو: الخطوات بلفظ «الوجيز» وترتيبه، والآية من مصحف Tanzil، ومعناها من QuranEnc.</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خطوات الوضوء والصلاة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1066800">
                <a:tc>
                  <a:txBody>
                    <a:bodyPr/>
                    <a:lstStyle/>
                    <a:p>
                      <a:pPr marL="0" indent="0" rtl="1" algn="r">
                        <a:lnSpc>
                          <a:spcPct val="115000"/>
                        </a:lnSpc>
                        <a:spcBef>
                          <a:spcPts val="0"/>
                        </a:spcBef>
                        <a:spcAft>
                          <a:spcPts val="0"/>
                        </a:spcAft>
                        <a:buNone/>
                      </a:pPr>
                      <a:r>
                        <a:rPr lang="ar-SA" sz="1900" b="1" dirty="0">
                          <a:solidFill>
                            <a:srgbClr val="F2F4FF"/>
                          </a:solidFill>
                          <a:latin typeface="Readex Pro"/>
                          <a:ea typeface="Readex Pro"/>
                          <a:cs typeface="Readex Pro"/>
                          <a:sym typeface="Readex Pro"/>
                        </a:rPr>
                        <a:t>مسألة اختلف فيها العلماء</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يذكر قول «الوجيز»، ثم: لبعض العلماء قول آخر، وما تراه في مسجدك قد يكون قولاً معتبراً عند العلماء.</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صفة في الصلاة تختلف عما يراه في مسجده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1066800">
                <a:tc>
                  <a:txBody>
                    <a:bodyPr/>
                    <a:lstStyle/>
                    <a:p>
                      <a:pPr marL="0" indent="0" rtl="1" algn="r">
                        <a:lnSpc>
                          <a:spcPct val="115000"/>
                        </a:lnSpc>
                        <a:spcBef>
                          <a:spcPts val="0"/>
                        </a:spcBef>
                        <a:spcAft>
                          <a:spcPts val="0"/>
                        </a:spcAft>
                        <a:buNone/>
                      </a:pPr>
                      <a:r>
                        <a:rPr lang="ar-SA" sz="1900" b="1" dirty="0">
                          <a:solidFill>
                            <a:srgbClr val="F2F4FF"/>
                          </a:solidFill>
                          <a:latin typeface="Readex Pro"/>
                          <a:ea typeface="Readex Pro"/>
                          <a:cs typeface="Readex Pro"/>
                          <a:sym typeface="Readex Pro"/>
                        </a:rPr>
                        <a:t>ما ليس في الكتاب</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يعتذر بوضوح: «لم أجد جواب هذا السؤال في الوجيز»، ويعرض زر «تحدث إلى إنسان». ومصمَّم ألا يخمّن.</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أنصبة الميراث</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1066800">
                <a:tc>
                  <a:txBody>
                    <a:bodyPr/>
                    <a:lstStyle/>
                    <a:p>
                      <a:pPr marL="0" indent="0" rtl="1" algn="r">
                        <a:lnSpc>
                          <a:spcPct val="115000"/>
                        </a:lnSpc>
                        <a:spcBef>
                          <a:spcPts val="0"/>
                        </a:spcBef>
                        <a:spcAft>
                          <a:spcPts val="0"/>
                        </a:spcAft>
                        <a:buNone/>
                      </a:pPr>
                      <a:r>
                        <a:rPr lang="ar-SA" sz="1900" b="1" dirty="0">
                          <a:solidFill>
                            <a:srgbClr val="F2F4FF"/>
                          </a:solidFill>
                          <a:latin typeface="Readex Pro"/>
                          <a:ea typeface="Readex Pro"/>
                          <a:cs typeface="Readex Pro"/>
                          <a:sym typeface="Readex Pro"/>
                        </a:rPr>
                        <a:t>سؤال شخصي أو أزمة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مصمَّم ألا يفتي؛ يحوّله إلى مرشد أو مرشدة. وإن كان في خطر على نفسه، يرى رقم الطوارئ في بلده أولاً (‎988‎ في أمريكا).</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«زوجتي مسيحية، هل زواجنا صحيح؟»</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المراجع العلمية والشرعية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كل نص يراه المتعلم له مصدر معتمد نفحصه</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في الدين لا يكفي جواب جميل؛ يجب أن يُعرف من أين جاء</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3001" name="references"/>
          <p:cNvGraphicFramePr>
            <a:graphicFrameLocks noGrp="1"/>
          </p:cNvGraphicFramePr>
          <p:nvPr/>
        </p:nvGraphicFramePr>
        <p:xfrm>
          <a:off x="1409700" y="3619500"/>
          <a:ext cx="15430500" cy="3848100"/>
        </p:xfrm>
        <a:graphic>
          <a:graphicData uri="http://schemas.openxmlformats.org/drawingml/2006/table">
            <a:tbl>
              <a:tblPr rtl="1" firstRow="1" bandRow="0"/>
              <a:tblGrid>
                <a:gridCol w="4953000"/>
                <a:gridCol w="4572000"/>
                <a:gridCol w="5905500"/>
              </a:tblGrid>
              <a:tr h="495300">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المرجع</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أين نستعمله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كيف نتحقق منه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r>
              <a:tr h="838200">
                <a:tc>
                  <a:txBody>
                    <a:bodyPr/>
                    <a:lstStyle/>
                    <a:p>
                      <a:pPr marL="0" indent="0" rtl="1" algn="r">
                        <a:lnSpc>
                          <a:spcPct val="112000"/>
                        </a:lnSpc>
                        <a:spcBef>
                          <a:spcPts val="0"/>
                        </a:spcBef>
                        <a:spcAft>
                          <a:spcPts val="0"/>
                        </a:spcAft>
                        <a:buNone/>
                      </a:pPr>
                      <a:r>
                        <a:rPr lang="ar-SA" sz="1750" b="1" dirty="0">
                          <a:solidFill>
                            <a:srgbClr val="F2F4FF"/>
                          </a:solidFill>
                          <a:latin typeface="Readex Pro"/>
                          <a:ea typeface="Readex Pro"/>
                          <a:cs typeface="Readex Pro"/>
                          <a:sym typeface="Readex Pro"/>
                        </a:rPr>
                        <a:t>«الوجيز: منهج تعليم صفي للمسلم الجديد» (مركز أصول)</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المصدر الوحيد للدروس والأجوبة؛ ‎10‎ طبعات بلغات مختلفة، حوّلناها إلى نص بأرقام صفحاته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لكل فقرة رقم صفحتها وبصمة رقمية تكشف أي تغيير؛ والمدقّق يطابق كل اقتباس بنص الكتاب</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838200">
                <a:tc>
                  <a:txBody>
                    <a:bodyPr/>
                    <a:lstStyle/>
                    <a:p>
                      <a:pPr marL="0" indent="0" rtl="1" algn="r">
                        <a:lnSpc>
                          <a:spcPct val="112000"/>
                        </a:lnSpc>
                        <a:spcBef>
                          <a:spcPts val="0"/>
                        </a:spcBef>
                        <a:spcAft>
                          <a:spcPts val="0"/>
                        </a:spcAft>
                        <a:buNone/>
                      </a:pPr>
                      <a:r>
                        <a:rPr lang="ar-SA" sz="1750" b="1" dirty="0">
                          <a:solidFill>
                            <a:srgbClr val="F2F4FF"/>
                          </a:solidFill>
                          <a:latin typeface="Readex Pro"/>
                          <a:ea typeface="Readex Pro"/>
                          <a:cs typeface="Readex Pro"/>
                          <a:sym typeface="Readex Pro"/>
                        </a:rPr>
                        <a:t>نص المصحف: Tanzil (الرسم العثماني، رواية حفص)</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يضعه البرنامج حين تذكر الفقرة آية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الذكاء الاصطناعي لا يكتب آية؛ تُنقل حرفياً مع ذكر مصدرها</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838200">
                <a:tc>
                  <a:txBody>
                    <a:bodyPr/>
                    <a:lstStyle/>
                    <a:p>
                      <a:pPr marL="0" indent="0" rtl="1" algn="r">
                        <a:lnSpc>
                          <a:spcPct val="112000"/>
                        </a:lnSpc>
                        <a:spcBef>
                          <a:spcPts val="0"/>
                        </a:spcBef>
                        <a:spcAft>
                          <a:spcPts val="0"/>
                        </a:spcAft>
                        <a:buNone/>
                      </a:pPr>
                      <a:r>
                        <a:rPr lang="ar-SA" sz="1750" b="1" dirty="0">
                          <a:solidFill>
                            <a:srgbClr val="F2F4FF"/>
                          </a:solidFill>
                          <a:latin typeface="Readex Pro"/>
                          <a:ea typeface="Readex Pro"/>
                          <a:cs typeface="Readex Pro"/>
                          <a:sym typeface="Readex Pro"/>
                        </a:rPr>
                        <a:t>ترجمات المعاني: QuranEnc (مجمع الملك فهد، مركز رواد الترجمة)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تحت كل آية بلغة المتعلم، أو بالإنجليزية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بلا تعديل، مع اسم المترجم لكل لغة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838200">
                <a:tc>
                  <a:txBody>
                    <a:bodyPr/>
                    <a:lstStyle/>
                    <a:p>
                      <a:pPr marL="0" indent="0" rtl="1" algn="r">
                        <a:lnSpc>
                          <a:spcPct val="112000"/>
                        </a:lnSpc>
                        <a:spcBef>
                          <a:spcPts val="0"/>
                        </a:spcBef>
                        <a:spcAft>
                          <a:spcPts val="0"/>
                        </a:spcAft>
                        <a:buNone/>
                      </a:pPr>
                      <a:r>
                        <a:rPr lang="ar-SA" sz="1750" b="1" dirty="0">
                          <a:solidFill>
                            <a:srgbClr val="F2F4FF"/>
                          </a:solidFill>
                          <a:latin typeface="Readex Pro"/>
                          <a:ea typeface="Readex Pro"/>
                          <a:cs typeface="Readex Pro"/>
                          <a:sym typeface="Readex Pro"/>
                        </a:rPr>
                        <a:t>سجل مراجعة الدروس (content/review.json)</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من راجع كل درس، ومتى، وكيف</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الدروس الحساسة تنتظر توقيع المختص الشرعي؛ وما لم يُراجع يُعرض بنص الكتاب وصفحته فقط</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bl>
          </a:graphicData>
        </a:graphic>
      </p:graphicFrame>
      <p:sp>
        <p:nvSpPr>
          <p:cNvPr id="3002" name="deck 3002"/>
          <p:cNvSpPr/>
          <p:nvPr/>
        </p:nvSpPr>
        <p:spPr>
          <a:xfrm>
            <a:off x="1409700" y="7905750"/>
            <a:ext cx="15430500" cy="9525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800" b="1" dirty="0">
                <a:solidFill>
                  <a:srgbClr val="2EF2C2"/>
                </a:solidFill>
                <a:latin typeface="Readex Pro"/>
                <a:ea typeface="Readex Pro"/>
                <a:cs typeface="Readex Pro"/>
                <a:sym typeface="Readex Pro"/>
              </a:rPr>
              <a:t>مراجعة عمياء مستقلة لـ‎60‎ جواباً، ‎30‎ لكل نظام (أجراها مراجع بالذكاء الاصطناعي على منهج أهل السنة): </a:t>
            </a:r>
            <a:r>
              <a:rPr lang="ar-SA" sz="1800" b="0" dirty="0">
                <a:solidFill>
                  <a:srgbClr val="F2F4FF"/>
                </a:solidFill>
                <a:latin typeface="Readex Pro"/>
                <a:ea typeface="Readex Pro"/>
                <a:cs typeface="Readex Pro"/>
                <a:sym typeface="Readex Pro"/>
              </a:rPr>
              <a:t>نظامنا ‎23‎ سليماً، و‎7‎ ناقصة، و‎0‎ خطأ؛ والنموذج نفسه دون المدقّق ‎14‎ سليماً، و‎15‎ ناقصة، وخطأ واحد.</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النتائج (‎1‎): امتحان أغلقناه قبل البناء · ‎4‎ أكتوبر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اقتباسات مطابقة للكتاب: ‎100%‎ مقابل ‎92.1%‎</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أغلقنا ‎200‎ سؤال قبل البناء، وشغّلنا كلاً منها ‎3‎ مرات · وقارنّا بالنموذج نفسه والمقاطع نفسها دون المدقّق والفرز</a:t>
            </a:r>
            <a:endParaRPr/>
          </a:p>
        </p:txBody>
      </p:sp>
      <p:graphicFrame>
        <p:nvGraphicFramePr>
          <p:cNvPr id="3001" name="results"/>
          <p:cNvGraphicFramePr>
            <a:graphicFrameLocks noGrp="1"/>
          </p:cNvGraphicFramePr>
          <p:nvPr/>
        </p:nvGraphicFramePr>
        <p:xfrm>
          <a:off x="5981700" y="3667125"/>
          <a:ext cx="10858500" cy="4267200"/>
        </p:xfrm>
        <a:graphic>
          <a:graphicData uri="http://schemas.openxmlformats.org/drawingml/2006/table">
            <a:tbl>
              <a:tblPr rtl="1" firstRow="1" bandRow="0"/>
              <a:tblGrid>
                <a:gridCol w="5334000"/>
                <a:gridCol w="2476500"/>
                <a:gridCol w="3048000"/>
              </a:tblGrid>
              <a:tr h="533400">
                <a:tc>
                  <a:txBody>
                    <a:bodyPr/>
                    <a:lstStyle/>
                    <a:p>
                      <a:pPr marL="0" indent="0" rtl="1" algn="r">
                        <a:lnSpc>
                          <a:spcPct val="100000"/>
                        </a:lnSpc>
                        <a:spcBef>
                          <a:spcPts val="0"/>
                        </a:spcBef>
                        <a:spcAft>
                          <a:spcPts val="0"/>
                        </a:spcAft>
                        <a:buNone/>
                      </a:pPr>
                      <a:r>
                        <a:rPr lang="ar-SA" sz="1700" b="1" dirty="0">
                          <a:solidFill>
                            <a:srgbClr val="FFFFFF"/>
                          </a:solidFill>
                          <a:latin typeface="Readex Pro"/>
                          <a:ea typeface="Readex Pro"/>
                          <a:cs typeface="Readex Pro"/>
                          <a:sym typeface="Readex Pro"/>
                        </a:rPr>
                        <a:t>المقياس</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نظامنا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النموذج نفسه والمقاطع نفسها دون المدقّق والفرز</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اقتباسات تطابق نص الكتاب حرفاً بحرف</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‎100%‎ (‎444/444‎)</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‎92.1%‎ (‎760/825‎)</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أسئلة حساسة: لم يُفتِ، وعرض مرشداً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‎98.9%‎ (‎89/90‎)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‎81.1%‎ (‎73/90‎)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مسائل خلاف: ذكر أن فيها أكثر من قول معتبر</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‎86.7%‎ (‎52/60‎)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‎0%‎ (‎0/60‎)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خطر على النفس: رقم الطوارئ أولاً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‎100%‎ (‎12/12‎)</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ليس في الكتاب: اعتذر أو حوّل لإنسان</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‎91.1%‎ (‎82/90‎)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‎85.6%‎ (‎77/90‎)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أسئلة جوابها في الكتاب ورفض الإجابة خطأً (الأقل أفضل)</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‎1.9%‎ (‎7/360‎)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‎4.2%‎ (‎15/360‎)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أسئلة جوابها في الكتاب وأجاب عنها صحيحاً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‎90.6%‎ (‎326/360‎)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‎90.6%‎ (‎326/360‎)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bl>
          </a:graphicData>
        </a:graphic>
      </p:graphicFrame>
      <p:sp>
        <p:nvSpPr>
          <p:cNvPr id="3002" name="deck 3002"/>
          <p:cNvSpPr/>
          <p:nvPr/>
        </p:nvSpPr>
        <p:spPr>
          <a:xfrm>
            <a:off x="1409700" y="3667125"/>
            <a:ext cx="4191000" cy="1381125"/>
          </a:xfrm>
          <a:prstGeom prst="roundRect">
            <a:avLst>
              <a:gd name="adj" fmla="val 6000"/>
            </a:avLst>
          </a:prstGeom>
          <a:solidFill>
            <a:srgbClr val="FFFFFF"/>
          </a:solidFill>
          <a:ln w="14288">
            <a:solidFill>
              <a:srgbClr val="E0D9FB"/>
            </a:solidFill>
          </a:ln>
        </p:spPr>
        <p:txBody>
          <a:bodyPr wrap="square" lIns="171450" tIns="171450" rIns="171450" bIns="171450" anchor="ctr" rtlCol="1">
            <a:noAutofit/>
          </a:bodyPr>
          <a:lstStyle/>
          <a:p>
            <a:pPr marL="0" indent="0" rtl="1" algn="r">
              <a:lnSpc>
                <a:spcPct val="100000"/>
              </a:lnSpc>
              <a:spcBef>
                <a:spcPts val="0"/>
              </a:spcBef>
              <a:spcAft>
                <a:spcPts val="0"/>
              </a:spcAft>
              <a:buNone/>
            </a:pPr>
            <a:r>
              <a:rPr lang="ar-SA" sz="3000" b="1" dirty="0">
                <a:solidFill>
                  <a:srgbClr val="6150EA"/>
                </a:solidFill>
                <a:latin typeface="Readex Pro"/>
                <a:ea typeface="Readex Pro"/>
                <a:cs typeface="Readex Pro"/>
                <a:sym typeface="Readex Pro"/>
              </a:rPr>
              <a:t>‎120/120‎</a:t>
            </a:r>
          </a:p>
          <a:p>
            <a:pPr marL="0" indent="0" rtl="1" algn="r">
              <a:lnSpc>
                <a:spcPct val="115000"/>
              </a:lnSpc>
              <a:spcBef>
                <a:spcPts val="400"/>
              </a:spcBef>
              <a:spcAft>
                <a:spcPts val="0"/>
              </a:spcAft>
              <a:buNone/>
            </a:pPr>
            <a:r>
              <a:rPr lang="ar-SA" sz="1500" b="0" dirty="0">
                <a:solidFill>
                  <a:srgbClr val="4A5590"/>
                </a:solidFill>
                <a:latin typeface="Readex Pro"/>
                <a:ea typeface="Readex Pro"/>
                <a:cs typeface="Readex Pro"/>
                <a:sym typeface="Readex Pro"/>
              </a:rPr>
              <a:t>ترتيب الدروس صحيح في كل التجارب: ‎30‎ متعلماً افتراضياً (محاكاة بالذكاء الاصطناعي، لا بشر) يعودون في ‎4‎ أيام</a:t>
            </a:r>
          </a:p>
        </p:txBody>
      </p:sp>
      <p:sp>
        <p:nvSpPr>
          <p:cNvPr id="3003" name="deck 3003"/>
          <p:cNvSpPr/>
          <p:nvPr/>
        </p:nvSpPr>
        <p:spPr>
          <a:xfrm>
            <a:off x="1409700" y="5191125"/>
            <a:ext cx="4191000" cy="1381125"/>
          </a:xfrm>
          <a:prstGeom prst="roundRect">
            <a:avLst>
              <a:gd name="adj" fmla="val 6000"/>
            </a:avLst>
          </a:prstGeom>
          <a:solidFill>
            <a:srgbClr val="FFFFFF"/>
          </a:solidFill>
          <a:ln w="14288">
            <a:solidFill>
              <a:srgbClr val="E0D9FB"/>
            </a:solidFill>
          </a:ln>
        </p:spPr>
        <p:txBody>
          <a:bodyPr wrap="square" lIns="171450" tIns="171450" rIns="171450" bIns="171450" anchor="ctr" rtlCol="1">
            <a:noAutofit/>
          </a:bodyPr>
          <a:lstStyle/>
          <a:p>
            <a:pPr marL="0" indent="0" rtl="1" algn="r">
              <a:lnSpc>
                <a:spcPct val="100000"/>
              </a:lnSpc>
              <a:spcBef>
                <a:spcPts val="0"/>
              </a:spcBef>
              <a:spcAft>
                <a:spcPts val="0"/>
              </a:spcAft>
              <a:buNone/>
            </a:pPr>
            <a:r>
              <a:rPr lang="ar-SA" sz="3000" b="1" dirty="0">
                <a:solidFill>
                  <a:srgbClr val="6150EA"/>
                </a:solidFill>
                <a:latin typeface="Readex Pro"/>
                <a:ea typeface="Readex Pro"/>
                <a:cs typeface="Readex Pro"/>
                <a:sym typeface="Readex Pro"/>
              </a:rPr>
              <a:t>‎111/120‎</a:t>
            </a:r>
          </a:p>
          <a:p>
            <a:pPr marL="0" indent="0" rtl="1" algn="r">
              <a:lnSpc>
                <a:spcPct val="115000"/>
              </a:lnSpc>
              <a:spcBef>
                <a:spcPts val="400"/>
              </a:spcBef>
              <a:spcAft>
                <a:spcPts val="0"/>
              </a:spcAft>
              <a:buNone/>
            </a:pPr>
            <a:r>
              <a:rPr lang="ar-SA" sz="1500" b="0" dirty="0">
                <a:solidFill>
                  <a:srgbClr val="4A5590"/>
                </a:solidFill>
                <a:latin typeface="Readex Pro"/>
                <a:ea typeface="Readex Pro"/>
                <a:cs typeface="Readex Pro"/>
                <a:sym typeface="Readex Pro"/>
              </a:rPr>
              <a:t>تجربة صحيحة تماماً (‎92.5%‎)؛ وتصبح ‎119/120‎ إن قبلنا أي درس تقع الإجابة في صفحاته</a:t>
            </a:r>
          </a:p>
        </p:txBody>
      </p:sp>
      <p:sp>
        <p:nvSpPr>
          <p:cNvPr id="3004" name="deck 3004"/>
          <p:cNvSpPr/>
          <p:nvPr/>
        </p:nvSpPr>
        <p:spPr>
          <a:xfrm>
            <a:off x="1409700" y="6715125"/>
            <a:ext cx="4191000" cy="1381125"/>
          </a:xfrm>
          <a:prstGeom prst="roundRect">
            <a:avLst>
              <a:gd name="adj" fmla="val 6000"/>
            </a:avLst>
          </a:prstGeom>
          <a:solidFill>
            <a:srgbClr val="FFFFFF"/>
          </a:solidFill>
          <a:ln w="14288">
            <a:solidFill>
              <a:srgbClr val="E0D9FB"/>
            </a:solidFill>
          </a:ln>
        </p:spPr>
        <p:txBody>
          <a:bodyPr wrap="square" lIns="171450" tIns="171450" rIns="171450" bIns="171450" anchor="ctr" rtlCol="1">
            <a:noAutofit/>
          </a:bodyPr>
          <a:lstStyle/>
          <a:p>
            <a:pPr marL="0" indent="0" rtl="1" algn="r">
              <a:lnSpc>
                <a:spcPct val="100000"/>
              </a:lnSpc>
              <a:spcBef>
                <a:spcPts val="0"/>
              </a:spcBef>
              <a:spcAft>
                <a:spcPts val="0"/>
              </a:spcAft>
              <a:buNone/>
            </a:pPr>
            <a:r>
              <a:rPr lang="ar-SA" sz="3000" b="1" dirty="0">
                <a:solidFill>
                  <a:srgbClr val="6150EA"/>
                </a:solidFill>
                <a:latin typeface="Readex Pro"/>
                <a:ea typeface="Readex Pro"/>
                <a:cs typeface="Readex Pro"/>
                <a:sym typeface="Readex Pro"/>
              </a:rPr>
              <a:t>‎8.3‎ ث</a:t>
            </a:r>
          </a:p>
          <a:p>
            <a:pPr marL="0" indent="0" rtl="1" algn="r">
              <a:lnSpc>
                <a:spcPct val="115000"/>
              </a:lnSpc>
              <a:spcBef>
                <a:spcPts val="400"/>
              </a:spcBef>
              <a:spcAft>
                <a:spcPts val="0"/>
              </a:spcAft>
              <a:buNone/>
            </a:pPr>
            <a:r>
              <a:rPr lang="ar-SA" sz="1500" b="0" dirty="0">
                <a:solidFill>
                  <a:srgbClr val="4A5590"/>
                </a:solidFill>
                <a:latin typeface="Readex Pro"/>
                <a:ea typeface="Readex Pro"/>
                <a:cs typeface="Readex Pro"/>
                <a:sym typeface="Readex Pro"/>
              </a:rPr>
              <a:t>زمن الجواب المعتاد في امتحان ‎4‎ أكتوبر؛ وتكلفة السؤال ‎0.0013$‎ في المتوسط</a:t>
            </a:r>
          </a:p>
        </p:txBody>
      </p:sp>
      <p:sp>
        <p:nvSpPr>
          <p:cNvPr id="3005" name="deck 3005"/>
          <p:cNvSpPr/>
          <p:nvPr/>
        </p:nvSpPr>
        <p:spPr>
          <a:xfrm>
            <a:off x="1409700" y="8382000"/>
            <a:ext cx="15430500" cy="762000"/>
          </a:xfrm>
          <a:prstGeom prst="roundRect">
            <a:avLst>
              <a:gd name="adj" fmla="val 18000"/>
            </a:avLst>
          </a:prstGeom>
          <a:solidFill>
            <a:srgbClr val="6150EA">
              <a:alpha val="10000"/>
            </a:srgbClr>
          </a:solidFill>
          <a:ln w="9525">
            <a:solidFill>
              <a:srgbClr val="6150EA">
                <a:alpha val="4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650" b="0" dirty="0">
                <a:solidFill>
                  <a:srgbClr val="12183F"/>
                </a:solidFill>
                <a:latin typeface="Readex Pro"/>
                <a:ea typeface="Readex Pro"/>
                <a:cs typeface="Readex Pro"/>
                <a:sym typeface="Readex Pro"/>
              </a:rPr>
              <a:t>ما لم نبلغه: تحويل الأسئلة الحساسة فوراً إلى إنسان ‎81.1%‎، والهدف ‎100%‎؛ والباقي تلقّى «ليس في الكتاب» مع عرض مرشد. والأسئلة الحساسة الثلاثون كتبها من بنى الفرز نفسه. التقرير كاملاً: docs/evaluation.md</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النتائج (‎2‎): بعد مراجعة شاملة · ‎6‎ أكتوبر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على ‎150‎ سؤالاً لم يرها النظام قط: ‎88.0%‎</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جرّبناه كمستخدمين وأصلحنا ما وجدناه، ثم امتحنّاه · المصحّح gemini-‎3.1‎-pro-preview يقارن كل جواب بنص الكتاب</a:t>
            </a:r>
            <a:endParaRPr/>
          </a:p>
        </p:txBody>
      </p:sp>
      <p:graphicFrame>
        <p:nvGraphicFramePr>
          <p:cNvPr id="3001" name="audit results"/>
          <p:cNvGraphicFramePr>
            <a:graphicFrameLocks noGrp="1"/>
          </p:cNvGraphicFramePr>
          <p:nvPr/>
        </p:nvGraphicFramePr>
        <p:xfrm>
          <a:off x="5981700" y="3667125"/>
          <a:ext cx="10858500" cy="2838450"/>
        </p:xfrm>
        <a:graphic>
          <a:graphicData uri="http://schemas.openxmlformats.org/drawingml/2006/table">
            <a:tbl>
              <a:tblPr rtl="1" firstRow="1" bandRow="0"/>
              <a:tblGrid>
                <a:gridCol w="3810000"/>
                <a:gridCol w="2857500"/>
                <a:gridCol w="2476500"/>
                <a:gridCol w="1714500"/>
              </a:tblGrid>
              <a:tr h="476250">
                <a:tc>
                  <a:txBody>
                    <a:bodyPr/>
                    <a:lstStyle/>
                    <a:p>
                      <a:pPr marL="0" indent="0" rtl="1" algn="r">
                        <a:lnSpc>
                          <a:spcPct val="100000"/>
                        </a:lnSpc>
                        <a:spcBef>
                          <a:spcPts val="0"/>
                        </a:spcBef>
                        <a:spcAft>
                          <a:spcPts val="0"/>
                        </a:spcAft>
                        <a:buNone/>
                      </a:pPr>
                      <a:r>
                        <a:rPr lang="ar-SA" sz="1600" b="1" dirty="0">
                          <a:solidFill>
                            <a:srgbClr val="FFFFFF"/>
                          </a:solidFill>
                          <a:latin typeface="Readex Pro"/>
                          <a:ea typeface="Readex Pro"/>
                          <a:cs typeface="Readex Pro"/>
                          <a:sym typeface="Readex Pro"/>
                        </a:rPr>
                        <a:t>الأسئلة</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هل ضبطنا النظام عليها؟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تصرّف صحيح</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الجواب من الكتاب فقط</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r>
              <a:tr h="590550">
                <a:tc>
                  <a:txBody>
                    <a:bodyPr/>
                    <a:lstStyle/>
                    <a:p>
                      <a:pPr marL="0" indent="0" rtl="1" algn="r">
                        <a:lnSpc>
                          <a:spcPct val="108000"/>
                        </a:lnSpc>
                        <a:spcBef>
                          <a:spcPts val="0"/>
                        </a:spcBef>
                        <a:spcAft>
                          <a:spcPts val="0"/>
                        </a:spcAft>
                        <a:buNone/>
                      </a:pPr>
                      <a:r>
                        <a:rPr lang="ar-SA" sz="1600" b="1" dirty="0">
                          <a:solidFill>
                            <a:srgbClr val="12183F"/>
                          </a:solidFill>
                          <a:latin typeface="Readex Pro"/>
                          <a:ea typeface="Readex Pro"/>
                          <a:cs typeface="Readex Pro"/>
                          <a:sym typeface="Readex Pro"/>
                        </a:rPr>
                        <a:t>الأسئلة المغلقة (‎200‎ سؤال)، أعدنا تشغيلها في ‎6‎ أكتوبر</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8000"/>
                        </a:lnSpc>
                        <a:spcBef>
                          <a:spcPts val="0"/>
                        </a:spcBef>
                        <a:spcAft>
                          <a:spcPts val="0"/>
                        </a:spcAft>
                        <a:buNone/>
                      </a:pPr>
                      <a:r>
                        <a:rPr lang="ar-SA" sz="1500" b="0" dirty="0">
                          <a:solidFill>
                            <a:srgbClr val="4A5590"/>
                          </a:solidFill>
                          <a:latin typeface="Readex Pro"/>
                          <a:ea typeface="Readex Pro"/>
                          <a:cs typeface="Readex Pro"/>
                          <a:sym typeface="Readex Pro"/>
                        </a:rPr>
                        <a:t>لا: أغلقناها قبل البناء ولم نلمسها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5000"/>
                        </a:lnSpc>
                        <a:spcBef>
                          <a:spcPts val="0"/>
                        </a:spcBef>
                        <a:spcAft>
                          <a:spcPts val="0"/>
                        </a:spcAft>
                        <a:buNone/>
                      </a:pPr>
                      <a:r>
                        <a:rPr lang="ar-SA" sz="1600" b="1" dirty="0">
                          <a:solidFill>
                            <a:srgbClr val="6150EA"/>
                          </a:solidFill>
                          <a:latin typeface="Readex Pro"/>
                          <a:ea typeface="Readex Pro"/>
                          <a:cs typeface="Readex Pro"/>
                          <a:sym typeface="Readex Pro"/>
                        </a:rPr>
                        <a:t>‎90.0%‎ (‎108/120‎)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600" b="0" dirty="0">
                          <a:solidFill>
                            <a:srgbClr val="12183F"/>
                          </a:solidFill>
                          <a:latin typeface="Readex Pro"/>
                          <a:ea typeface="Readex Pro"/>
                          <a:cs typeface="Readex Pro"/>
                          <a:sym typeface="Readex Pro"/>
                        </a:rPr>
                        <a:t>‎138/138‎</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90550">
                <a:tc>
                  <a:txBody>
                    <a:bodyPr/>
                    <a:lstStyle/>
                    <a:p>
                      <a:pPr marL="0" indent="0" rtl="1" algn="r">
                        <a:lnSpc>
                          <a:spcPct val="108000"/>
                        </a:lnSpc>
                        <a:spcBef>
                          <a:spcPts val="0"/>
                        </a:spcBef>
                        <a:spcAft>
                          <a:spcPts val="0"/>
                        </a:spcAft>
                        <a:buNone/>
                      </a:pPr>
                      <a:r>
                        <a:rPr lang="ar-SA" sz="1600" b="1" dirty="0">
                          <a:solidFill>
                            <a:srgbClr val="12183F"/>
                          </a:solidFill>
                          <a:latin typeface="Readex Pro"/>
                          <a:ea typeface="Readex Pro"/>
                          <a:cs typeface="Readex Pro"/>
                          <a:sym typeface="Readex Pro"/>
                        </a:rPr>
                        <a:t>أسئلة المراجعة: ‎284‎ سؤالاً بعشر لغات</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8000"/>
                        </a:lnSpc>
                        <a:spcBef>
                          <a:spcPts val="0"/>
                        </a:spcBef>
                        <a:spcAft>
                          <a:spcPts val="0"/>
                        </a:spcAft>
                        <a:buNone/>
                      </a:pPr>
                      <a:r>
                        <a:rPr lang="ar-SA" sz="1500" b="0" dirty="0">
                          <a:solidFill>
                            <a:srgbClr val="4A5590"/>
                          </a:solidFill>
                          <a:latin typeface="Readex Pro"/>
                          <a:ea typeface="Readex Pro"/>
                          <a:cs typeface="Readex Pro"/>
                          <a:sym typeface="Readex Pro"/>
                        </a:rPr>
                        <a:t>نعم: ضبطنا النظام عليها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5000"/>
                        </a:lnSpc>
                        <a:spcBef>
                          <a:spcPts val="0"/>
                        </a:spcBef>
                        <a:spcAft>
                          <a:spcPts val="0"/>
                        </a:spcAft>
                        <a:buNone/>
                      </a:pPr>
                      <a:r>
                        <a:rPr lang="ar-SA" sz="1600" b="1" dirty="0">
                          <a:solidFill>
                            <a:srgbClr val="6150EA"/>
                          </a:solidFill>
                          <a:latin typeface="Readex Pro"/>
                          <a:ea typeface="Readex Pro"/>
                          <a:cs typeface="Readex Pro"/>
                          <a:sym typeface="Readex Pro"/>
                        </a:rPr>
                        <a:t>‎83%‎ ← ‎88%‎ ← ‎90.8%‎ (‎258/284‎)</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600" b="0" dirty="0">
                          <a:solidFill>
                            <a:srgbClr val="12183F"/>
                          </a:solidFill>
                          <a:latin typeface="Readex Pro"/>
                          <a:ea typeface="Readex Pro"/>
                          <a:cs typeface="Readex Pro"/>
                          <a:sym typeface="Readex Pro"/>
                        </a:rPr>
                        <a:t>‎161/162‎</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590550">
                <a:tc>
                  <a:txBody>
                    <a:bodyPr/>
                    <a:lstStyle/>
                    <a:p>
                      <a:pPr marL="0" indent="0" rtl="1" algn="r">
                        <a:lnSpc>
                          <a:spcPct val="108000"/>
                        </a:lnSpc>
                        <a:spcBef>
                          <a:spcPts val="0"/>
                        </a:spcBef>
                        <a:spcAft>
                          <a:spcPts val="0"/>
                        </a:spcAft>
                        <a:buNone/>
                      </a:pPr>
                      <a:r>
                        <a:rPr lang="ar-SA" sz="1600" b="1" dirty="0">
                          <a:solidFill>
                            <a:srgbClr val="12183F"/>
                          </a:solidFill>
                          <a:latin typeface="Readex Pro"/>
                          <a:ea typeface="Readex Pro"/>
                          <a:cs typeface="Readex Pro"/>
                          <a:sym typeface="Readex Pro"/>
                        </a:rPr>
                        <a:t>‎150‎ سؤالاً جديداً (المجموعة K)</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8000"/>
                        </a:lnSpc>
                        <a:spcBef>
                          <a:spcPts val="0"/>
                        </a:spcBef>
                        <a:spcAft>
                          <a:spcPts val="0"/>
                        </a:spcAft>
                        <a:buNone/>
                      </a:pPr>
                      <a:r>
                        <a:rPr lang="ar-SA" sz="1500" b="0" dirty="0">
                          <a:solidFill>
                            <a:srgbClr val="4A5590"/>
                          </a:solidFill>
                          <a:latin typeface="Readex Pro"/>
                          <a:ea typeface="Readex Pro"/>
                          <a:cs typeface="Readex Pro"/>
                          <a:sym typeface="Readex Pro"/>
                        </a:rPr>
                        <a:t>رأيناها مرة، ثم ضبطنا الفرز عليها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5000"/>
                        </a:lnSpc>
                        <a:spcBef>
                          <a:spcPts val="0"/>
                        </a:spcBef>
                        <a:spcAft>
                          <a:spcPts val="0"/>
                        </a:spcAft>
                        <a:buNone/>
                      </a:pPr>
                      <a:r>
                        <a:rPr lang="ar-SA" sz="1600" b="1" dirty="0">
                          <a:solidFill>
                            <a:srgbClr val="6150EA"/>
                          </a:solidFill>
                          <a:latin typeface="Readex Pro"/>
                          <a:ea typeface="Readex Pro"/>
                          <a:cs typeface="Readex Pro"/>
                          <a:sym typeface="Readex Pro"/>
                        </a:rPr>
                        <a:t>‎83.3%‎ → ‎89.3%‎</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600" b="0" dirty="0">
                          <a:solidFill>
                            <a:srgbClr val="12183F"/>
                          </a:solidFill>
                          <a:latin typeface="Readex Pro"/>
                          <a:ea typeface="Readex Pro"/>
                          <a:cs typeface="Readex Pro"/>
                          <a:sym typeface="Readex Pro"/>
                        </a:rPr>
                        <a:t>‎91/91‎</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90550">
                <a:tc>
                  <a:txBody>
                    <a:bodyPr/>
                    <a:lstStyle/>
                    <a:p>
                      <a:pPr marL="0" indent="0" rtl="1" algn="r">
                        <a:lnSpc>
                          <a:spcPct val="108000"/>
                        </a:lnSpc>
                        <a:spcBef>
                          <a:spcPts val="0"/>
                        </a:spcBef>
                        <a:spcAft>
                          <a:spcPts val="0"/>
                        </a:spcAft>
                        <a:buNone/>
                      </a:pPr>
                      <a:r>
                        <a:rPr lang="ar-SA" sz="1600" b="1" dirty="0">
                          <a:solidFill>
                            <a:srgbClr val="12183F"/>
                          </a:solidFill>
                          <a:latin typeface="Readex Pro"/>
                          <a:ea typeface="Readex Pro"/>
                          <a:cs typeface="Readex Pro"/>
                          <a:sym typeface="Readex Pro"/>
                        </a:rPr>
                        <a:t>‎150‎ سؤالاً جديداً (المجموعة M)</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EFEBFF"/>
                    </a:solidFill>
                  </a:tcPr>
                </a:tc>
                <a:tc>
                  <a:txBody>
                    <a:bodyPr/>
                    <a:lstStyle/>
                    <a:p>
                      <a:pPr marL="0" indent="0" rtl="1" algn="r">
                        <a:lnSpc>
                          <a:spcPct val="108000"/>
                        </a:lnSpc>
                        <a:spcBef>
                          <a:spcPts val="0"/>
                        </a:spcBef>
                        <a:spcAft>
                          <a:spcPts val="0"/>
                        </a:spcAft>
                        <a:buNone/>
                      </a:pPr>
                      <a:r>
                        <a:rPr lang="ar-SA" sz="1500" b="1" dirty="0">
                          <a:solidFill>
                            <a:srgbClr val="6150EA"/>
                          </a:solidFill>
                          <a:latin typeface="Readex Pro"/>
                          <a:ea typeface="Readex Pro"/>
                          <a:cs typeface="Readex Pro"/>
                          <a:sym typeface="Readex Pro"/>
                        </a:rPr>
                        <a:t>لا: لم يرها النظام قبل الاختبار الأخير</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EFEBFF"/>
                    </a:solidFill>
                  </a:tcPr>
                </a:tc>
                <a:tc>
                  <a:txBody>
                    <a:bodyPr/>
                    <a:lstStyle/>
                    <a:p>
                      <a:pPr marL="0" indent="0" rtl="0" algn="ctr">
                        <a:lnSpc>
                          <a:spcPct val="105000"/>
                        </a:lnSpc>
                        <a:spcBef>
                          <a:spcPts val="0"/>
                        </a:spcBef>
                        <a:spcAft>
                          <a:spcPts val="0"/>
                        </a:spcAft>
                        <a:buNone/>
                      </a:pPr>
                      <a:r>
                        <a:rPr lang="ar-SA" sz="1700" b="1" dirty="0">
                          <a:solidFill>
                            <a:srgbClr val="6150EA"/>
                          </a:solidFill>
                          <a:latin typeface="Readex Pro"/>
                          <a:ea typeface="Readex Pro"/>
                          <a:cs typeface="Readex Pro"/>
                          <a:sym typeface="Readex Pro"/>
                        </a:rPr>
                        <a:t>‎88.0%‎ (‎132/150‎)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EFEBFF"/>
                    </a:solidFill>
                  </a:tcPr>
                </a:tc>
                <a:tc>
                  <a:txBody>
                    <a:bodyPr/>
                    <a:lstStyle/>
                    <a:p>
                      <a:pPr marL="0" indent="0" rtl="0" algn="ctr">
                        <a:lnSpc>
                          <a:spcPct val="100000"/>
                        </a:lnSpc>
                        <a:spcBef>
                          <a:spcPts val="0"/>
                        </a:spcBef>
                        <a:spcAft>
                          <a:spcPts val="0"/>
                        </a:spcAft>
                        <a:buNone/>
                      </a:pPr>
                      <a:r>
                        <a:rPr lang="ar-SA" sz="1600" b="0" dirty="0">
                          <a:solidFill>
                            <a:srgbClr val="12183F"/>
                          </a:solidFill>
                          <a:latin typeface="Readex Pro"/>
                          <a:ea typeface="Readex Pro"/>
                          <a:cs typeface="Readex Pro"/>
                          <a:sym typeface="Readex Pro"/>
                        </a:rPr>
                        <a:t>‎87/87‎</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EFEBFF"/>
                    </a:solidFill>
                  </a:tcPr>
                </a:tc>
              </a:tr>
            </a:tbl>
          </a:graphicData>
        </a:graphic>
      </p:graphicFrame>
      <p:sp>
        <p:nvSpPr>
          <p:cNvPr id="3002" name="deck 3002"/>
          <p:cNvSpPr/>
          <p:nvPr/>
        </p:nvSpPr>
        <p:spPr>
          <a:xfrm>
            <a:off x="5981700" y="6810375"/>
            <a:ext cx="10858500" cy="1381125"/>
          </a:xfrm>
          <a:prstGeom prst="roundRect">
            <a:avLst>
              <a:gd name="adj" fmla="val 6000"/>
            </a:avLst>
          </a:prstGeom>
          <a:solidFill>
            <a:srgbClr val="FFFFFF"/>
          </a:solidFill>
          <a:ln w="14288">
            <a:solidFill>
              <a:srgbClr val="E0D9FB"/>
            </a:solidFill>
          </a:ln>
        </p:spPr>
        <p:txBody>
          <a:bodyPr wrap="square" lIns="152400" tIns="152400" rIns="152400" bIns="152400" anchor="ctr" rtlCol="1">
            <a:noAutofit/>
          </a:bodyPr>
          <a:lstStyle/>
          <a:p>
            <a:pPr marL="0" indent="0" rtl="1" algn="r">
              <a:lnSpc>
                <a:spcPct val="118000"/>
              </a:lnSpc>
              <a:spcBef>
                <a:spcPts val="0"/>
              </a:spcBef>
              <a:spcAft>
                <a:spcPts val="0"/>
              </a:spcAft>
              <a:buNone/>
            </a:pPr>
            <a:r>
              <a:rPr lang="ar-SA" sz="1500" b="1" dirty="0">
                <a:solidFill>
                  <a:srgbClr val="6150EA"/>
                </a:solidFill>
                <a:latin typeface="Readex Pro"/>
                <a:ea typeface="Readex Pro"/>
                <a:cs typeface="Readex Pro"/>
                <a:sym typeface="Readex Pro"/>
              </a:rPr>
              <a:t>في كل المجموعات: </a:t>
            </a:r>
            <a:r>
              <a:rPr lang="ar-SA" sz="1500" b="0" dirty="0">
                <a:solidFill>
                  <a:srgbClr val="12183F"/>
                </a:solidFill>
                <a:latin typeface="Readex Pro"/>
                <a:ea typeface="Readex Pro"/>
                <a:cs typeface="Readex Pro"/>
                <a:sym typeface="Readex Pro"/>
              </a:rPr>
              <a:t>‎0‎ أحكام ليست في الكتاب، ورقم الطوارئ أولاً في كل حالة خطر (‎4/4‎، ‎15/15‎، ‎6/6‎، ‎6/6‎) · أسئلة المراجعة: الأخطاء الجسيمة ‎17‎ ← ‎9‎</a:t>
            </a:r>
          </a:p>
          <a:p>
            <a:pPr marL="0" indent="0" rtl="1" algn="r">
              <a:lnSpc>
                <a:spcPct val="118000"/>
              </a:lnSpc>
              <a:spcBef>
                <a:spcPts val="600"/>
              </a:spcBef>
              <a:spcAft>
                <a:spcPts val="0"/>
              </a:spcAft>
              <a:buNone/>
            </a:pPr>
            <a:r>
              <a:rPr lang="ar-SA" sz="1500" b="1" dirty="0">
                <a:solidFill>
                  <a:srgbClr val="6150EA"/>
                </a:solidFill>
                <a:latin typeface="Readex Pro"/>
                <a:ea typeface="Readex Pro"/>
                <a:cs typeface="Readex Pro"/>
                <a:sym typeface="Readex Pro"/>
              </a:rPr>
              <a:t>لم نبلغه: </a:t>
            </a:r>
            <a:r>
              <a:rPr lang="ar-SA" sz="1500" b="0" dirty="0">
                <a:solidFill>
                  <a:srgbClr val="12183F"/>
                </a:solidFill>
                <a:latin typeface="Readex Pro"/>
                <a:ea typeface="Readex Pro"/>
                <a:cs typeface="Readex Pro"/>
                <a:sym typeface="Readex Pro"/>
              </a:rPr>
              <a:t>في الأسئلة المغلقة صار التحويل الفوري للحساسة ‎86.7%‎ (‎26/30‎)، والهدف ‎100%‎؛ وقلّ الاعتذار عمّا ليس في الكتاب من ‎91.1%‎ إلى ‎83.3%‎، لأنه صار يجيب الجزء الموجود في الكتاب.</a:t>
            </a:r>
          </a:p>
        </p:txBody>
      </p:sp>
      <p:sp>
        <p:nvSpPr>
          <p:cNvPr id="3003" name="deck 3003"/>
          <p:cNvSpPr/>
          <p:nvPr/>
        </p:nvSpPr>
        <p:spPr>
          <a:xfrm>
            <a:off x="1409700" y="3667125"/>
            <a:ext cx="4191000" cy="1381125"/>
          </a:xfrm>
          <a:prstGeom prst="roundRect">
            <a:avLst>
              <a:gd name="adj" fmla="val 6000"/>
            </a:avLst>
          </a:prstGeom>
          <a:solidFill>
            <a:srgbClr val="FFFFFF"/>
          </a:solidFill>
          <a:ln w="14288">
            <a:solidFill>
              <a:srgbClr val="E0D9FB"/>
            </a:solidFill>
          </a:ln>
        </p:spPr>
        <p:txBody>
          <a:bodyPr wrap="square" lIns="152400" tIns="152400" rIns="152400" bIns="152400" anchor="ctr" rtlCol="1">
            <a:noAutofit/>
          </a:bodyPr>
          <a:lstStyle/>
          <a:p>
            <a:pPr marL="0" indent="0" rtl="1" algn="r">
              <a:lnSpc>
                <a:spcPct val="100000"/>
              </a:lnSpc>
              <a:spcBef>
                <a:spcPts val="0"/>
              </a:spcBef>
              <a:spcAft>
                <a:spcPts val="0"/>
              </a:spcAft>
              <a:buNone/>
            </a:pPr>
            <a:r>
              <a:rPr lang="ar-SA" sz="2800" b="1" dirty="0">
                <a:solidFill>
                  <a:srgbClr val="6150EA"/>
                </a:solidFill>
                <a:latin typeface="Readex Pro"/>
                <a:ea typeface="Readex Pro"/>
                <a:cs typeface="Readex Pro"/>
                <a:sym typeface="Readex Pro"/>
              </a:rPr>
              <a:t>‎84/84‎</a:t>
            </a:r>
          </a:p>
          <a:p>
            <a:pPr marL="0" indent="0" rtl="1" algn="r">
              <a:lnSpc>
                <a:spcPct val="112000"/>
              </a:lnSpc>
              <a:spcBef>
                <a:spcPts val="400"/>
              </a:spcBef>
              <a:spcAft>
                <a:spcPts val="0"/>
              </a:spcAft>
              <a:buNone/>
            </a:pPr>
            <a:r>
              <a:rPr lang="ar-SA" sz="1450" b="0" dirty="0">
                <a:solidFill>
                  <a:srgbClr val="4A5590"/>
                </a:solidFill>
                <a:latin typeface="Readex Pro"/>
                <a:ea typeface="Readex Pro"/>
                <a:cs typeface="Readex Pro"/>
                <a:sym typeface="Readex Pro"/>
              </a:rPr>
              <a:t>محادثة شهادة من ‎20‎ نوعاً: تظهر الدروس حين يجب ولا تظهر حين لا يجب؛ و‎28/28‎ على الموقع الحي</a:t>
            </a:r>
          </a:p>
        </p:txBody>
      </p:sp>
      <p:sp>
        <p:nvSpPr>
          <p:cNvPr id="3004" name="deck 3004"/>
          <p:cNvSpPr/>
          <p:nvPr/>
        </p:nvSpPr>
        <p:spPr>
          <a:xfrm>
            <a:off x="1409700" y="5191125"/>
            <a:ext cx="4191000" cy="1381125"/>
          </a:xfrm>
          <a:prstGeom prst="roundRect">
            <a:avLst>
              <a:gd name="adj" fmla="val 6000"/>
            </a:avLst>
          </a:prstGeom>
          <a:solidFill>
            <a:srgbClr val="FFFFFF"/>
          </a:solidFill>
          <a:ln w="14288">
            <a:solidFill>
              <a:srgbClr val="E0D9FB"/>
            </a:solidFill>
          </a:ln>
        </p:spPr>
        <p:txBody>
          <a:bodyPr wrap="square" lIns="152400" tIns="152400" rIns="152400" bIns="152400" anchor="ctr" rtlCol="1">
            <a:noAutofit/>
          </a:bodyPr>
          <a:lstStyle/>
          <a:p>
            <a:pPr marL="0" indent="0" rtl="1" algn="r">
              <a:lnSpc>
                <a:spcPct val="100000"/>
              </a:lnSpc>
              <a:spcBef>
                <a:spcPts val="0"/>
              </a:spcBef>
              <a:spcAft>
                <a:spcPts val="0"/>
              </a:spcAft>
              <a:buNone/>
            </a:pPr>
            <a:r>
              <a:rPr lang="ar-SA" sz="2800" b="1" dirty="0">
                <a:solidFill>
                  <a:srgbClr val="6150EA"/>
                </a:solidFill>
                <a:latin typeface="Readex Pro"/>
                <a:ea typeface="Readex Pro"/>
                <a:cs typeface="Readex Pro"/>
                <a:sym typeface="Readex Pro"/>
              </a:rPr>
              <a:t>‎470‎</a:t>
            </a:r>
          </a:p>
          <a:p>
            <a:pPr marL="0" indent="0" rtl="1" algn="r">
              <a:lnSpc>
                <a:spcPct val="112000"/>
              </a:lnSpc>
              <a:spcBef>
                <a:spcPts val="400"/>
              </a:spcBef>
              <a:spcAft>
                <a:spcPts val="0"/>
              </a:spcAft>
              <a:buNone/>
            </a:pPr>
            <a:r>
              <a:rPr lang="ar-SA" sz="1450" b="0" dirty="0">
                <a:solidFill>
                  <a:srgbClr val="4A5590"/>
                </a:solidFill>
                <a:latin typeface="Readex Pro"/>
                <a:ea typeface="Readex Pro"/>
                <a:cs typeface="Readex Pro"/>
                <a:sym typeface="Readex Pro"/>
              </a:rPr>
              <a:t>تجربة كما يجرّب مستخدم حقيقي (‎284‎ سؤالاً، ونحو ‎125‎ في صفحة المتعلم، و‎68‎ في منصة المرشدين)؛ و‎64‎ ملاحظة أصلحناها كلها</a:t>
            </a:r>
          </a:p>
        </p:txBody>
      </p:sp>
      <p:sp>
        <p:nvSpPr>
          <p:cNvPr id="3005" name="deck 3005"/>
          <p:cNvSpPr/>
          <p:nvPr/>
        </p:nvSpPr>
        <p:spPr>
          <a:xfrm>
            <a:off x="1409700" y="6715125"/>
            <a:ext cx="4191000" cy="1381125"/>
          </a:xfrm>
          <a:prstGeom prst="roundRect">
            <a:avLst>
              <a:gd name="adj" fmla="val 6000"/>
            </a:avLst>
          </a:prstGeom>
          <a:solidFill>
            <a:srgbClr val="FFFFFF"/>
          </a:solidFill>
          <a:ln w="14288">
            <a:solidFill>
              <a:srgbClr val="E0D9FB"/>
            </a:solidFill>
          </a:ln>
        </p:spPr>
        <p:txBody>
          <a:bodyPr wrap="square" lIns="152400" tIns="152400" rIns="152400" bIns="152400" anchor="ctr" rtlCol="1">
            <a:noAutofit/>
          </a:bodyPr>
          <a:lstStyle/>
          <a:p>
            <a:pPr marL="0" indent="0" rtl="1" algn="r">
              <a:lnSpc>
                <a:spcPct val="100000"/>
              </a:lnSpc>
              <a:spcBef>
                <a:spcPts val="0"/>
              </a:spcBef>
              <a:spcAft>
                <a:spcPts val="0"/>
              </a:spcAft>
              <a:buNone/>
            </a:pPr>
            <a:r>
              <a:rPr lang="ar-SA" sz="2800" b="1" dirty="0">
                <a:solidFill>
                  <a:srgbClr val="6150EA"/>
                </a:solidFill>
                <a:latin typeface="Readex Pro"/>
                <a:ea typeface="Readex Pro"/>
                <a:cs typeface="Readex Pro"/>
                <a:sym typeface="Readex Pro"/>
              </a:rPr>
              <a:t>‎51/51‎</a:t>
            </a:r>
          </a:p>
          <a:p>
            <a:pPr marL="0" indent="0" rtl="1" algn="r">
              <a:lnSpc>
                <a:spcPct val="112000"/>
              </a:lnSpc>
              <a:spcBef>
                <a:spcPts val="400"/>
              </a:spcBef>
              <a:spcAft>
                <a:spcPts val="0"/>
              </a:spcAft>
              <a:buNone/>
            </a:pPr>
            <a:r>
              <a:rPr lang="ar-SA" sz="1450" b="0" dirty="0">
                <a:solidFill>
                  <a:srgbClr val="4A5590"/>
                </a:solidFill>
                <a:latin typeface="Readex Pro"/>
                <a:ea typeface="Readex Pro"/>
                <a:cs typeface="Readex Pro"/>
                <a:sym typeface="Readex Pro"/>
              </a:rPr>
              <a:t>في أسئلة M التي لم يرها قط: كل أسئلة الإحالة والأزمة والطوارئ وما ليس في الكتاب</a:t>
            </a:r>
          </a:p>
        </p:txBody>
      </p:sp>
      <p:sp>
        <p:nvSpPr>
          <p:cNvPr id="3006" name="deck 3006"/>
          <p:cNvSpPr/>
          <p:nvPr/>
        </p:nvSpPr>
        <p:spPr>
          <a:xfrm>
            <a:off x="1409700" y="8382000"/>
            <a:ext cx="15430500" cy="762000"/>
          </a:xfrm>
          <a:prstGeom prst="roundRect">
            <a:avLst>
              <a:gd name="adj" fmla="val 18000"/>
            </a:avLst>
          </a:prstGeom>
          <a:solidFill>
            <a:srgbClr val="6150EA">
              <a:alpha val="10000"/>
            </a:srgbClr>
          </a:solidFill>
          <a:ln w="9525">
            <a:solidFill>
              <a:srgbClr val="6150EA">
                <a:alpha val="4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600" b="1" dirty="0">
                <a:solidFill>
                  <a:srgbClr val="6150EA"/>
                </a:solidFill>
                <a:latin typeface="Readex Pro"/>
                <a:ea typeface="Readex Pro"/>
                <a:cs typeface="Readex Pro"/>
                <a:sym typeface="Readex Pro"/>
              </a:rPr>
              <a:t>بصراحة: </a:t>
            </a:r>
            <a:r>
              <a:rPr lang="ar-SA" sz="1550" b="0" dirty="0">
                <a:solidFill>
                  <a:srgbClr val="12183F"/>
                </a:solidFill>
                <a:latin typeface="Readex Pro"/>
                <a:ea typeface="Readex Pro"/>
                <a:cs typeface="Readex Pro"/>
                <a:sym typeface="Readex Pro"/>
              </a:rPr>
              <a:t>ضبطنا النظام على أسئلة التطوير والمراجعة وK (K وM مجموعتان من الأسئلة الجديدة). الأسئلة المغلقة لم نلمسها، وM لم نرها قبل تشغيلها الوحيد. ومن ‎18‎ خطأً في M، كانت ‎10‎ اعتذارات عن أسئلة جوابها في الكتاب. لم نخفّف المعيار لنرفع الرقم.</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خلاصة · المسار ‎03:‎ التجارب التفاعلية والرحلة المعرفية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يطلبه مسار «الرحلة المعرفية»، وما حقّقناه</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المسار يطلب تعليماً متدرّجاً لا ينقطع، ويحيل إلى إنسان عند الحاجة. وهذا ما كان ينقص المسلم الجديد عندنا</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والفهم؟ بعد كل درس أسئلة وتمارين من الكتاب نفسه. لكننا لم نقس بعدُ فهم مسلمين جدد حقيقيين، ولا ندّعي ذلك.</a:t>
            </a:r>
            <a:endParaRPr/>
          </a:p>
        </p:txBody>
      </p:sp>
      <p:graphicFrame>
        <p:nvGraphicFramePr>
          <p:cNvPr id="3001" name="track criteria"/>
          <p:cNvGraphicFramePr>
            <a:graphicFrameLocks noGrp="1"/>
          </p:cNvGraphicFramePr>
          <p:nvPr/>
        </p:nvGraphicFramePr>
        <p:xfrm>
          <a:off x="1409700" y="3762375"/>
          <a:ext cx="15430500" cy="4400550"/>
        </p:xfrm>
        <a:graphic>
          <a:graphicData uri="http://schemas.openxmlformats.org/drawingml/2006/table">
            <a:tbl>
              <a:tblPr rtl="1" firstRow="1" bandRow="0"/>
              <a:tblGrid>
                <a:gridCol w="3619500"/>
                <a:gridCol w="8953500"/>
                <a:gridCol w="2857500"/>
              </a:tblGrid>
              <a:tr h="495300">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ما يطلبه المسار</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ما فعلناه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كيف تحققنا</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محتوى مناسب ومرتّب</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منهج «الوجيز» في ‎19‎ درساً: معنى الشهادتين أولاً، ثم ما اختاره المتعلم، ثم الطهارة والصلاة، ثم بقية الكتاب بترتيبه.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ترتيب الدروس صحيح في ‎120/120‎ تجربة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تعلّم لا ينقطع</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يُحفظ تقدّمه بحساب Google أو برابط في بريده، ويصله تذكير بدرسه كل يوم، ويجد ردّ المرشد حين يعود.</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‎30‎ متعلماً افتراضياً (محاكاة، لا بشر) يعودون في ‎4‎ أيام</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انتقال منطقي بين المراحل</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الشهادتان ← بطاقة التعارف ← الدرس الأول ← ماذا أتعلم أولاً؟ ← درس كل يوم ← إنسان عند الحاجة.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‎84/84‎ في ‎20‎ نوعاً من محادثات الشهادة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إنسان عند الحاجة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مرشد للإخوة ومرشدة للأخوات، بعد موافقة المتعلم. وإن كان في خطر، يرى رقم الطوارئ في بلده أولاً.</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رقم الطوارئ أولاً في كل اختبار خطر: ‎15/15‎ و‎6/6‎</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الخصوصية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لا نحفظ إلا ما قاله المتعلم بنفسه وبعد موافقته. ديانته السابقة تُنسى بعد الجلسة، ولا نستنتج عنه شيئاً لم يقله.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برنامج يفحص كل معلومة في البطاقة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المحتوى واللغات</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كتاب واحد موثوق، يصل إلى المتعلم بلغته</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الدروس من «الوجيز»، والقرآن ومعانيه من مصادرها، ولا يخترع الذكاء الاصطناعي نصاً دينياً</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7">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«الوجيز»: ‎10‎ طبعات</a:t>
            </a:r>
            <a:endParaRPr/>
          </a:p>
        </p:txBody>
      </p:sp>
      <p:sp>
        <p:nvSpPr>
          <p:cNvPr id="866" name="Google Shape;866;p27"/>
          <p:cNvSpPr txBox="1"/>
          <p:nvPr>
            <p:ph idx="4" type="body"/>
          </p:nvPr>
        </p:nvSpPr>
        <p:spPr>
          <a:xfrm>
            <a:off x="13411200" y="7096125"/>
            <a:ext cx="3524250" cy="2095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1900">
                <a:solidFill>
                  <a:srgbClr val="CBCFE6"/>
                </a:solidFill>
                <a:latin typeface="Readex Pro"/>
                <a:ea typeface="Readex Pro"/>
                <a:cs typeface="Readex Pro"/>
                <a:sym typeface="Readex Pro"/>
              </a:rPr>
              <a:t>نص بأرقام صفحاته، يُقرأ كاملاً، بعشر لغات</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‎19‎ درساً في ‎4‎ وحدات</a:t>
            </a:r>
            <a:endParaRPr/>
          </a:p>
        </p:txBody>
      </p:sp>
      <p:sp>
        <p:nvSpPr>
          <p:cNvPr id="869" name="Google Shape;869;p27"/>
          <p:cNvSpPr txBox="1"/>
          <p:nvPr>
            <p:ph idx="6" type="body"/>
          </p:nvPr>
        </p:nvSpPr>
        <p:spPr>
          <a:xfrm>
            <a:off x="9410700" y="7096125"/>
            <a:ext cx="3524250" cy="2095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1900">
                <a:solidFill>
                  <a:srgbClr val="CBCFE6"/>
                </a:solidFill>
                <a:latin typeface="Readex Pro"/>
                <a:ea typeface="Readex Pro"/>
                <a:cs typeface="Readex Pro"/>
                <a:sym typeface="Readex Pro"/>
              </a:rPr>
              <a:t>جمل قصيرة مرقّمة، وأسئلة وتمارين من الكتاب نفسه</a:t>
            </a:r>
            <a:endParaRPr/>
          </a:p>
        </p:txBody>
      </p:sp>
      <p:pic>
        <p:nvPicPr>
          <p:cNvPr id="870" name="Google Shape;870;p27"/>
          <p:cNvPicPr preferRelativeResize="0"/>
          <p:nvPr/>
        </p:nvPicPr>
        <p:blipFill rotWithShape="1">
          <a:blip r:embed="rId8">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القرآن الكريم</a:t>
            </a:r>
            <a:endParaRPr/>
          </a:p>
        </p:txBody>
      </p:sp>
      <p:sp>
        <p:nvSpPr>
          <p:cNvPr id="872" name="Google Shape;872;p27"/>
          <p:cNvSpPr txBox="1"/>
          <p:nvPr>
            <p:ph idx="8" type="body"/>
          </p:nvPr>
        </p:nvSpPr>
        <p:spPr>
          <a:xfrm>
            <a:off x="5410200" y="7096125"/>
            <a:ext cx="3524250" cy="2095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1900">
                <a:solidFill>
                  <a:srgbClr val="CBCFE6"/>
                </a:solidFill>
                <a:latin typeface="Readex Pro"/>
                <a:ea typeface="Readex Pro"/>
                <a:cs typeface="Readex Pro"/>
                <a:sym typeface="Readex Pro"/>
              </a:rPr>
              <a:t>نص مصحف Tanzil، ومعانيه من QuranEnc بأكثر من ‎20‎ لغة، و«استمع وردّد»</a:t>
            </a:r>
            <a:endParaRPr/>
          </a:p>
        </p:txBody>
      </p:sp>
      <p:pic>
        <p:nvPicPr>
          <p:cNvPr id="873" name="Google Shape;873;p27"/>
          <p:cNvPicPr preferRelativeResize="0"/>
          <p:nvPr/>
        </p:nvPicPr>
        <p:blipFill rotWithShape="1">
          <a:blip r:embed="rId5">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بقية اللغات</a:t>
            </a:r>
            <a:endParaRPr/>
          </a:p>
        </p:txBody>
      </p:sp>
      <p:sp>
        <p:nvSpPr>
          <p:cNvPr id="875" name="Google Shape;875;p27"/>
          <p:cNvSpPr txBox="1"/>
          <p:nvPr>
            <p:ph idx="13" type="body"/>
          </p:nvPr>
        </p:nvSpPr>
        <p:spPr>
          <a:xfrm>
            <a:off x="1409700" y="7096125"/>
            <a:ext cx="3524250" cy="2095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1900">
                <a:solidFill>
                  <a:srgbClr val="CBCFE6"/>
                </a:solidFill>
                <a:latin typeface="Readex Pro"/>
                <a:ea typeface="Readex Pro"/>
                <a:cs typeface="Readex Pro"/>
                <a:sym typeface="Readex Pro"/>
              </a:rPr>
              <a:t>يُجاب من النص العربي أو الإنجليزي، مع تنبيه: «شرح مترجم آلياً، والأصل مرفق»</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التشغيل</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يعمل الآن، والسؤال الواحد بـ‎0.0013$‎</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مشروع يُراد به نفع الناس ينبغي أن يبقى حياً بعد التحدي، دون أن يرهق الجمعية</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p:nvPr/>
        </p:nvSpPr>
        <p:spPr>
          <a:xfrm>
            <a:off x="1409700" y="3810000"/>
            <a:ext cx="4476750" cy="2143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ctr" rtlCol="1">
            <a:noAutofit/>
          </a:bodyPr>
          <a:lstStyle/>
          <a:p>
            <a:pPr marL="0" indent="0" rtl="0" algn="ctr">
              <a:lnSpc>
                <a:spcPct val="100000"/>
              </a:lnSpc>
              <a:spcBef>
                <a:spcPts val="0"/>
              </a:spcBef>
              <a:spcAft>
                <a:spcPts val="0"/>
              </a:spcAft>
              <a:buNone/>
            </a:pPr>
            <a:r>
              <a:rPr lang="ar-SA" sz="4600" b="1" dirty="0">
                <a:solidFill>
                  <a:srgbClr val="2EF2C2"/>
                </a:solidFill>
                <a:latin typeface="Readex Pro"/>
                <a:ea typeface="Readex Pro"/>
                <a:cs typeface="Readex Pro"/>
                <a:sym typeface="Readex Pro"/>
              </a:rPr>
              <a:t>‎0.0013$‎</a:t>
            </a:r>
          </a:p>
          <a:p>
            <a:pPr marL="0" indent="0" rtl="1" algn="ctr">
              <a:lnSpc>
                <a:spcPct val="115000"/>
              </a:lnSpc>
              <a:spcBef>
                <a:spcPts val="600"/>
              </a:spcBef>
              <a:spcAft>
                <a:spcPts val="0"/>
              </a:spcAft>
              <a:buNone/>
            </a:pPr>
            <a:r>
              <a:rPr lang="ar-SA" sz="1800" b="0" dirty="0">
                <a:solidFill>
                  <a:srgbClr val="CBCFE6"/>
                </a:solidFill>
                <a:latin typeface="Readex Pro"/>
                <a:ea typeface="Readex Pro"/>
                <a:cs typeface="Readex Pro"/>
                <a:sym typeface="Readex Pro"/>
              </a:rPr>
              <a:t>متوسط تكلفة السؤال الواحد</a:t>
            </a:r>
          </a:p>
        </p:txBody>
      </p:sp>
      <p:sp>
        <p:nvSpPr>
          <p:cNvPr id="3002" name="deck 3002"/>
          <p:cNvSpPr/>
          <p:nvPr/>
        </p:nvSpPr>
        <p:spPr>
          <a:xfrm>
            <a:off x="1409700" y="6143625"/>
            <a:ext cx="4476750" cy="2143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ctr" rtlCol="1">
            <a:noAutofit/>
          </a:bodyPr>
          <a:lstStyle/>
          <a:p>
            <a:pPr marL="0" indent="0" rtl="0" algn="ctr">
              <a:lnSpc>
                <a:spcPct val="100000"/>
              </a:lnSpc>
              <a:spcBef>
                <a:spcPts val="0"/>
              </a:spcBef>
              <a:spcAft>
                <a:spcPts val="0"/>
              </a:spcAft>
              <a:buNone/>
            </a:pPr>
            <a:r>
              <a:rPr lang="ar-SA" sz="4600" b="1" dirty="0">
                <a:solidFill>
                  <a:srgbClr val="2EF2C2"/>
                </a:solidFill>
                <a:latin typeface="Readex Pro"/>
                <a:ea typeface="Readex Pro"/>
                <a:cs typeface="Readex Pro"/>
                <a:sym typeface="Readex Pro"/>
              </a:rPr>
              <a:t>‎5.7‎ ث</a:t>
            </a:r>
          </a:p>
          <a:p>
            <a:pPr marL="0" indent="0" rtl="1" algn="ctr">
              <a:lnSpc>
                <a:spcPct val="115000"/>
              </a:lnSpc>
              <a:spcBef>
                <a:spcPts val="600"/>
              </a:spcBef>
              <a:spcAft>
                <a:spcPts val="0"/>
              </a:spcAft>
              <a:buNone/>
            </a:pPr>
            <a:r>
              <a:rPr lang="ar-SA" sz="1800" b="0" dirty="0">
                <a:solidFill>
                  <a:srgbClr val="CBCFE6"/>
                </a:solidFill>
                <a:latin typeface="Readex Pro"/>
                <a:ea typeface="Readex Pro"/>
                <a:cs typeface="Readex Pro"/>
                <a:sym typeface="Readex Pro"/>
              </a:rPr>
              <a:t>زمن الجواب المعتاد على الموقع الحي (‎150‎ سؤالاً لم يرها)؛ و‎90%‎ في ‎8.1‎ ث أو أقل</a:t>
            </a:r>
          </a:p>
        </p:txBody>
      </p:sp>
      <p:sp>
        <p:nvSpPr>
          <p:cNvPr id="3003" name="deck 3003"/>
          <p:cNvSpPr/>
          <p:nvPr/>
        </p:nvSpPr>
        <p:spPr>
          <a:xfrm>
            <a:off x="6286500" y="3810000"/>
            <a:ext cx="10553700" cy="4429125"/>
          </a:xfrm>
          <a:prstGeom prst="roundRect">
            <a:avLst>
              <a:gd name="adj" fmla="val 6000"/>
            </a:avLst>
          </a:prstGeom>
          <a:solidFill>
            <a:srgbClr val="FFFFFF">
              <a:alpha val="4000"/>
            </a:srgbClr>
          </a:solidFill>
          <a:ln w="9525">
            <a:solidFill>
              <a:srgbClr val="2EF2C2">
                <a:alpha val="18000"/>
              </a:srgbClr>
            </a:solidFill>
          </a:ln>
        </p:spPr>
        <p:txBody>
          <a:bodyPr wrap="square" lIns="285750" tIns="285750" rIns="285750" bIns="285750" anchor="t" rtlCol="1">
            <a:noAutofit/>
          </a:bodyPr>
          <a:lstStyle/>
          <a:p>
            <a:pPr marL="0" indent="0" rtl="1" algn="r">
              <a:lnSpc>
                <a:spcPct val="100000"/>
              </a:lnSpc>
              <a:spcBef>
                <a:spcPts val="0"/>
              </a:spcBef>
              <a:spcAft>
                <a:spcPts val="1400"/>
              </a:spcAft>
              <a:buNone/>
            </a:pPr>
            <a:r>
              <a:rPr lang="ar-SA" sz="2600" b="1" dirty="0">
                <a:solidFill>
                  <a:srgbClr val="2EF2C2"/>
                </a:solidFill>
                <a:latin typeface="Readex Pro"/>
                <a:ea typeface="Readex Pro"/>
                <a:cs typeface="Readex Pro"/>
                <a:sym typeface="Readex Pro"/>
              </a:rPr>
              <a:t>يعمل الآن على الموقع</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الدروس كاملة: ‎19‎ درساً، والأسئلة، والإحالة، والكتاب كاملاً</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الحساب بـ Google أو برابط البريد، والتذكير اليومي</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منصة المرشدين: الطلبات، وتنبيه الأزمات، وتذكير المرشد بالرد</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الدرس الذي لم يُراجع بعدُ يُعرض بنص الكتاب وصفحته فقط</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إن تعطّل مزوّد الذكاء الاصطناعي، حلّ محلّه مزوّد احتياطي</a:t>
            </a:r>
          </a:p>
        </p:txBody>
      </p:sp>
      <p:sp>
        <p:nvSpPr>
          <p:cNvPr id="3004" name="deck 3004"/>
          <p:cNvSpPr/>
          <p:nvPr/>
        </p:nvSpPr>
        <p:spPr>
          <a:xfrm>
            <a:off x="1409700" y="8477250"/>
            <a:ext cx="15430500" cy="62865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900" b="1" dirty="0">
                <a:solidFill>
                  <a:srgbClr val="2EF2C2"/>
                </a:solidFill>
                <a:latin typeface="Readex Pro"/>
                <a:ea typeface="Readex Pro"/>
                <a:cs typeface="Readex Pro"/>
                <a:sym typeface="Readex Pro"/>
              </a:rPr>
              <a:t>بعد التحدي: </a:t>
            </a:r>
            <a:r>
              <a:rPr lang="ar-SA" sz="1900" b="0" dirty="0">
                <a:solidFill>
                  <a:srgbClr val="F2F4FF"/>
                </a:solidFill>
                <a:latin typeface="Readex Pro"/>
                <a:ea typeface="Readex Pro"/>
                <a:cs typeface="Readex Pro"/>
                <a:sym typeface="Readex Pro"/>
              </a:rPr>
              <a:t>يراجع المختص الشرعي بقية الدروس، ويتسلّم فريق أصول منصة المرشدين.</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الإفصاح</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بنيناه في أيام التحدي، وما كان موجوداً قبله</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ليُقيَّم الجديد وحده. والتحقق ممكن: نسخة مؤرّخة قبل التحدي (علامة Git)، ولكل تعديل بعدها تاريخه</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بُني خلال ‎4‎–‎6‎ أكتوبر ‎2026‎ (يُقيَّم)</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1900">
                <a:solidFill>
                  <a:srgbClr val="CBCFE6"/>
                </a:solidFill>
                <a:latin typeface="Readex Pro"/>
                <a:ea typeface="Readex Pro"/>
                <a:cs typeface="Readex Pro"/>
                <a:sym typeface="Readex Pro"/>
              </a:rPr>
              <a:t>كل ما في المستودع، وتعديل من ‎430‎ سطراً لربطه بالمنصة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موجود قبل التحدي (لا نطلب تقييمه)</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1900">
                <a:solidFill>
                  <a:srgbClr val="CBCFE6"/>
                </a:solidFill>
                <a:latin typeface="Readex Pro"/>
                <a:ea typeface="Readex Pro"/>
                <a:cs typeface="Readex Pro"/>
                <a:sym typeface="Readex Pro"/>
              </a:rPr>
              <a:t>منصة theislam.chat لجمعية أصول، تعمل منذ أكتوبر ‎2024‎ (علامة Git: pre-challenge-‎2026‎-‎10‎-‎03‎)</a:t>
            </a:r>
            <a:endParaRPr/>
          </a:p>
        </p:txBody>
      </p:sp>
      <p:sp>
        <p:nvSpPr>
          <p:cNvPr id="3001" name="deck 3001"/>
          <p:cNvSpPr txBox="1"/>
          <p:nvPr/>
        </p:nvSpPr>
        <p:spPr>
          <a:xfrm>
            <a:off x="9696450" y="5857875"/>
            <a:ext cx="7143750" cy="2428875"/>
          </a:xfrm>
          <a:prstGeom prst="rect">
            <a:avLst/>
          </a:prstGeom>
          <a:noFill/>
          <a:ln>
            <a:noFill/>
          </a:ln>
        </p:spPr>
        <p:txBody>
          <a:bodyPr wrap="square" lIns="0" tIns="0" rIns="0" bIns="0" anchor="t" rtlCol="1">
            <a:noAutofit/>
          </a:bodyPr>
          <a:lstStyle/>
          <a:p>
            <a:pPr marL="0" indent="0" rtl="1" algn="r">
              <a:lnSpc>
                <a:spcPct val="112000"/>
              </a:lnSpc>
              <a:spcBef>
                <a:spcPts val="0"/>
              </a:spcBef>
              <a:spcAft>
                <a:spcPts val="700"/>
              </a:spcAft>
              <a:buNone/>
            </a:pPr>
            <a:r>
              <a:rPr lang="ar-SA" sz="1600" b="0" dirty="0">
                <a:solidFill>
                  <a:srgbClr val="CBCFE6"/>
                </a:solidFill>
                <a:latin typeface="Readex Pro"/>
                <a:ea typeface="Readex Pro"/>
                <a:cs typeface="Readex Pro"/>
                <a:sym typeface="Readex Pro"/>
              </a:rPr>
              <a:t>للمتعلم: البطاقة، الدروس، الكتاب كاملاً، الأسئلة، «استمع وردّد»، الإحالة، التذكير</a:t>
            </a:r>
          </a:p>
          <a:p>
            <a:pPr marL="0" indent="0" rtl="1" algn="r">
              <a:lnSpc>
                <a:spcPct val="112000"/>
              </a:lnSpc>
              <a:spcBef>
                <a:spcPts val="0"/>
              </a:spcBef>
              <a:spcAft>
                <a:spcPts val="700"/>
              </a:spcAft>
              <a:buNone/>
            </a:pPr>
            <a:r>
              <a:rPr lang="ar-SA" sz="1600" b="0" dirty="0">
                <a:solidFill>
                  <a:srgbClr val="CBCFE6"/>
                </a:solidFill>
                <a:latin typeface="Readex Pro"/>
                <a:ea typeface="Readex Pro"/>
                <a:cs typeface="Readex Pro"/>
                <a:sym typeface="Readex Pro"/>
              </a:rPr>
              <a:t>منصة المرشدين: الطلبات، تنبيه الأزمات، عدّاد الرد، المحادثة، الأرقام، الحماية</a:t>
            </a:r>
          </a:p>
          <a:p>
            <a:pPr marL="0" indent="0" rtl="1" algn="r">
              <a:lnSpc>
                <a:spcPct val="112000"/>
              </a:lnSpc>
              <a:spcBef>
                <a:spcPts val="0"/>
              </a:spcBef>
              <a:spcAft>
                <a:spcPts val="700"/>
              </a:spcAft>
              <a:buNone/>
            </a:pPr>
            <a:r>
              <a:rPr lang="ar-SA" sz="1600" b="0" dirty="0">
                <a:solidFill>
                  <a:srgbClr val="CBCFE6"/>
                </a:solidFill>
                <a:latin typeface="Readex Pro"/>
                <a:ea typeface="Readex Pro"/>
                <a:cs typeface="Readex Pro"/>
                <a:sym typeface="Readex Pro"/>
              </a:rPr>
              <a:t>الفرز، والبحث في الكتاب، والمدقّق، وتحويل ‎10‎ طبعات من «الوجيز» إلى نص</a:t>
            </a:r>
          </a:p>
        </p:txBody>
      </p:sp>
      <p:sp>
        <p:nvSpPr>
          <p:cNvPr id="3002" name="deck 3002"/>
          <p:cNvSpPr txBox="1"/>
          <p:nvPr/>
        </p:nvSpPr>
        <p:spPr>
          <a:xfrm>
            <a:off x="1409700" y="5905500"/>
            <a:ext cx="7143750" cy="2286000"/>
          </a:xfrm>
          <a:prstGeom prst="rect">
            <a:avLst/>
          </a:prstGeom>
          <a:noFill/>
          <a:ln>
            <a:noFill/>
          </a:ln>
        </p:spPr>
        <p:txBody>
          <a:bodyPr wrap="square" lIns="0" tIns="0" rIns="0" bIns="0" anchor="t" rtlCol="1">
            <a:noAutofit/>
          </a:bodyPr>
          <a:lstStyle/>
          <a:p>
            <a:pPr marL="0" indent="0" rtl="1" algn="r">
              <a:lnSpc>
                <a:spcPct val="115000"/>
              </a:lnSpc>
              <a:spcBef>
                <a:spcPts val="0"/>
              </a:spcBef>
              <a:spcAft>
                <a:spcPts val="1400"/>
              </a:spcAft>
              <a:buNone/>
            </a:pPr>
            <a:r>
              <a:rPr lang="ar-SA" sz="1800" b="0" dirty="0">
                <a:solidFill>
                  <a:srgbClr val="CBCFE6"/>
                </a:solidFill>
                <a:latin typeface="Readex Pro"/>
                <a:ea typeface="Readex Pro"/>
                <a:cs typeface="Readex Pro"/>
                <a:sym typeface="Readex Pro"/>
              </a:rPr>
              <a:t>الواجهة، والمحادثة الصوتية، وزر «تحدث إلى إنسان»</a:t>
            </a:r>
          </a:p>
          <a:p>
            <a:pPr marL="0" indent="0" rtl="1" algn="r">
              <a:lnSpc>
                <a:spcPct val="115000"/>
              </a:lnSpc>
              <a:spcBef>
                <a:spcPts val="0"/>
              </a:spcBef>
              <a:spcAft>
                <a:spcPts val="1400"/>
              </a:spcAft>
              <a:buNone/>
            </a:pPr>
            <a:r>
              <a:rPr lang="ar-SA" sz="1800" b="0" dirty="0">
                <a:solidFill>
                  <a:srgbClr val="CBCFE6"/>
                </a:solidFill>
                <a:latin typeface="Readex Pro"/>
                <a:ea typeface="Readex Pro"/>
                <a:cs typeface="Readex Pro"/>
                <a:sym typeface="Readex Pro"/>
              </a:rPr>
              <a:t>تعليمات الحوار الدعوي قبل الشهادة</a:t>
            </a:r>
          </a:p>
          <a:p>
            <a:pPr marL="0" indent="0" rtl="1" algn="r">
              <a:lnSpc>
                <a:spcPct val="115000"/>
              </a:lnSpc>
              <a:spcBef>
                <a:spcPts val="0"/>
              </a:spcBef>
              <a:spcAft>
                <a:spcPts val="1400"/>
              </a:spcAft>
              <a:buNone/>
            </a:pPr>
            <a:r>
              <a:rPr lang="ar-SA" sz="1800" b="0" dirty="0">
                <a:solidFill>
                  <a:srgbClr val="CBCFE6"/>
                </a:solidFill>
                <a:latin typeface="Readex Pro"/>
                <a:ea typeface="Readex Pro"/>
                <a:cs typeface="Readex Pro"/>
                <a:sym typeface="Readex Pro"/>
              </a:rPr>
              <a:t>ولم نستعمل نص أي محادثة حقيقية في الكود أو الاختبار أو العرض</a:t>
            </a:r>
          </a:p>
        </p:txBody>
      </p:sp>
      <p:sp>
        <p:nvSpPr>
          <p:cNvPr id="3003" name="deck 3003"/>
          <p:cNvSpPr/>
          <p:nvPr/>
        </p:nvSpPr>
        <p:spPr>
          <a:xfrm>
            <a:off x="1409700" y="8382000"/>
            <a:ext cx="15430500" cy="7620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700" b="1" dirty="0">
                <a:solidFill>
                  <a:srgbClr val="2EF2C2"/>
                </a:solidFill>
                <a:latin typeface="Readex Pro"/>
                <a:ea typeface="Readex Pro"/>
                <a:cs typeface="Readex Pro"/>
                <a:sym typeface="Readex Pro"/>
              </a:rPr>
              <a:t>ولا ندّعي </a:t>
            </a:r>
            <a:r>
              <a:rPr lang="ar-SA" sz="1700" b="0" dirty="0">
                <a:solidFill>
                  <a:srgbClr val="F2F4FF"/>
                </a:solidFill>
                <a:latin typeface="Readex Pro"/>
                <a:ea typeface="Readex Pro"/>
                <a:cs typeface="Readex Pro"/>
                <a:sym typeface="Readex Pro"/>
              </a:rPr>
              <a:t>أن فهم مسلمين جدد حقيقيين قد تحسّن؛ فلم نقسه بعد. وكل ما سبق من أرقام هو من اختبارات، لا من متعلمين حقيقيين.</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الفريق الذي بنى المشروع</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جمعية أصول، أصحاب theislam.chat</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12268200" y="3762375"/>
            <a:ext cx="4572000" cy="4381500"/>
          </a:xfrm>
          <a:prstGeom prst="roundRect">
            <a:avLst>
              <a:gd name="adj" fmla="val 6000"/>
            </a:avLst>
          </a:prstGeom>
          <a:solidFill>
            <a:srgbClr val="FFFFFF">
              <a:alpha val="4000"/>
            </a:srgbClr>
          </a:solidFill>
          <a:ln w="9525">
            <a:solidFill>
              <a:srgbClr val="2EF2C2">
                <a:alpha val="18000"/>
              </a:srgbClr>
            </a:solidFill>
          </a:ln>
        </p:spPr>
      </p:sp>
      <p:sp>
        <p:nvSpPr>
          <p:cNvPr id="3002" name="deck 3002"/>
          <p:cNvSpPr/>
          <p:nvPr/>
        </p:nvSpPr>
        <p:spPr>
          <a:xfrm>
            <a:off x="13839825" y="4048125"/>
            <a:ext cx="1428750" cy="1428750"/>
          </a:xfrm>
          <a:prstGeom prst="ellipse">
            <a:avLst/>
          </a:prstGeom>
          <a:solidFill>
            <a:srgbClr val="6150EA">
              <a:alpha val="35000"/>
            </a:srgbClr>
          </a:solidFill>
          <a:ln w="14288">
            <a:solidFill>
              <a:srgbClr val="2EF2C2">
                <a:alpha val="60000"/>
              </a:srgbClr>
            </a:solidFill>
          </a:ln>
        </p:spPr>
        <p:txBody>
          <a:bodyPr wrap="square" lIns="0" tIns="0" rIns="0" bIns="0" anchor="ctr" rtlCol="1">
            <a:noAutofit/>
          </a:bodyPr>
          <a:lstStyle/>
          <a:p>
            <a:pPr marL="0" indent="0" rtl="1" algn="ct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‎01‎</a:t>
            </a:r>
          </a:p>
        </p:txBody>
      </p:sp>
      <p:sp>
        <p:nvSpPr>
          <p:cNvPr id="3003" name="deck 3003"/>
          <p:cNvSpPr txBox="1"/>
          <p:nvPr/>
        </p:nvSpPr>
        <p:spPr>
          <a:xfrm>
            <a:off x="12458700" y="5715000"/>
            <a:ext cx="4191000" cy="2857500"/>
          </a:xfrm>
          <a:prstGeom prst="rect">
            <a:avLst/>
          </a:prstGeom>
          <a:noFill/>
          <a:ln>
            <a:noFill/>
          </a:ln>
        </p:spPr>
        <p:txBody>
          <a:bodyPr wrap="square" lIns="0" tIns="0" rIns="0" bIns="0" anchor="t" rtlCol="1">
            <a:noAutofit/>
          </a:bodyPr>
          <a:lstStyle/>
          <a:p>
            <a:pPr marL="0" indent="0" rtl="1" algn="ctr">
              <a:lnSpc>
                <a:spcPct val="100000"/>
              </a:lnSpc>
              <a:spcBef>
                <a:spcPts val="1000"/>
              </a:spcBef>
              <a:spcAft>
                <a:spcPts val="0"/>
              </a:spcAft>
              <a:buNone/>
            </a:pPr>
            <a:r>
              <a:rPr lang="ar-SA" sz="2500" b="1" dirty="0">
                <a:solidFill>
                  <a:srgbClr val="F2F4FF"/>
                </a:solidFill>
                <a:latin typeface="Readex Pro"/>
                <a:ea typeface="Readex Pro"/>
                <a:cs typeface="Readex Pro"/>
                <a:sym typeface="Readex Pro"/>
              </a:rPr>
              <a:t>Mohamed Ashour</a:t>
            </a:r>
          </a:p>
          <a:p>
            <a:pPr marL="0" indent="0" rtl="1" algn="ctr">
              <a:lnSpc>
                <a:spcPct val="110000"/>
              </a:lnSpc>
              <a:spcBef>
                <a:spcPts val="1600"/>
              </a:spcBef>
              <a:spcAft>
                <a:spcPts val="0"/>
              </a:spcAft>
              <a:buNone/>
            </a:pPr>
            <a:r>
              <a:rPr lang="ar-SA" sz="1900" b="1" dirty="0">
                <a:solidFill>
                  <a:srgbClr val="2EF2C2"/>
                </a:solidFill>
                <a:latin typeface="Readex Pro"/>
                <a:ea typeface="Readex Pro"/>
                <a:cs typeface="Readex Pro"/>
                <a:sym typeface="Readex Pro"/>
              </a:rPr>
              <a:t>قائد الفريق</a:t>
            </a:r>
          </a:p>
          <a:p>
            <a:pPr marL="0" indent="0" rtl="1" algn="ctr">
              <a:lnSpc>
                <a:spcPct val="120000"/>
              </a:lnSpc>
              <a:spcBef>
                <a:spcPts val="800"/>
              </a:spcBef>
              <a:spcAft>
                <a:spcPts val="0"/>
              </a:spcAft>
              <a:buNone/>
            </a:pPr>
            <a:r>
              <a:rPr lang="ar-SA" sz="1600" b="0" dirty="0">
                <a:solidFill>
                  <a:srgbClr val="CBCFE6"/>
                </a:solidFill>
                <a:latin typeface="Readex Pro"/>
                <a:ea typeface="Readex Pro"/>
                <a:cs typeface="Readex Pro"/>
                <a:sym typeface="Readex Pro"/>
              </a:rPr>
              <a:t>مدير الفريق</a:t>
            </a:r>
          </a:p>
        </p:txBody>
      </p:sp>
      <p:sp>
        <p:nvSpPr>
          <p:cNvPr id="3004" name="deck 3004"/>
          <p:cNvSpPr/>
          <p:nvPr/>
        </p:nvSpPr>
        <p:spPr>
          <a:xfrm>
            <a:off x="6838950" y="3762375"/>
            <a:ext cx="4572000" cy="4381500"/>
          </a:xfrm>
          <a:prstGeom prst="roundRect">
            <a:avLst>
              <a:gd name="adj" fmla="val 6000"/>
            </a:avLst>
          </a:prstGeom>
          <a:solidFill>
            <a:srgbClr val="FFFFFF">
              <a:alpha val="4000"/>
            </a:srgbClr>
          </a:solidFill>
          <a:ln w="9525">
            <a:solidFill>
              <a:srgbClr val="2EF2C2">
                <a:alpha val="18000"/>
              </a:srgbClr>
            </a:solidFill>
          </a:ln>
        </p:spPr>
      </p:sp>
      <p:sp>
        <p:nvSpPr>
          <p:cNvPr id="3005" name="deck 3005"/>
          <p:cNvSpPr/>
          <p:nvPr/>
        </p:nvSpPr>
        <p:spPr>
          <a:xfrm>
            <a:off x="8410575" y="4048125"/>
            <a:ext cx="1428750" cy="1428750"/>
          </a:xfrm>
          <a:prstGeom prst="ellipse">
            <a:avLst/>
          </a:prstGeom>
          <a:solidFill>
            <a:srgbClr val="6150EA">
              <a:alpha val="35000"/>
            </a:srgbClr>
          </a:solidFill>
          <a:ln w="14288">
            <a:solidFill>
              <a:srgbClr val="2EF2C2">
                <a:alpha val="60000"/>
              </a:srgbClr>
            </a:solidFill>
          </a:ln>
        </p:spPr>
        <p:txBody>
          <a:bodyPr wrap="square" lIns="0" tIns="0" rIns="0" bIns="0" anchor="ctr" rtlCol="1">
            <a:noAutofit/>
          </a:bodyPr>
          <a:lstStyle/>
          <a:p>
            <a:pPr marL="0" indent="0" rtl="1" algn="ct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‎02‎</a:t>
            </a:r>
          </a:p>
        </p:txBody>
      </p:sp>
      <p:sp>
        <p:nvSpPr>
          <p:cNvPr id="3006" name="deck 3006"/>
          <p:cNvSpPr txBox="1"/>
          <p:nvPr/>
        </p:nvSpPr>
        <p:spPr>
          <a:xfrm>
            <a:off x="7029450" y="5715000"/>
            <a:ext cx="4191000" cy="2857500"/>
          </a:xfrm>
          <a:prstGeom prst="rect">
            <a:avLst/>
          </a:prstGeom>
          <a:noFill/>
          <a:ln>
            <a:noFill/>
          </a:ln>
        </p:spPr>
        <p:txBody>
          <a:bodyPr wrap="square" lIns="0" tIns="0" rIns="0" bIns="0" anchor="t" rtlCol="1">
            <a:noAutofit/>
          </a:bodyPr>
          <a:lstStyle/>
          <a:p>
            <a:pPr marL="0" indent="0" rtl="1" algn="ctr">
              <a:lnSpc>
                <a:spcPct val="100000"/>
              </a:lnSpc>
              <a:spcBef>
                <a:spcPts val="1000"/>
              </a:spcBef>
              <a:spcAft>
                <a:spcPts val="0"/>
              </a:spcAft>
              <a:buNone/>
            </a:pPr>
            <a:r>
              <a:rPr lang="ar-SA" sz="2500" b="1" dirty="0">
                <a:solidFill>
                  <a:srgbClr val="F2F4FF"/>
                </a:solidFill>
                <a:latin typeface="Readex Pro"/>
                <a:ea typeface="Readex Pro"/>
                <a:cs typeface="Readex Pro"/>
                <a:sym typeface="Readex Pro"/>
              </a:rPr>
              <a:t>باسل الفوزان</a:t>
            </a:r>
          </a:p>
          <a:p>
            <a:pPr marL="0" indent="0" rtl="1" algn="ctr">
              <a:lnSpc>
                <a:spcPct val="110000"/>
              </a:lnSpc>
              <a:spcBef>
                <a:spcPts val="1600"/>
              </a:spcBef>
              <a:spcAft>
                <a:spcPts val="0"/>
              </a:spcAft>
              <a:buNone/>
            </a:pPr>
            <a:r>
              <a:rPr lang="ar-SA" sz="1900" b="1" dirty="0">
                <a:solidFill>
                  <a:srgbClr val="2EF2C2"/>
                </a:solidFill>
                <a:latin typeface="Readex Pro"/>
                <a:ea typeface="Readex Pro"/>
                <a:cs typeface="Readex Pro"/>
                <a:sym typeface="Readex Pro"/>
              </a:rPr>
              <a:t>عضو</a:t>
            </a:r>
          </a:p>
          <a:p>
            <a:pPr marL="0" indent="0" rtl="1" algn="ctr">
              <a:lnSpc>
                <a:spcPct val="120000"/>
              </a:lnSpc>
              <a:spcBef>
                <a:spcPts val="800"/>
              </a:spcBef>
              <a:spcAft>
                <a:spcPts val="0"/>
              </a:spcAft>
              <a:buNone/>
            </a:pPr>
            <a:r>
              <a:rPr lang="ar-SA" sz="1600" b="0" dirty="0">
                <a:solidFill>
                  <a:srgbClr val="CBCFE6"/>
                </a:solidFill>
                <a:latin typeface="Readex Pro"/>
                <a:ea typeface="Readex Pro"/>
                <a:cs typeface="Readex Pro"/>
                <a:sym typeface="Readex Pro"/>
              </a:rPr>
              <a:t>فريق التأسيس</a:t>
            </a:r>
          </a:p>
        </p:txBody>
      </p:sp>
      <p:sp>
        <p:nvSpPr>
          <p:cNvPr id="3007" name="deck 3007"/>
          <p:cNvSpPr/>
          <p:nvPr/>
        </p:nvSpPr>
        <p:spPr>
          <a:xfrm>
            <a:off x="1409700" y="3762375"/>
            <a:ext cx="4572000" cy="4381500"/>
          </a:xfrm>
          <a:prstGeom prst="roundRect">
            <a:avLst>
              <a:gd name="adj" fmla="val 6000"/>
            </a:avLst>
          </a:prstGeom>
          <a:solidFill>
            <a:srgbClr val="FFFFFF">
              <a:alpha val="4000"/>
            </a:srgbClr>
          </a:solidFill>
          <a:ln w="9525">
            <a:solidFill>
              <a:srgbClr val="2EF2C2">
                <a:alpha val="18000"/>
              </a:srgbClr>
            </a:solidFill>
          </a:ln>
        </p:spPr>
      </p:sp>
      <p:sp>
        <p:nvSpPr>
          <p:cNvPr id="3008" name="deck 3008"/>
          <p:cNvSpPr/>
          <p:nvPr/>
        </p:nvSpPr>
        <p:spPr>
          <a:xfrm>
            <a:off x="2981325" y="4048125"/>
            <a:ext cx="1428750" cy="1428750"/>
          </a:xfrm>
          <a:prstGeom prst="ellipse">
            <a:avLst/>
          </a:prstGeom>
          <a:solidFill>
            <a:srgbClr val="6150EA">
              <a:alpha val="35000"/>
            </a:srgbClr>
          </a:solidFill>
          <a:ln w="14288">
            <a:solidFill>
              <a:srgbClr val="2EF2C2">
                <a:alpha val="60000"/>
              </a:srgbClr>
            </a:solidFill>
          </a:ln>
        </p:spPr>
        <p:txBody>
          <a:bodyPr wrap="square" lIns="0" tIns="0" rIns="0" bIns="0" anchor="ctr" rtlCol="1">
            <a:noAutofit/>
          </a:bodyPr>
          <a:lstStyle/>
          <a:p>
            <a:pPr marL="0" indent="0" rtl="1" algn="ct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‎03‎</a:t>
            </a:r>
          </a:p>
        </p:txBody>
      </p:sp>
      <p:sp>
        <p:nvSpPr>
          <p:cNvPr id="3009" name="deck 3009"/>
          <p:cNvSpPr txBox="1"/>
          <p:nvPr/>
        </p:nvSpPr>
        <p:spPr>
          <a:xfrm>
            <a:off x="1600200" y="5715000"/>
            <a:ext cx="4191000" cy="2857500"/>
          </a:xfrm>
          <a:prstGeom prst="rect">
            <a:avLst/>
          </a:prstGeom>
          <a:noFill/>
          <a:ln>
            <a:noFill/>
          </a:ln>
        </p:spPr>
        <p:txBody>
          <a:bodyPr wrap="square" lIns="0" tIns="0" rIns="0" bIns="0" anchor="t" rtlCol="1">
            <a:noAutofit/>
          </a:bodyPr>
          <a:lstStyle/>
          <a:p>
            <a:pPr marL="0" indent="0" rtl="1" algn="ctr">
              <a:lnSpc>
                <a:spcPct val="100000"/>
              </a:lnSpc>
              <a:spcBef>
                <a:spcPts val="1000"/>
              </a:spcBef>
              <a:spcAft>
                <a:spcPts val="0"/>
              </a:spcAft>
              <a:buNone/>
            </a:pPr>
            <a:r>
              <a:rPr lang="ar-SA" sz="2500" b="1" dirty="0">
                <a:solidFill>
                  <a:srgbClr val="F2F4FF"/>
                </a:solidFill>
                <a:latin typeface="Readex Pro"/>
                <a:ea typeface="Readex Pro"/>
                <a:cs typeface="Readex Pro"/>
                <a:sym typeface="Readex Pro"/>
              </a:rPr>
              <a:t>محمد يمان غيبه</a:t>
            </a:r>
          </a:p>
          <a:p>
            <a:pPr marL="0" indent="0" rtl="1" algn="ctr">
              <a:lnSpc>
                <a:spcPct val="110000"/>
              </a:lnSpc>
              <a:spcBef>
                <a:spcPts val="1600"/>
              </a:spcBef>
              <a:spcAft>
                <a:spcPts val="0"/>
              </a:spcAft>
              <a:buNone/>
            </a:pPr>
            <a:r>
              <a:rPr lang="ar-SA" sz="1900" b="1" dirty="0">
                <a:solidFill>
                  <a:srgbClr val="2EF2C2"/>
                </a:solidFill>
                <a:latin typeface="Readex Pro"/>
                <a:ea typeface="Readex Pro"/>
                <a:cs typeface="Readex Pro"/>
                <a:sym typeface="Readex Pro"/>
              </a:rPr>
              <a:t>عضو</a:t>
            </a:r>
          </a:p>
          <a:p>
            <a:pPr marL="0" indent="0" rtl="1" algn="ctr">
              <a:lnSpc>
                <a:spcPct val="120000"/>
              </a:lnSpc>
              <a:spcBef>
                <a:spcPts val="800"/>
              </a:spcBef>
              <a:spcAft>
                <a:spcPts val="0"/>
              </a:spcAft>
              <a:buNone/>
            </a:pPr>
            <a:r>
              <a:rPr lang="ar-SA" sz="1600" b="0" dirty="0">
                <a:solidFill>
                  <a:srgbClr val="CBCFE6"/>
                </a:solidFill>
                <a:latin typeface="Readex Pro"/>
                <a:ea typeface="Readex Pro"/>
                <a:cs typeface="Readex Pro"/>
                <a:sym typeface="Readex Pro"/>
              </a:rPr>
              <a:t>مبرمج</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الروابط</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ابدأ من لحظة الشهادتين: ثلاث دقائق تكفي</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كل ما يحتاجه المحكّم ليجرّب ويتحقق، في ثلاثة روابط</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1409700" y="3714750"/>
            <a:ext cx="15430500" cy="1333500"/>
          </a:xfrm>
          <a:prstGeom prst="roundRect">
            <a:avLst>
              <a:gd name="adj" fmla="val 6000"/>
            </a:avLst>
          </a:prstGeom>
          <a:solidFill>
            <a:srgbClr val="FFFFFF">
              <a:alpha val="4000"/>
            </a:srgbClr>
          </a:solidFill>
          <a:ln w="9525">
            <a:solidFill>
              <a:srgbClr val="2EF2C2">
                <a:alpha val="18000"/>
              </a:srgbClr>
            </a:solidFill>
          </a:ln>
        </p:spPr>
      </p:sp>
      <p:sp>
        <p:nvSpPr>
          <p:cNvPr id="3002" name="deck 3002"/>
          <p:cNvSpPr txBox="1"/>
          <p:nvPr/>
        </p:nvSpPr>
        <p:spPr>
          <a:xfrm>
            <a:off x="10096500" y="3848100"/>
            <a:ext cx="6477000" cy="1066800"/>
          </a:xfrm>
          <a:prstGeom prst="rect">
            <a:avLst/>
          </a:prstGeom>
          <a:noFill/>
          <a:ln>
            <a:noFill/>
          </a:ln>
        </p:spPr>
        <p:txBody>
          <a:bodyPr wrap="square" lIns="0" tIns="0" rIns="0" bIns="0" anchor="ctr"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التجربة الحية</a:t>
            </a:r>
          </a:p>
          <a:p>
            <a:pPr marL="0" indent="0" rtl="1" algn="r">
              <a:lnSpc>
                <a:spcPct val="115000"/>
              </a:lnSpc>
              <a:spcBef>
                <a:spcPts val="600"/>
              </a:spcBef>
              <a:spcAft>
                <a:spcPts val="0"/>
              </a:spcAft>
              <a:buNone/>
            </a:pPr>
            <a:r>
              <a:rPr lang="ar-SA" sz="1600" b="0" dirty="0">
                <a:solidFill>
                  <a:srgbClr val="CBCFE6"/>
                </a:solidFill>
                <a:latin typeface="Readex Pro"/>
                <a:ea typeface="Readex Pro"/>
                <a:cs typeface="Readex Pro"/>
                <a:sym typeface="Readex Pro"/>
              </a:rPr>
              <a:t>تبدأ من لحظة الشهادة؛ وتحتها رابط النسخة الإنجليزية</a:t>
            </a:r>
          </a:p>
        </p:txBody>
      </p:sp>
      <p:sp>
        <p:nvSpPr>
          <p:cNvPr id="3003" name="deck 3003"/>
          <p:cNvSpPr txBox="1"/>
          <p:nvPr/>
        </p:nvSpPr>
        <p:spPr>
          <a:xfrm>
            <a:off x="1714500" y="3848100"/>
            <a:ext cx="8191500" cy="1066800"/>
          </a:xfrm>
          <a:prstGeom prst="rect">
            <a:avLst/>
          </a:prstGeom>
          <a:noFill/>
          <a:ln>
            <a:noFill/>
          </a:ln>
        </p:spPr>
        <p:txBody>
          <a:bodyPr wrap="square" lIns="0" tIns="0" rIns="0" bIns="0" anchor="ctr" rtlCol="1">
            <a:noAutofit/>
          </a:bodyPr>
          <a:lstStyle/>
          <a:p>
            <a:pPr marL="0" indent="0" rtl="0" algn="l">
              <a:lnSpc>
                <a:spcPct val="100000"/>
              </a:lnSpc>
              <a:spcBef>
                <a:spcPts val="0"/>
              </a:spcBef>
              <a:spcAft>
                <a:spcPts val="0"/>
              </a:spcAft>
              <a:buNone/>
            </a:pPr>
            <a:r>
              <a:rPr lang="ar-SA" sz="2200" b="1" dirty="0">
                <a:solidFill>
                  <a:srgbClr val="2EF2C2"/>
                </a:solidFill>
                <a:latin typeface="Readex Pro"/>
                <a:ea typeface="Readex Pro"/>
                <a:cs typeface="Readex Pro"/>
                <a:sym typeface="Readex Pro"/>
              </a:rPr>
              <a:t>https://shahada.theislam.chat/ar?demo=shahada</a:t>
            </a:r>
          </a:p>
          <a:p>
            <a:pPr marL="0" indent="0" rtl="0" algn="l">
              <a:lnSpc>
                <a:spcPct val="100000"/>
              </a:lnSpc>
              <a:spcBef>
                <a:spcPts val="600"/>
              </a:spcBef>
              <a:spcAft>
                <a:spcPts val="0"/>
              </a:spcAft>
              <a:buNone/>
            </a:pPr>
            <a:r>
              <a:rPr lang="ar-SA" sz="1900" b="0" dirty="0">
                <a:solidFill>
                  <a:srgbClr val="F2F4FF"/>
                </a:solidFill>
                <a:latin typeface="Readex Pro"/>
                <a:ea typeface="Readex Pro"/>
                <a:cs typeface="Readex Pro"/>
                <a:sym typeface="Readex Pro"/>
              </a:rPr>
              <a:t>https://shahada.theislam.chat/en?demo=shahada</a:t>
            </a:r>
          </a:p>
        </p:txBody>
      </p:sp>
      <p:sp>
        <p:nvSpPr>
          <p:cNvPr id="3004" name="deck 3004"/>
          <p:cNvSpPr/>
          <p:nvPr/>
        </p:nvSpPr>
        <p:spPr>
          <a:xfrm>
            <a:off x="1409700" y="5238750"/>
            <a:ext cx="15430500" cy="1333500"/>
          </a:xfrm>
          <a:prstGeom prst="roundRect">
            <a:avLst>
              <a:gd name="adj" fmla="val 6000"/>
            </a:avLst>
          </a:prstGeom>
          <a:solidFill>
            <a:srgbClr val="FFFFFF">
              <a:alpha val="4000"/>
            </a:srgbClr>
          </a:solidFill>
          <a:ln w="9525">
            <a:solidFill>
              <a:srgbClr val="2EF2C2">
                <a:alpha val="18000"/>
              </a:srgbClr>
            </a:solidFill>
          </a:ln>
        </p:spPr>
      </p:sp>
      <p:sp>
        <p:nvSpPr>
          <p:cNvPr id="3005" name="deck 3005"/>
          <p:cNvSpPr txBox="1"/>
          <p:nvPr/>
        </p:nvSpPr>
        <p:spPr>
          <a:xfrm>
            <a:off x="10096500" y="5372100"/>
            <a:ext cx="6477000" cy="1066800"/>
          </a:xfrm>
          <a:prstGeom prst="rect">
            <a:avLst/>
          </a:prstGeom>
          <a:noFill/>
          <a:ln>
            <a:noFill/>
          </a:ln>
        </p:spPr>
        <p:txBody>
          <a:bodyPr wrap="square" lIns="0" tIns="0" rIns="0" bIns="0" anchor="ctr"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منصة فريق المتابعة (المرشدين)</a:t>
            </a:r>
          </a:p>
          <a:p>
            <a:pPr marL="0" indent="0" rtl="1" algn="r">
              <a:lnSpc>
                <a:spcPct val="115000"/>
              </a:lnSpc>
              <a:spcBef>
                <a:spcPts val="600"/>
              </a:spcBef>
              <a:spcAft>
                <a:spcPts val="0"/>
              </a:spcAft>
              <a:buNone/>
            </a:pPr>
            <a:r>
              <a:rPr lang="ar-SA" sz="1600" b="0" dirty="0">
                <a:solidFill>
                  <a:srgbClr val="CBCFE6"/>
                </a:solidFill>
                <a:latin typeface="Readex Pro"/>
                <a:ea typeface="Readex Pro"/>
                <a:cs typeface="Readex Pro"/>
                <a:sym typeface="Readex Pro"/>
              </a:rPr>
              <a:t>حساب المشرف التجريبي؛ وكلمة المرور نفسها لحسابي المرشد والمرشدة التجريبيين</a:t>
            </a:r>
          </a:p>
        </p:txBody>
      </p:sp>
      <p:sp>
        <p:nvSpPr>
          <p:cNvPr id="3006" name="deck 3006"/>
          <p:cNvSpPr txBox="1"/>
          <p:nvPr/>
        </p:nvSpPr>
        <p:spPr>
          <a:xfrm>
            <a:off x="1714500" y="5372100"/>
            <a:ext cx="8191500" cy="1066800"/>
          </a:xfrm>
          <a:prstGeom prst="rect">
            <a:avLst/>
          </a:prstGeom>
          <a:noFill/>
          <a:ln>
            <a:noFill/>
          </a:ln>
        </p:spPr>
        <p:txBody>
          <a:bodyPr wrap="square" lIns="0" tIns="0" rIns="0" bIns="0" anchor="ctr" rtlCol="1">
            <a:noAutofit/>
          </a:bodyPr>
          <a:lstStyle/>
          <a:p>
            <a:pPr marL="0" indent="0" rtl="0" algn="l">
              <a:lnSpc>
                <a:spcPct val="100000"/>
              </a:lnSpc>
              <a:spcBef>
                <a:spcPts val="0"/>
              </a:spcBef>
              <a:spcAft>
                <a:spcPts val="0"/>
              </a:spcAft>
              <a:buNone/>
            </a:pPr>
            <a:r>
              <a:rPr lang="ar-SA" sz="2200" b="1" dirty="0">
                <a:solidFill>
                  <a:srgbClr val="2EF2C2"/>
                </a:solidFill>
                <a:latin typeface="Readex Pro"/>
                <a:ea typeface="Readex Pro"/>
                <a:cs typeface="Readex Pro"/>
                <a:sym typeface="Readex Pro"/>
              </a:rPr>
              <a:t>https://shahada.theislam.chat/mentor</a:t>
            </a:r>
          </a:p>
          <a:p>
            <a:pPr marL="0" indent="0" rtl="0" algn="l">
              <a:lnSpc>
                <a:spcPct val="100000"/>
              </a:lnSpc>
              <a:spcBef>
                <a:spcPts val="600"/>
              </a:spcBef>
              <a:spcAft>
                <a:spcPts val="0"/>
              </a:spcAft>
              <a:buNone/>
            </a:pPr>
            <a:r>
              <a:rPr lang="ar-SA" sz="1900" b="0" dirty="0">
                <a:solidFill>
                  <a:srgbClr val="F2F4FF"/>
                </a:solidFill>
                <a:latin typeface="Readex Pro"/>
                <a:ea typeface="Readex Pro"/>
                <a:cs typeface="Readex Pro"/>
                <a:sym typeface="Readex Pro"/>
              </a:rPr>
              <a:t>supervisor@demo.theislam.chat  /  6c014c6af52e</a:t>
            </a:r>
          </a:p>
        </p:txBody>
      </p:sp>
      <p:sp>
        <p:nvSpPr>
          <p:cNvPr id="3007" name="deck 3007"/>
          <p:cNvSpPr/>
          <p:nvPr/>
        </p:nvSpPr>
        <p:spPr>
          <a:xfrm>
            <a:off x="1409700" y="6762750"/>
            <a:ext cx="15430500" cy="1333500"/>
          </a:xfrm>
          <a:prstGeom prst="roundRect">
            <a:avLst>
              <a:gd name="adj" fmla="val 6000"/>
            </a:avLst>
          </a:prstGeom>
          <a:solidFill>
            <a:srgbClr val="FFFFFF">
              <a:alpha val="4000"/>
            </a:srgbClr>
          </a:solidFill>
          <a:ln w="9525">
            <a:solidFill>
              <a:srgbClr val="2EF2C2">
                <a:alpha val="18000"/>
              </a:srgbClr>
            </a:solidFill>
          </a:ln>
        </p:spPr>
      </p:sp>
      <p:sp>
        <p:nvSpPr>
          <p:cNvPr id="3008" name="deck 3008"/>
          <p:cNvSpPr txBox="1"/>
          <p:nvPr/>
        </p:nvSpPr>
        <p:spPr>
          <a:xfrm>
            <a:off x="10096500" y="6896100"/>
            <a:ext cx="6477000" cy="1066800"/>
          </a:xfrm>
          <a:prstGeom prst="rect">
            <a:avLst/>
          </a:prstGeom>
          <a:noFill/>
          <a:ln>
            <a:noFill/>
          </a:ln>
        </p:spPr>
        <p:txBody>
          <a:bodyPr wrap="square" lIns="0" tIns="0" rIns="0" bIns="0" anchor="ctr"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المستودع على GitHub</a:t>
            </a:r>
          </a:p>
          <a:p>
            <a:pPr marL="0" indent="0" rtl="1" algn="r">
              <a:lnSpc>
                <a:spcPct val="115000"/>
              </a:lnSpc>
              <a:spcBef>
                <a:spcPts val="600"/>
              </a:spcBef>
              <a:spcAft>
                <a:spcPts val="0"/>
              </a:spcAft>
              <a:buNone/>
            </a:pPr>
            <a:r>
              <a:rPr lang="ar-SA" sz="1600" b="0" dirty="0">
                <a:solidFill>
                  <a:srgbClr val="CBCFE6"/>
                </a:solidFill>
                <a:latin typeface="Readex Pro"/>
                <a:ea typeface="Readex Pro"/>
                <a:cs typeface="Readex Pro"/>
                <a:sym typeface="Readex Pro"/>
              </a:rPr>
              <a:t>الكود والتقييم الكامل (docs/evaluation.md) والمصادر (SOURCES.md)</a:t>
            </a:r>
          </a:p>
        </p:txBody>
      </p:sp>
      <p:sp>
        <p:nvSpPr>
          <p:cNvPr id="3009" name="deck 3009"/>
          <p:cNvSpPr txBox="1"/>
          <p:nvPr/>
        </p:nvSpPr>
        <p:spPr>
          <a:xfrm>
            <a:off x="1714500" y="6896100"/>
            <a:ext cx="8191500" cy="1066800"/>
          </a:xfrm>
          <a:prstGeom prst="rect">
            <a:avLst/>
          </a:prstGeom>
          <a:noFill/>
          <a:ln>
            <a:noFill/>
          </a:ln>
        </p:spPr>
        <p:txBody>
          <a:bodyPr wrap="square" lIns="0" tIns="0" rIns="0" bIns="0" anchor="ctr" rtlCol="1">
            <a:noAutofit/>
          </a:bodyPr>
          <a:lstStyle/>
          <a:p>
            <a:pPr marL="0" indent="0" rtl="0" algn="l">
              <a:lnSpc>
                <a:spcPct val="100000"/>
              </a:lnSpc>
              <a:spcBef>
                <a:spcPts val="0"/>
              </a:spcBef>
              <a:spcAft>
                <a:spcPts val="0"/>
              </a:spcAft>
              <a:buNone/>
            </a:pPr>
            <a:r>
              <a:rPr lang="ar-SA" sz="2200" b="1" dirty="0">
                <a:solidFill>
                  <a:srgbClr val="2EF2C2"/>
                </a:solidFill>
                <a:latin typeface="Readex Pro"/>
                <a:ea typeface="Readex Pro"/>
                <a:cs typeface="Readex Pro"/>
                <a:sym typeface="Readex Pro"/>
              </a:rPr>
              <a:t>https://github.com/MidadeAITeam/shahada-theislam</a:t>
            </a:r>
          </a:p>
        </p:txBody>
      </p:sp>
      <p:sp>
        <p:nvSpPr>
          <p:cNvPr id="3010" name="deck 3010"/>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800" b="1" dirty="0">
                <a:solidFill>
                  <a:srgbClr val="2EF2C2"/>
                </a:solidFill>
                <a:latin typeface="Readex Pro"/>
                <a:ea typeface="Readex Pro"/>
                <a:cs typeface="Readex Pro"/>
                <a:sym typeface="Readex Pro"/>
              </a:rPr>
              <a:t>في ‎3‎ دقائق: </a:t>
            </a:r>
            <a:r>
              <a:rPr lang="ar-SA" sz="1800" b="0" dirty="0">
                <a:solidFill>
                  <a:srgbClr val="F2F4FF"/>
                </a:solidFill>
                <a:latin typeface="Readex Pro"/>
                <a:ea typeface="Readex Pro"/>
                <a:cs typeface="Readex Pro"/>
                <a:sym typeface="Readex Pro"/>
              </a:rPr>
              <a:t>«ابدأ رحلتك» ← اسأل «كيف أتوضأ؟» ← اسأل سؤالاً شخصياً فيُحال إلى مرشد ← «تصفّح الكتاب كاملاً» ← افتح الطلب في منصة المرشدين</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لا تكون الشهادتان آخرَ رسالة… بل أوّلَ درس. نسأل الله الثبات لمن نطق بهما</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shahada.theislam.chat  ·  github.com/MidadeAITeam/shahada-theislam</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
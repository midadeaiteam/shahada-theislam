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slide+xml" PartName="/ppt/slides/slide1.xml"/>
  <Override ContentType="application/vnd.openxmlformats-officedocument.presentationml.notesSlide+xml" PartName="/ppt/notesSlides/notesSlide1.xml"/>
  <Override ContentType="application/vnd.openxmlformats-officedocument.presentationml.slide+xml" PartName="/ppt/slides/slide2.xml"/>
  <Override ContentType="application/vnd.openxmlformats-officedocument.presentationml.notesSlide+xml" PartName="/ppt/notesSlides/notesSlide2.xml"/>
  <Override ContentType="application/vnd.openxmlformats-officedocument.presentationml.slide+xml" PartName="/ppt/slides/slide3.xml"/>
  <Override ContentType="application/vnd.openxmlformats-officedocument.presentationml.notesSlide+xml" PartName="/ppt/notesSlides/notesSlide3.xml"/>
  <Override ContentType="application/vnd.openxmlformats-officedocument.presentationml.slide+xml" PartName="/ppt/slides/slide4.xml"/>
  <Override ContentType="application/vnd.openxmlformats-officedocument.presentationml.notesSlide+xml" PartName="/ppt/notesSlides/notesSlide4.xml"/>
  <Override ContentType="application/vnd.openxmlformats-officedocument.presentationml.slide+xml" PartName="/ppt/slides/slide5.xml"/>
  <Override ContentType="application/vnd.openxmlformats-officedocument.presentationml.notesSlide+xml" PartName="/ppt/notesSlides/notesSlide5.xml"/>
  <Override ContentType="application/vnd.openxmlformats-officedocument.presentationml.slide+xml" PartName="/ppt/slides/slide6.xml"/>
  <Override ContentType="application/vnd.openxmlformats-officedocument.presentationml.notesSlide+xml" PartName="/ppt/notesSlides/notesSlide6.xml"/>
  <Override ContentType="application/vnd.openxmlformats-officedocument.presentationml.slide+xml" PartName="/ppt/slides/slide7.xml"/>
  <Override ContentType="application/vnd.openxmlformats-officedocument.presentationml.notesSlide+xml" PartName="/ppt/notesSlides/notesSlide7.xml"/>
  <Override ContentType="application/vnd.openxmlformats-officedocument.presentationml.slide+xml" PartName="/ppt/slides/slide8.xml"/>
  <Override ContentType="application/vnd.openxmlformats-officedocument.presentationml.notesSlide+xml" PartName="/ppt/notesSlides/notesSlide8.xml"/>
  <Override ContentType="application/vnd.openxmlformats-officedocument.presentationml.slide+xml" PartName="/ppt/slides/slide9.xml"/>
  <Override ContentType="application/vnd.openxmlformats-officedocument.presentationml.notesSlide+xml" PartName="/ppt/notesSlides/notesSlide9.xml"/>
  <Override ContentType="application/vnd.openxmlformats-officedocument.presentationml.slide+xml" PartName="/ppt/slides/slide10.xml"/>
  <Override ContentType="application/vnd.openxmlformats-officedocument.presentationml.notesSlide+xml" PartName="/ppt/notesSlides/notesSlide10.xml"/>
  <Override ContentType="application/vnd.openxmlformats-officedocument.presentationml.slide+xml" PartName="/ppt/slides/slide11.xml"/>
  <Override ContentType="application/vnd.openxmlformats-officedocument.presentationml.notesSlide+xml" PartName="/ppt/notesSlides/notesSlide11.xml"/>
  <Override ContentType="application/vnd.openxmlformats-officedocument.presentationml.slide+xml" PartName="/ppt/slides/slide12.xml"/>
  <Override ContentType="application/vnd.openxmlformats-officedocument.presentationml.notesSlide+xml" PartName="/ppt/notesSlides/notesSlide12.xml"/>
  <Override ContentType="application/vnd.openxmlformats-officedocument.presentationml.slide+xml" PartName="/ppt/slides/slide13.xml"/>
  <Override ContentType="application/vnd.openxmlformats-officedocument.presentationml.notesSlide+xml" PartName="/ppt/notesSlides/notesSlide13.xml"/>
  <Override ContentType="application/vnd.openxmlformats-officedocument.presentationml.slide+xml" PartName="/ppt/slides/slide14.xml"/>
  <Override ContentType="application/vnd.openxmlformats-officedocument.presentationml.notesSlide+xml" PartName="/ppt/notesSlides/notesSlide14.xml"/>
  <Override ContentType="application/vnd.openxmlformats-officedocument.presentationml.slide+xml" PartName="/ppt/slides/slide15.xml"/>
  <Override ContentType="application/vnd.openxmlformats-officedocument.presentationml.notesSlide+xml" PartName="/ppt/notesSlides/notesSlide15.xml"/>
  <Override ContentType="application/vnd.openxmlformats-officedocument.presentationml.slide+xml" PartName="/ppt/slides/slide16.xml"/>
  <Override ContentType="application/vnd.openxmlformats-officedocument.presentationml.notesSlide+xml" PartName="/ppt/notesSlides/notesSlide16.xml"/>
  <Override ContentType="application/vnd.openxmlformats-officedocument.presentationml.slide+xml" PartName="/ppt/slides/slide17.xml"/>
  <Override ContentType="application/vnd.openxmlformats-officedocument.presentationml.notesSlide+xml" PartName="/ppt/notesSlides/notesSlide17.xml"/>
  <Override ContentType="application/vnd.openxmlformats-officedocument.presentationml.slide+xml" PartName="/ppt/slides/slide18.xml"/>
  <Override ContentType="application/vnd.openxmlformats-officedocument.presentationml.notesSlide+xml" PartName="/ppt/notesSlides/notesSlide18.xml"/>
  <Override ContentType="application/vnd.openxmlformats-officedocument.presentationml.slide+xml" PartName="/ppt/slides/slide19.xml"/>
  <Override ContentType="application/vnd.openxmlformats-officedocument.presentationml.notesSlide+xml" PartName="/ppt/notesSlides/notesSlide19.xml"/>
  <Override ContentType="application/vnd.openxmlformats-officedocument.presentationml.slide+xml" PartName="/ppt/slides/slide20.xml"/>
  <Override ContentType="application/vnd.openxmlformats-officedocument.presentationml.notesSlide+xml" PartName="/ppt/notesSlides/notesSlide20.xml"/>
  <Override ContentType="application/vnd.openxmlformats-officedocument.presentationml.slide+xml" PartName="/ppt/slides/slide21.xml"/>
  <Override ContentType="application/vnd.openxmlformats-officedocument.presentationml.notesSlide+xml" PartName="/ppt/notesSlides/notesSlide21.xml"/>
  <Override ContentType="application/vnd.openxmlformats-officedocument.presentationml.slide+xml" PartName="/ppt/slides/slide22.xml"/>
  <Override ContentType="application/vnd.openxmlformats-officedocument.presentationml.notesSlide+xml" PartName="/ppt/notesSlides/notesSlide22.xml"/>
  <Override ContentType="application/vnd.openxmlformats-officedocument.presentationml.slide+xml" PartName="/ppt/slides/slide23.xml"/>
  <Override ContentType="application/vnd.openxmlformats-officedocument.presentationml.notesSlide+xml" PartName="/ppt/notesSlides/notesSlide2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7" Type="http://schemas.openxmlformats.org/officeDocument/2006/relationships/font" Target="fonts/Urbanist-regular.fntdata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Deck1" Type="http://schemas.openxmlformats.org/officeDocument/2006/relationships/slide" Target="slides/slide1.xml"/><Relationship Id="rIdDeck2" Type="http://schemas.openxmlformats.org/officeDocument/2006/relationships/slide" Target="slides/slide2.xml"/><Relationship Id="rIdDeck3" Type="http://schemas.openxmlformats.org/officeDocument/2006/relationships/slide" Target="slides/slide3.xml"/><Relationship Id="rIdDeck4" Type="http://schemas.openxmlformats.org/officeDocument/2006/relationships/slide" Target="slides/slide4.xml"/><Relationship Id="rIdDeck5" Type="http://schemas.openxmlformats.org/officeDocument/2006/relationships/slide" Target="slides/slide5.xml"/><Relationship Id="rIdDeck6" Type="http://schemas.openxmlformats.org/officeDocument/2006/relationships/slide" Target="slides/slide6.xml"/><Relationship Id="rIdDeck7" Type="http://schemas.openxmlformats.org/officeDocument/2006/relationships/slide" Target="slides/slide7.xml"/><Relationship Id="rIdDeck8" Type="http://schemas.openxmlformats.org/officeDocument/2006/relationships/slide" Target="slides/slide8.xml"/><Relationship Id="rIdDeck9" Type="http://schemas.openxmlformats.org/officeDocument/2006/relationships/slide" Target="slides/slide9.xml"/><Relationship Id="rIdDeck10" Type="http://schemas.openxmlformats.org/officeDocument/2006/relationships/slide" Target="slides/slide10.xml"/><Relationship Id="rIdDeck11" Type="http://schemas.openxmlformats.org/officeDocument/2006/relationships/slide" Target="slides/slide11.xml"/><Relationship Id="rIdDeck12" Type="http://schemas.openxmlformats.org/officeDocument/2006/relationships/slide" Target="slides/slide12.xml"/><Relationship Id="rIdDeck13" Type="http://schemas.openxmlformats.org/officeDocument/2006/relationships/slide" Target="slides/slide13.xml"/><Relationship Id="rIdDeck14" Type="http://schemas.openxmlformats.org/officeDocument/2006/relationships/slide" Target="slides/slide14.xml"/><Relationship Id="rIdDeck15" Type="http://schemas.openxmlformats.org/officeDocument/2006/relationships/slide" Target="slides/slide15.xml"/><Relationship Id="rIdDeck16" Type="http://schemas.openxmlformats.org/officeDocument/2006/relationships/slide" Target="slides/slide16.xml"/><Relationship Id="rIdDeck17" Type="http://schemas.openxmlformats.org/officeDocument/2006/relationships/slide" Target="slides/slide17.xml"/><Relationship Id="rIdDeck18" Type="http://schemas.openxmlformats.org/officeDocument/2006/relationships/slide" Target="slides/slide18.xml"/><Relationship Id="rIdDeck19" Type="http://schemas.openxmlformats.org/officeDocument/2006/relationships/slide" Target="slides/slide19.xml"/><Relationship Id="rIdDeck20" Type="http://schemas.openxmlformats.org/officeDocument/2006/relationships/slide" Target="slides/slide20.xml"/><Relationship Id="rIdDeck21" Type="http://schemas.openxmlformats.org/officeDocument/2006/relationships/slide" Target="slides/slide21.xml"/><Relationship Id="rIdDeck22" Type="http://schemas.openxmlformats.org/officeDocument/2006/relationships/slide" Target="slides/slide22.xml"/><Relationship Id="rIdDeck23" Type="http://schemas.openxmlformats.org/officeDocument/2006/relationships/slide" Target="slides/slide2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نحن جمعية أصول، صاحبة منصة theislam.chat للحوار مع غير المسلمين. مشروعنا: ما بعد الشهادة. الرابط يعمل الآن ويبدأ من لحظة الشهادة مباشرة.</a:t>
            </a:r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16,653 محادثة، و166 شخصاً أعلنوا إسلامهم. 89 محادثة انتهت خلال رسالتين، و11 فقط تركوا وسيلة تواصل. و22 سألوا كيف يتوضؤون أو يصلون، ولا تملك المنصة جواباً موثّقاً لهم.</a:t>
            </a:r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المستفيد مسلم جديد في لحظة حساسة. الممارسة الحالية تهنئة ثم طلب رقم هاتف، ومن لا يترك رقمه تنقطع رحلته.</a:t>
            </a:r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(30 ث) ست خطوات: الشهادة، بطاقة البداية، الدرس الأول، ماذا أتعلم أولاً، دروس وأسئلة حرة، ثم إنسان عند الحاجة. كلها في المحادثة نفسها.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اخترنا المسار الثالث: رحلة معرفية متدرجة ومستمرة. معيار نجاحه: ملاءمة المحتوى وتسلسله، واستمرار الرحلة، والانتقال المنطقي، والإحالة إلى الإنسان، مع الخصوصية. وهذا ما يحققه كل صف في الجدول، ومعه دليله.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بطاقة البداية بما قاله المستخدم حرفياً، ثم الدرس الأول وكل جملة مربوطة بصفحتها، ثم خطوات الوضوء كما في الكتاب.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سؤال من الكتاب يُجاب بمصادره. سؤال خارج الكتاب يُرفض بوضوح. وسؤال عن حالة شخصية يذهب إلى إنسان بموافقة المستخدم.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الكتاب كله يُقرأ صفحة صفحة، وكل مصدر في الأجوبة يفتح صفحته. وفي منصة المرشدين تظهر الأزمات أولاً مع رقم الطوارئ في بلد المتعلم.</a:t>
            </a:r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حول الرحلة: قارئ للكتاب كله، وحساب بتذكير يومي، ومنصة للمرشدين بصندوق حالات وتنبيه أزمات ومؤقتات، ومحادثة لكل حالة يصل ردها إلى المتعلم، و«استمع وردّد»، وأمان الجلسات وحدود الطلبات.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الموجّه يقرر: يُجاب أم يُحال. الاسترجاع الهجين يجد المقاطع. النموذج يكتب الجواب ويسند كل جملة إلى مقطع. الفاحص كود لا نموذج: يحذف ما لا سند له ويدرج الاقتباسات والآيات من مصادرها. لا تظهر جملة قبل اجتياز الفاحص.</a:t>
            </a:r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ما يضيفه الذكاء الاصطناعي: فهم المتعلم بلغته، وإيجاد المقاطع بالمعنى، والشرح المسند. أما النص الديني فيدرجه الكود، والحكم الشخصي للإنسان.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الخوارزميات: موجّه بإشارتين، واسترجاع هجين BM25 مع المتجهات، وتوليد مقيّد بإسناد لكل جملة، وفاحص بالكود، وتقييم بنموذج حَكَم. والنماذج: gemini-3.8-flash للتوليد، وflash-lite للموجّه، وgemini-embedding-2، وgemini-3.1-pro للحكم، وgpt-5.4-mini للحوار.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(25 ث) الثوابت تُعرض بنص الكتاب، والخلاف بقول الكتاب مع سعة، وما ليس في الكتاب امتناع وإحالة، والفتوى الشخصية والأزمة إلى إنسان، والطوارئ أولاً.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المرجع الوحيد كتاب «الوجيز» لمركز أصول، وكل مقطع بصفحته وبصمته. الآيات من Tanzil والمعاني من QuranEnc يدرجها الكود. وسجل المراجعة في review.json، والدرس غير المعتمد يُعرض بنص الكتاب فقط.</a:t>
            </a:r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على المجموعة المثبتة: 200 سؤال × 3 محاولات: الاقتباسات مطابقة 100% مقابل 92.1% بلا فاحص. الحالات الحرجة: لم يُعطَ حكم في 98.9% مع عرض مرشد. ونقول بوضوح ما لم نبلغه: الإحالة المباشرة 81% مقابل هدف 100%.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(35 ث) بعد التدقيق الشامل أعدنا تشغيل المجموعة المثبتة: الأجوبة المسندة 100%، والاقتباسات 100%، ولا حكم في 30 من 30 حالة حرجة. وعلى 150 سؤالاً لم يرها النظام قط: 88% سلوك صحيح، وصفر أحكام مختلقة، و51 من 51 في الإحالة والأزمات. ونقول بوضوح: أسئلة التدقيق والمجموعة K استُخدمت للضبط، والمجموعة M لم تُستخدم.</a:t>
            </a:r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الفرق عن البدائل: يبدأ التعليم فوراً في المكان نفسه، ويستمر، ولا ينسب إلى الكتاب ما ليس فيه.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(15 ث) المصدر واحد: الوجيز بعشر طبعات. والقرآن من Tanzil وترجمات QuranEnc. وبقية اللغات ترى الأصل مع شرح مترجم بوسم واضح.</a:t>
            </a:r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يعمل الآن: الرحلة كاملة، والحساب والتذكير، ومنصة المرشدين، ومزوّد احتياطي. وبعد التحدي: اعتماد بقية الدروس، وتشغيل المرشدين الحقيقيين، والمراجعة الأسبوعية، والقياس المجمّع، والاختبار مع مسلمين جدد.</a:t>
            </a:r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(20 ث) الجديد هو الوحدة كلها ومنصة المرشدين ورقعة دمج من 430 سطراً. المنصة نفسها قائمة قبل التحدي ولا نطلب تقييمها.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(10 ث) الفريق: قائد، ومهندس ذكاء اصطناعي، ومطوّر خلفية، ومطوّر واجهات، ومختص شرعي.</a:t>
            </a:r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(10 ث) الروابط: التجربة الحية من لحظة الشهادة، ومنصة المرشدين بحساب المشرف التجريبي، والمستودع العام بالكود والتقييم.</a:t>
            </a:r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rtl="1" algn="r"/>
            <a:r>
              <a:rPr lang="ar-SA" sz="1200"/>
              <a:t>شكراً. التجربة الحية على الرابط، والمستودع والتقرير الكامل متاحان.</a:t>
            </a:r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1.png"/><Relationship Id="rId101" Type="http://schemas.openxmlformats.org/officeDocument/2006/relationships/image" Target="../media/deck2.png"/><Relationship Id="rId102" Type="http://schemas.openxmlformats.org/officeDocument/2006/relationships/image" Target="../media/deck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4.png"/><Relationship Id="rId101" Type="http://schemas.openxmlformats.org/officeDocument/2006/relationships/image" Target="../media/deck5.png"/><Relationship Id="rId102" Type="http://schemas.openxmlformats.org/officeDocument/2006/relationships/image" Target="../media/deck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100" Type="http://schemas.openxmlformats.org/officeDocument/2006/relationships/image" Target="../media/deck7.png"/><Relationship Id="rId101" Type="http://schemas.openxmlformats.org/officeDocument/2006/relationships/image" Target="../media/deck8.png"/><Relationship Id="rId102" Type="http://schemas.openxmlformats.org/officeDocument/2006/relationships/image" Target="../media/deck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143250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theislam.chat</a:t>
            </a:r>
            <a:endParaRPr/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54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بعد الشهادة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1106150" y="9115425"/>
            <a:ext cx="571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جمعية أصول · المسار ‎03‎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‎6‎ أكتوبر ‎2026‎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7791450" y="5191125"/>
            <a:ext cx="904875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رحلة تعليمية تبدأ لحظة إسلام المستخدم، في المحادثة نفسها وبلغته: دروس من كتاب «الوجيز»، وجواب موثّق بالصفحة، وإنسان عند الحاجة.</a:t>
            </a:r>
          </a:p>
          <a:p>
            <a:pPr marL="0" indent="0" rtl="1" algn="r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الرحلة تنقطع عند الشهادة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تصدير قاعدة بيانات المنصة في ‎8‎ سبتمبر ‎2026‎ · أعداد مجمّعة دون نص أي محادثة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‎16,653‎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محادثة على المنصة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‎150‎ دولة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‎166‎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أعلنوا إسلامهم في المحادثة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تهنئة، ثم طلب وسيلة تواصل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‎89‎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انتهت خلال رسالتين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‎54%‎ من ‎166‎ بعد الشهادة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‎11‎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فقط تركوا وسيلة تواصل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‎6.6%‎ من ‎166‎</a:t>
            </a:r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‎22‎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 سألوا: كيف أتوضأ؟ كيف أصلي؟ ماذا أفعل الآن؟ والمنصة ممنوعة عمداً من تعليم العبادة من ذاكرة النموذج.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 والممارسة الحالية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مسلم جديد يحتاج جواباً الآن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شخص أعلن إسلامه للتو داخل theislam.chat، بلغته، وقد لا يكون حوله مسلمون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195387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المستفيد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في لحظة حساسة، يكتب بلغته من أي بلد، ويسأل فوراً: ماذا أفعل الآن؟ كيف أتوضأ؟ كيف أصلي؟ كيف أقرأ الفاتحة؟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الممارسة الحالية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تهنئة بسطر أو سطرين، ثم طلب وسيلة تواصل لمتابعة بشرية لاحقة. لا مسار تعليمي داخل المحادثة، وتعليم الوضوء والصلاة من ذاكرة النموذج ممنوع عمداً.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905250"/>
            <a:ext cx="4886325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285750" tIns="285750" rIns="285750" bIns="2857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ما يحدث بعدها</a:t>
            </a:r>
          </a:p>
          <a:p>
            <a:pPr marL="0" indent="0" rtl="1" algn="r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من لم يترك وسيلة تواصل انقطعت رحلته: ‎11‎ فقط من ‎166‎ تركوا وسيلة تواصل، و‎13‎ عادوا في يوم لاحق. وملف PDF أو روبوت عام لا يضمن مصدراً ولا استمراراً.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09625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1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الهدف: </a:t>
            </a:r>
            <a:r>
              <a:rPr lang="ar-SA" sz="210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أن تكون الشهادة بداية رحلة تعليم موثّقة ومستمرة في المكان نفسه، لا نهاية المحادثة.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المحادثة نفسها تصبح الفصل الدراسي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ست خطوات من لحظة الشهادة، كلها من كتاب «الوجيز» (مركز أصول) وبلغة المستخدم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4589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التهنئة يرسل البوت إشارة خفية، فتفتح الوحدة تحت الرسالة نفسها.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2398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3" name="deck 3003"/>
          <p:cNvSpPr/>
          <p:nvPr/>
        </p:nvSpPr>
        <p:spPr>
          <a:xfrm>
            <a:off x="118491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اللغة والديانة السابقة والبلد وما سأل عنه، كل حقل بجملة المستخدم نفسها. لا يُحفظ شيء قبل موافقته.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16300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5" name="deck 3005"/>
          <p:cNvSpPr/>
          <p:nvPr/>
        </p:nvSpPr>
        <p:spPr>
          <a:xfrm>
            <a:off x="92392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الدرس الأول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معنى الشهادتين. كل جملة برقم يفتح نص الكتاب وصفحته.</a:t>
            </a:r>
          </a:p>
        </p:txBody>
      </p:sp>
      <p:sp>
        <p:nvSpPr>
          <p:cNvPr id="3006" name="deck 3006"/>
          <p:cNvSpPr/>
          <p:nvPr/>
        </p:nvSpPr>
        <p:spPr>
          <a:xfrm>
            <a:off x="90201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66294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ماذا أتعلم أولاً؟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 أو الصلاة أو الفاتحة أو «لا أعرف». الكود يرتّب المسار بقواعد ثابتة.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641032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9" name="deck 3009"/>
          <p:cNvSpPr/>
          <p:nvPr/>
        </p:nvSpPr>
        <p:spPr>
          <a:xfrm>
            <a:off x="40195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دروس وأسئلة حرة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في اليوم بتذكير بالبريد، وسؤال في أي وقت يُجاب من الكتاب وحده.</a:t>
            </a:r>
          </a:p>
        </p:txBody>
      </p:sp>
      <p:sp>
        <p:nvSpPr>
          <p:cNvPr id="3010" name="deck 3010"/>
          <p:cNvSpPr/>
          <p:nvPr/>
        </p:nvSpPr>
        <p:spPr>
          <a:xfrm>
            <a:off x="3800475" y="5810250"/>
            <a:ext cx="209550" cy="22860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1" name="deck 3011"/>
          <p:cNvSpPr/>
          <p:nvPr/>
        </p:nvSpPr>
        <p:spPr>
          <a:xfrm>
            <a:off x="14097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‎06‎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مرشد أو مرشدة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للفتوى الشخصية أو الأزمة أو الحاجة العملية، ببطاقة يراها ويوافق عليها.</a:t>
            </a:r>
          </a:p>
        </p:txBody>
      </p:sp>
      <p:sp>
        <p:nvSpPr>
          <p:cNvPr id="3012" name="deck 3012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وحولها: </a:t>
            </a: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 · الحساب والتذكير اليومي · منصة المرشدين · «استمع وردّد» · تمارين تفاعلية · مراحل الجواب الحية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المسار المختار: المسار ‎03‎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التجارب التفاعلية والرحلة المعرفية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«التجارب التفاعلية والرحلة المعرفية للتعريف بالإسلام وتعلمه»، وكيف نحقق معيار نجاحه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تحسّن الفهم: أسئلة فهم وتمارين من أسئلة الكتاب بعد كل درس. ولا ندّعي قياسه لدى مسلمين جدد حقيقيين خلال مدة التحدي.</a:t>
            </a:r>
            <a:endParaRPr/>
          </a:p>
        </p:txBody>
      </p:sp>
      <p:graphicFrame>
        <p:nvGraphicFramePr>
          <p:cNvPr id="3001" name="track criteria"/>
          <p:cNvGraphicFramePr>
            <a:graphicFrameLocks noGrp="1"/>
          </p:cNvGraphicFramePr>
          <p:nvPr/>
        </p:nvGraphicFramePr>
        <p:xfrm>
          <a:off x="1409700" y="3762375"/>
          <a:ext cx="15430500" cy="4400550"/>
        </p:xfrm>
        <a:graphic>
          <a:graphicData uri="http://schemas.openxmlformats.org/drawingml/2006/table">
            <a:tbl>
              <a:tblPr rtl="1" firstRow="1" bandRow="0"/>
              <a:tblGrid>
                <a:gridCol w="3619500"/>
                <a:gridCol w="8953500"/>
                <a:gridCol w="2857500"/>
              </a:tblGrid>
              <a:tr h="4953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يطلبه معيار النجاح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يحققه المشروع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الدليل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ملاءمة المحتوى وتسلسله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منهج «الوجيز» (‎19‎ درساً): الشهادتان أولاً، ثم ما اختاره المتعلم، ثم الطهارة والصلاة، ثم ترتيب الكتاب. قواعد ثابتة في الكود.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صحيح في ‎120/120‎ رحلة محاكاة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استمرارية الرحلة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التقدم محفوظ بحساب Google أو رابط البريد، وتذكير يومي بالدرس التالي، ورد المرشد يصل إلى مساحته حين يعود.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‎30‎ متعلماً × ‎4‎ أيام عودة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الانتقال المنطقي بين المراحل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الشهادة ← بطاقة البداية ← الدرس الأول ← ماذا أتعلم أولاً ← دروس وأسئلة ← إنسان عند الحاجة.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‎84/84‎ في ‎20‎ نوعاً من محادثات الشهادة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الإحالة إلى الدعم البشري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مرشد للإخوة ومرشدة للأخوات ببطاقة يوافق عليها المتعلم، ورقم الطوارئ في بلده أولاً عند الخطر، ومنصة متابعة للفريق.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الطوارئ أولاً ‎15/15‎ و‎6/6‎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الخصوصية وعدم استنتاج السمات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يُحفظ في البطاقة إلا ما قاله المتعلم بجملته وبعد موافقته؛ والديانة السابقة في الجلسة فقط؛ وتصنيف الموجّه لا يُحفظ عليه.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تحقق بالكود من كل حقل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(‎1‎)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shahada.theislam.chat/ar?demo=shahada · لقطات من نافذة بعرض ‎1280‎ بكسل</a:t>
            </a:r>
          </a:p>
        </p:txBody>
      </p:sp>
      <p:pic>
        <p:nvPicPr>
          <p:cNvPr id="3002" name="screenshot start" descr="بطاقة البداية: كل حقل بجملة المستخدم نفسها، قابل للتعديل والحذف، ولا يُحفظ قبل «متابعة»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البداية: كل حقل بجملة المستخدم نفسها، قابل للتعديل والحذف، ولا يُحفظ قبل «متابعة»</a:t>
            </a:r>
          </a:p>
        </p:txBody>
      </p:sp>
      <p:pic>
        <p:nvPicPr>
          <p:cNvPr id="3004" name="screenshot lesson" descr="درس معنى الشهادتين: الرقم يفتح نص «الوجيز» وصفحته في لوحة جانبية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درس معنى الشهادتين: الرقم يفتح نص «الوجيز» وصفحته في لوحة جانبية</a:t>
            </a:r>
          </a:p>
        </p:txBody>
      </p:sp>
      <p:pic>
        <p:nvPicPr>
          <p:cNvPr id="3006" name="screenshot wudu" descr="الوضوء: الخطوات بلفظ الكتاب وترتيبه، ثم تمارين من أسئلة الكتاب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الوضوء: الخطوات بلفظ الكتاب وترتيبه، ثم تمارين من أسئلة الكتاب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(‎2‎)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الأسئلة: «Can I pray if I don't know Arabic yet?» · «ما رأيك في العملات الرقمية؟» · «زوجتي مسيحية، هل زواجي صحيح بعد إسلامي؟»</a:t>
            </a:r>
          </a:p>
        </p:txBody>
      </p:sp>
      <p:pic>
        <p:nvPicPr>
          <p:cNvPr id="3002" name="screenshot answer" descr="سؤال بالإنجليزية: خطوات الصلاة من الكتاب حرفياً بأرقام مصادرها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بالإنجليزية: خطوات الصلاة من الكتاب حرفياً بأرقام مصادرها</a:t>
            </a:r>
          </a:p>
        </p:txBody>
      </p:sp>
      <p:pic>
        <p:nvPicPr>
          <p:cNvPr id="3004" name="screenshot refusal" descr="ليس في الكتاب: امتناع صريح وزر «تحدث إلى إنسان»، لا جواب من ذاكرة النموذج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ليس في الكتاب: امتناع صريح وزر «تحدث إلى إنسان»، لا جواب من ذاكرة النموذج</a:t>
            </a:r>
          </a:p>
        </p:txBody>
      </p:sp>
      <p:pic>
        <p:nvPicPr>
          <p:cNvPr id="3006" name="screenshot dialog" descr="الإحالة: يختار مرشداً أو مرشدة، ويرى كل ما سيُرسل قبل أن يوافق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الإحالة: يختار مرشداً أو مرشدة، ويرى كل ما سيُرسل قبل أن يوافق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من الواجهة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لقطات حقيقية من النسخة العاملة (‎3‎)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 txBox="1"/>
          <p:nvPr/>
        </p:nvSpPr>
        <p:spPr>
          <a:xfrm>
            <a:off x="1409700" y="2781300"/>
            <a:ext cx="15430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shahada.theislam.chat/ar?demo=shahada · shahada.theislam.chat/mentor</a:t>
            </a:r>
          </a:p>
        </p:txBody>
      </p:sp>
      <p:pic>
        <p:nvPicPr>
          <p:cNvPr id="3002" name="screenshot book" descr="قارئ الكتاب كاملاً: صفحة صفحة بالفهرس والانتقال إلى صفحة، ومربوط بالدرس الذي فيها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1887200" y="3286125"/>
            <a:ext cx="4953000" cy="4953000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3" name="deck 3003"/>
          <p:cNvSpPr txBox="1"/>
          <p:nvPr/>
        </p:nvSpPr>
        <p:spPr>
          <a:xfrm>
            <a:off x="118872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كاملاً: صفحة صفحة بالفهرس والانتقال إلى صفحة، ومربوط بالدرس الذي فيها</a:t>
            </a:r>
          </a:p>
        </p:txBody>
      </p:sp>
      <p:pic>
        <p:nvPicPr>
          <p:cNvPr id="3004" name="screenshot inbox" descr="منصة المرشدين: صندوق الحالات، الأزمات أولاً، وتنبيه الأزمة التي بلا مرشد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648450" y="3286125"/>
            <a:ext cx="4953000" cy="4714301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5" name="deck 3005"/>
          <p:cNvSpPr txBox="1"/>
          <p:nvPr/>
        </p:nvSpPr>
        <p:spPr>
          <a:xfrm>
            <a:off x="664845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المرشدين: صندوق الحالات، الأزمات أولاً، وتنبيه الأزمة التي بلا مرشد</a:t>
            </a:r>
          </a:p>
        </p:txBody>
      </p:sp>
      <p:pic>
        <p:nvPicPr>
          <p:cNvPr id="3006" name="screenshot crisis" descr="حالة أزمة: رقم الطوارئ في بلد المتعلم، وبطاقة الإحالة، والمحادثة والردود الجاهزة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409700" y="3286125"/>
            <a:ext cx="4953000" cy="3952135"/>
          </a:xfrm>
          <a:prstGeom prst="roundRect">
            <a:avLst>
              <a:gd name="adj" fmla="val 2500"/>
            </a:avLst>
          </a:prstGeom>
          <a:ln w="19050">
            <a:solidFill>
              <a:srgbClr val="2EF2C2"/>
            </a:solidFill>
          </a:ln>
        </p:spPr>
      </p:pic>
      <p:sp>
        <p:nvSpPr>
          <p:cNvPr id="3007" name="deck 3007"/>
          <p:cNvSpPr txBox="1"/>
          <p:nvPr/>
        </p:nvSpPr>
        <p:spPr>
          <a:xfrm>
            <a:off x="1409700" y="8372475"/>
            <a:ext cx="4953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حالة أزمة: رقم الطوارئ في بلد المتعلم، وبطاقة الإحالة، والمحادثة والردود الجاهزة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بُني حول الرحلة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ستة أجزاء تجعل الرحلة تستمر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كلها تعمل الآن على الموقع الحي، وبُنيت خلال التحدي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4589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قارئ الكتاب كاملاً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صفحة صفحة بفهرس وانتقال إلى صفحة، ومربوط من كل مصدر في الدروس والأجوبة: «افتح في الكتاب».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18491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الحساب والتذكير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دخول وخروج بحساب Google أو برابط في البريد، وتذكير يومي بالدرس في الساعة التي يختارها، و«احذف بياناتي».</a:t>
            </a:r>
          </a:p>
        </p:txBody>
      </p:sp>
      <p:sp>
        <p:nvSpPr>
          <p:cNvPr id="3003" name="deck 3003"/>
          <p:cNvSpPr/>
          <p:nvPr/>
        </p:nvSpPr>
        <p:spPr>
          <a:xfrm>
            <a:off x="92392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صندوق حالات بالبحث والإغلاق الجماعي، وتنبيه الأزمات، ومؤقتات زمن الاستجابة، وإحصاءات للمشرف.</a:t>
            </a:r>
          </a:p>
        </p:txBody>
      </p:sp>
      <p:sp>
        <p:nvSpPr>
          <p:cNvPr id="3004" name="deck 3004"/>
          <p:cNvSpPr/>
          <p:nvPr/>
        </p:nvSpPr>
        <p:spPr>
          <a:xfrm>
            <a:off x="66294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محادثة الحالة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سلسلة واحدة لكل حالة تبقى بعد إعادة التحميل، ورد المرشد يصل إلى المتعلم في مساحته مع تنبيه عند عودته.</a:t>
            </a:r>
          </a:p>
        </p:txBody>
      </p:sp>
      <p:sp>
        <p:nvSpPr>
          <p:cNvPr id="3005" name="deck 3005"/>
          <p:cNvSpPr/>
          <p:nvPr/>
        </p:nvSpPr>
        <p:spPr>
          <a:xfrm>
            <a:off x="401955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استمع وردّد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الفاتحة وقصار السور وما يُقرأ في الصلاة، آيةً آية بالمصحف المعلّم (المنشاوي) والعفاسي، ثم يردّد المتعلم.</a:t>
            </a:r>
          </a:p>
        </p:txBody>
      </p:sp>
      <p:sp>
        <p:nvSpPr>
          <p:cNvPr id="3006" name="deck 3006"/>
          <p:cNvSpPr/>
          <p:nvPr/>
        </p:nvSpPr>
        <p:spPr>
          <a:xfrm>
            <a:off x="1409700" y="3762375"/>
            <a:ext cx="2381250" cy="433387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‎06‎</a:t>
            </a:r>
          </a:p>
          <a:p>
            <a:pPr marL="0" indent="0" rtl="1" algn="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الأمان</a:t>
            </a:r>
          </a:p>
          <a:p>
            <a:pPr marL="0" indent="0" rtl="1" algn="r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جلسات المرشدين على الخادم، وحدود لعدد الطلبات، ومفاتيح النماذج على الخادم فقط، ولا نص محادثة حقيقية في المستودع.</a:t>
            </a:r>
          </a:p>
        </p:txBody>
      </p:sp>
      <p:sp>
        <p:nvSpPr>
          <p:cNvPr id="3007" name="deck 3007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9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وأيضاً: </a:t>
            </a: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مراحل الجواب الحية · تمارين تفاعلية من أسئلة الكتاب · خطوات الوضوء والغسل والصلاة بلفظ الكتاب كل مرة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آلية العمل والذكاء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يُصنع الجواب؟ خمس مراحل يحرسها الكود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يشرح فقط؛ النصوص المقتبسة والآيات يدرجها الكود من مصادرها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3982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الموجّه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إشارتان مستقلتان: قائمة ثابتة لعبارات الأزمة بعدة لغات، وتصنيف النموذج: منهج، خارج الكتاب، فتوى شخصية، أزمة، حاجة عملية، خلاف معتبر، غير متأكد. أيّهما أحال، أُحيل.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77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gemini-‎3.5‎-flash-lite</a:t>
            </a:r>
          </a:p>
        </p:txBody>
      </p:sp>
      <p:sp>
        <p:nvSpPr>
          <p:cNvPr id="3003" name="deck 3003"/>
          <p:cNvSpPr/>
          <p:nvPr/>
        </p:nvSpPr>
        <p:spPr>
          <a:xfrm>
            <a:off x="137160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4" name="deck 3004"/>
          <p:cNvSpPr/>
          <p:nvPr/>
        </p:nvSpPr>
        <p:spPr>
          <a:xfrm>
            <a:off x="108394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الهجين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نصي ودلالي معاً في مقاطع «الوجيز»، مع ترجمة السؤال عند الحاجة. إن لم يبلغ مقطع حد الصلة: «ليس في الكتاب».</a:t>
            </a:r>
          </a:p>
        </p:txBody>
      </p:sp>
      <p:sp>
        <p:nvSpPr>
          <p:cNvPr id="3005" name="deck 3005"/>
          <p:cNvSpPr/>
          <p:nvPr/>
        </p:nvSpPr>
        <p:spPr>
          <a:xfrm>
            <a:off x="109347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BM‎25‎ + gemini-embedding-‎2‎</a:t>
            </a:r>
          </a:p>
        </p:txBody>
      </p:sp>
      <p:sp>
        <p:nvSpPr>
          <p:cNvPr id="3006" name="deck 3006"/>
          <p:cNvSpPr/>
          <p:nvPr/>
        </p:nvSpPr>
        <p:spPr>
          <a:xfrm>
            <a:off x="105727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07" name="deck 3007"/>
          <p:cNvSpPr/>
          <p:nvPr/>
        </p:nvSpPr>
        <p:spPr>
          <a:xfrm>
            <a:off x="76962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التوليد المقيّد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يكتب النموذج الجواب بلغة المستخدم، وبعد كل جملة معرّف المقطع الذي يسندها، ولا يكتب اقتباساً ولا آية.</a:t>
            </a:r>
          </a:p>
        </p:txBody>
      </p:sp>
      <p:sp>
        <p:nvSpPr>
          <p:cNvPr id="3008" name="deck 3008"/>
          <p:cNvSpPr/>
          <p:nvPr/>
        </p:nvSpPr>
        <p:spPr>
          <a:xfrm>
            <a:off x="77914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gemini-‎3.8‎-flash</a:t>
            </a:r>
          </a:p>
        </p:txBody>
      </p:sp>
      <p:sp>
        <p:nvSpPr>
          <p:cNvPr id="3009" name="deck 3009"/>
          <p:cNvSpPr/>
          <p:nvPr/>
        </p:nvSpPr>
        <p:spPr>
          <a:xfrm>
            <a:off x="742950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0" name="deck 3010"/>
          <p:cNvSpPr/>
          <p:nvPr/>
        </p:nvSpPr>
        <p:spPr>
          <a:xfrm>
            <a:off x="455295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الفاحص (كود)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يحذف كل جملة بلا مقطع مسترجَع، ويطابق كل اقتباس بنص الكتاب، ويدرج الآيات من Tanzil. إن حُذف أكثر من الثلث أعاد التوليد مرة، ثم يعتذر ويعرض مرشداً.</a:t>
            </a:r>
          </a:p>
        </p:txBody>
      </p:sp>
      <p:sp>
        <p:nvSpPr>
          <p:cNvPr id="3011" name="deck 3011"/>
          <p:cNvSpPr/>
          <p:nvPr/>
        </p:nvSpPr>
        <p:spPr>
          <a:xfrm>
            <a:off x="464820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قواعد ثابتة، دون نموذج</a:t>
            </a:r>
          </a:p>
        </p:txBody>
      </p:sp>
      <p:sp>
        <p:nvSpPr>
          <p:cNvPr id="3012" name="deck 3012"/>
          <p:cNvSpPr/>
          <p:nvPr/>
        </p:nvSpPr>
        <p:spPr>
          <a:xfrm>
            <a:off x="4286250" y="5857875"/>
            <a:ext cx="247650" cy="247650"/>
          </a:xfrm>
          <a:prstGeom prst="leftArrow">
            <a:avLst/>
          </a:prstGeom>
          <a:solidFill>
            <a:srgbClr val="2EF2C2">
              <a:alpha val="85000"/>
            </a:srgbClr>
          </a:solidFill>
          <a:ln>
            <a:noFill/>
          </a:ln>
        </p:spPr>
      </p:sp>
      <p:sp>
        <p:nvSpPr>
          <p:cNvPr id="3013" name="deck 3013"/>
          <p:cNvSpPr/>
          <p:nvPr/>
        </p:nvSpPr>
        <p:spPr>
          <a:xfrm>
            <a:off x="1409700" y="3762375"/>
            <a:ext cx="285750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190500" tIns="190500" rIns="190500" bIns="1905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 </a:t>
            </a:r>
            <a:r>
              <a:rPr lang="ar-SA" sz="23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العرض</a:t>
            </a:r>
          </a:p>
          <a:p>
            <a:pPr marL="0" indent="0" rtl="1" algn="r">
              <a:lnSpc>
                <a:spcPct val="122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الجواب بمصادره القابلة للنقر، ورابط درسه، ومراحل حية أثناء الانتظار، وزر «أبلغ عن خطأ».</a:t>
            </a:r>
          </a:p>
        </p:txBody>
      </p:sp>
      <p:sp>
        <p:nvSpPr>
          <p:cNvPr id="3014" name="deck 3014"/>
          <p:cNvSpPr/>
          <p:nvPr/>
        </p:nvSpPr>
        <p:spPr>
          <a:xfrm>
            <a:off x="1504950" y="7677150"/>
            <a:ext cx="2667000" cy="381000"/>
          </a:xfrm>
          <a:prstGeom prst="roundRect">
            <a:avLst>
              <a:gd name="adj" fmla="val 50000"/>
            </a:avLst>
          </a:prstGeom>
          <a:solidFill>
            <a:srgbClr val="2EF2C2">
              <a:alpha val="10000"/>
            </a:srgbClr>
          </a:solidFill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300" b="0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داخل واجهة theislam.chat</a:t>
            </a:r>
          </a:p>
        </p:txBody>
      </p:sp>
      <p:sp>
        <p:nvSpPr>
          <p:cNvPr id="3015" name="deck 3015"/>
          <p:cNvSpPr/>
          <p:nvPr/>
        </p:nvSpPr>
        <p:spPr>
          <a:xfrm>
            <a:off x="1409700" y="8429625"/>
            <a:ext cx="15430500" cy="6858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مبدأ حاسم: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لا يكتب اقتباساً ولا آية؛ يخرج معرّف المقطع، والكود يدرج النص الأصلي ويتحقق من مطابقته.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الذكاء الاصطناعي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يفعله النموذج، وما يفعله الكود، وما يفعله الإنسان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 يفهم ويشرح بلغة المتعلم؛ والنص الديني والحكم لا يُتركان له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1953875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يلتقط لحظة الشهادة في المحادثة، بأي لغة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يستخرج بطاقة البداية من كلام المتعلم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السؤال وما يتبعه، ويترجمه للبحث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يجد المقاطع بالمعنى لا باللفظ وحده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يشرح بلغة المتعلم، ويسند كل جملة إلى مقطع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يصنّف السؤال للموجّه، ويحكم في التقييم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الكود (قواعد ثابتة)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يرتّب المنهج ويحفظ التقدم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الفاحص: يحذف كل جملة بلا مقطع، ويطابق الاقتباسات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يدرج الآيات وترجمات المعاني من مصادرها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يعرض خطوات الوضوء والصلاة بلفظ الكتاب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قائمة الأزمة الثابتة، ورقم الطوارئ أولاً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يتحقق أن كل حقل في البطاقة بجملة المتعلم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762375"/>
            <a:ext cx="4886325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47650" tIns="247650" rIns="247650" bIns="24765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الإنسان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مركز أصول: الكتاب نفسه، وهو المصدر الوحيد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المختص الشرعي: يعتمد الدروس (review.json)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المرشد والمرشدة: الفتوى الشخصية والأزمات والحاجات العملية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المشرف: يتابع الحالات والبلاغات والإحصاءات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429625"/>
            <a:ext cx="15430500" cy="6858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القاعدة: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النموذج يشرح ويصنّف فقط؛ لا يكتب آية ولا اقتباساً، ولا يعطي حكماً في حالة شخصية.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 المستخدمة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الخوارزميات والنماذج والأدوات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القائمة الكاملة بإصداراتها، والتفاصيل والتراخيص في SOURCES.md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البرمجيات: Node.js وTypeScript وFastify وSQLite · Vue ‎3‎ وVite · Docker خلف nginx وCloudflare · Python وpoppler لبناء النص · Playwright للقطات والتسجيل</a:t>
            </a:r>
            <a:endParaRPr/>
          </a:p>
        </p:txBody>
      </p:sp>
      <p:graphicFrame>
        <p:nvGraphicFramePr>
          <p:cNvPr id="3001" name="algorithms"/>
          <p:cNvGraphicFramePr>
            <a:graphicFrameLocks noGrp="1"/>
          </p:cNvGraphicFramePr>
          <p:nvPr/>
        </p:nvGraphicFramePr>
        <p:xfrm>
          <a:off x="1409700" y="3667125"/>
          <a:ext cx="15430500" cy="4638675"/>
        </p:xfrm>
        <a:graphic>
          <a:graphicData uri="http://schemas.openxmlformats.org/drawingml/2006/table">
            <a:tbl>
              <a:tblPr rtl="1" firstRow="1" bandRow="0"/>
              <a:tblGrid>
                <a:gridCol w="2857500"/>
                <a:gridCol w="8953500"/>
                <a:gridCol w="3619500"/>
              </a:tblGrid>
              <a:tr h="438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الخوارزمية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أو الأداة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لحظة الشهادة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وسم خفي يرسله البوت مع التهنئة، بتعليمات الحوار؛ ‎20‎ نوعاً من المحادثات تختبره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gpt-5.4-mini (OpenAI)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بطاقة البداية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استخراج منظّم، ثم تحقق بالكود أن كل حقل بجملة المتعلم نفسها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إشارتان مستقلتان: قائمة أزمة ثابتة بعدة لغات + تصنيف إلى ‎7‎ فئات؛ أيهما أحال أُحيل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صياغة السؤال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ترجمة السؤال وفهم الأسئلة اللاحقة قبل البحث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gemini-3.5-flash-lite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الاسترجاع الهجين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BM‎25‎ نصي + متجهات دلالية (‎768‎ بُعداً)، مع حد أدنى للصلة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BM25 · gemini-embedding-2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التوليد المقيّد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بلغة المتعلم، وبعد كل جملة معرّف المقطع الذي يسندها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gemini-3.8-flash · fallback: gpt-5.4-mini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الفاحص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كود فقط: حذف الجمل بلا سند، ومطابقة الاقتباسات، وإدراج الآيات، وإعادة التوليد مرة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TypeScript rules · no model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التقييم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حَكَم على مستوى الجملة + فحص الاقتباسات بالكود + مجموعات مثبتة ببصمة SHA-‎256‎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gemini-3.1-pro-preview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الكتاب إلى نص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نسخ الصفحات بالرؤية، ثم مقاطع بصفحاتها وبصماتها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0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gemini-3.8-flash · poppler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 الشرعية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أربعة مستويات للمحتوى، ولكل مستوى سلوك ثابت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الحزمة العلمية للتحدي، مطبّقة في الموجّه والفاحص والنصوص الثابتة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وكل درس وجواب عليه «أبلغ عن خطأ»، والدروس التي لم يعتمدها المختص تُعرض بنص الكتاب وصفحته فقط.</a:t>
            </a:r>
            <a:endParaRPr/>
          </a:p>
        </p:txBody>
      </p:sp>
      <p:graphicFrame>
        <p:nvGraphicFramePr>
          <p:cNvPr id="3001" name="content levels"/>
          <p:cNvGraphicFramePr>
            <a:graphicFrameLocks noGrp="1"/>
          </p:cNvGraphicFramePr>
          <p:nvPr/>
        </p:nvGraphicFramePr>
        <p:xfrm>
          <a:off x="1409700" y="3810000"/>
          <a:ext cx="15430500" cy="4819650"/>
        </p:xfrm>
        <a:graphic>
          <a:graphicData uri="http://schemas.openxmlformats.org/drawingml/2006/table">
            <a:tbl>
              <a:tblPr rtl="1" firstRow="1" bandRow="0"/>
              <a:tblGrid>
                <a:gridCol w="3810000"/>
                <a:gridCol w="8382000"/>
                <a:gridCol w="3238500"/>
              </a:tblGrid>
              <a:tr h="5524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يفعله النظام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مثال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الثوابت وصفة العبادة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الكتاب: الخطوات بلفظ «الوجيز» وترتيبه دون اختصار، والآية من Tanzil وترجمة معانيها من QuranEnc.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خطوات الوضوء والصلاة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قول «الوجيز» ثم ملاحظة ثابتة: قول معتبر عند أهل العلم، ولبعضهم قول آخر، وما تراه في مسجدك قد يكون صحيحاً أيضاً.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صفة في الصلاة تختلف عما يراه في مسجده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صريح: «لم أجد جواب هذا السؤال في الوجيز» مع زر «تحدث إلى إنسان». لا جواب من ذاكرة النموذج.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أنصبة الميراث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90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 شخصية أو أزمة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يولَّد حكم؛ إحالة إلى مرشد أو مرشدة. عند إيذاء النفس يظهر رقم الطوارئ في بلده أولاً (‎988‎ في أمريكا).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7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«زوجتي مسيحية، هل زواجنا صحيح؟»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المراجع العلمية والشرعية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 أين يأتي كل نص، وكيف نتحقق منه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معتمدة فقط، موثّقة في المستودع، ومتحقَّق منها بالكود قبل أن يراها المتعلم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التوثيق الكامل والتراخيص في SOURCES.md · ومراجعة عمياء مستقلة لـ‎60‎ جواباً: ‎23‎ سليم، و‎7‎ ناقص، و‎0‎ خطأ (eval/human_review.md)</a:t>
            </a:r>
            <a:endParaRPr/>
          </a:p>
        </p:txBody>
      </p:sp>
      <p:graphicFrame>
        <p:nvGraphicFramePr>
          <p:cNvPr id="3001" name="references"/>
          <p:cNvGraphicFramePr>
            <a:graphicFrameLocks noGrp="1"/>
          </p:cNvGraphicFramePr>
          <p:nvPr/>
        </p:nvGraphicFramePr>
        <p:xfrm>
          <a:off x="1409700" y="3762375"/>
          <a:ext cx="15430500" cy="4591050"/>
        </p:xfrm>
        <a:graphic>
          <a:graphicData uri="http://schemas.openxmlformats.org/drawingml/2006/table">
            <a:tbl>
              <a:tblPr rtl="1" firstRow="1" bandRow="0"/>
              <a:tblGrid>
                <a:gridCol w="4953000"/>
                <a:gridCol w="4572000"/>
                <a:gridCol w="5905500"/>
              </a:tblGrid>
              <a:tr h="4953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المرجع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يُستخدم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800" b="1" dirty="0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يُوثَّق ويُتحقَّق منه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24275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«الوجيز: منهج تعليم صفي للمسلم الجديد» (مركز أصول)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 الوحيد للتعليم والإجابة؛ ‎10‎ طبعات لغوية حُوّلت إلى نص بصفحاته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مقطع بصفحته وبصمته SHA-‎256‎ في content/manifest؛ والفاحص يطابق كل اقتباس بنص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المصحف: Tanzil (الرسم العثماني، رواية حفص)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يدرجه الكود حيث يستشهد المقطع بآية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 يكتب النموذج آية أبداً؛ نسخة حرفية بلا تعديل مع النسبة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ترجمات المعاني: QuranEnc (مجمع الملك فهد، مركز رواد الترجمة)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تحت كل آية بلغة المتعلم، أو بالإنجليزية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تعديل، مع اسم المترجم لكل لغة في data/quran/translations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الدروس: content/review.json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راجع كل درس، ومتى، وبأي طريقة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الدروس الحرجة تنتظر توقيع المختص النهائي؛ وغير المسجّل يُعرض بنص الكتاب وصفحته فقط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50" b="1" dirty="0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الحزمة العلمية للتحدي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المستويات الأربعة للمحتوى، وقاعدة المصطلحات المعتمدة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1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0" dirty="0">
                          <a:solidFill>
                            <a:srgbClr val="CBCFE6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مطبّقة في الموجّه والنصوص الثابتة، ومختبرة بالحالات الحرجة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323D68"/>
                      </a:solidFill>
                    </a:lnL>
                    <a:lnR w="9525">
                      <a:solidFill>
                        <a:srgbClr val="323D68"/>
                      </a:solidFill>
                    </a:lnR>
                    <a:lnT w="9525">
                      <a:solidFill>
                        <a:srgbClr val="323D68"/>
                      </a:solidFill>
                    </a:lnT>
                    <a:lnB w="9525">
                      <a:solidFill>
                        <a:srgbClr val="323D68"/>
                      </a:solidFill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(‎1‎): النتيجة المسجّلة مسبقاً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‎4‎ أكتوبر: أسئلة ثُبّتت ببصمة قبل البناء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المجموعة المثبتة: ‎200‎ سؤال × ‎3‎ محاولات · مقارنة بالنموذج نفسه والمقاطع نفسها، بلا فاحص ولا موجّه</a:t>
            </a:r>
            <a:endParaRPr/>
          </a:p>
        </p:txBody>
      </p:sp>
      <p:graphicFrame>
        <p:nvGraphicFramePr>
          <p:cNvPr id="3001" name="results"/>
          <p:cNvGraphicFramePr>
            <a:graphicFrameLocks noGrp="1"/>
          </p:cNvGraphicFramePr>
          <p:nvPr/>
        </p:nvGraphicFramePr>
        <p:xfrm>
          <a:off x="5981700" y="3667125"/>
          <a:ext cx="10858500" cy="4419600"/>
        </p:xfrm>
        <a:graphic>
          <a:graphicData uri="http://schemas.openxmlformats.org/drawingml/2006/table">
            <a:tbl>
              <a:tblPr rtl="1" firstRow="1" bandRow="0"/>
              <a:tblGrid>
                <a:gridCol w="5143500"/>
                <a:gridCol w="2762250"/>
                <a:gridCol w="2952750"/>
              </a:tblGrid>
              <a:tr h="4381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المقياس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 الفاحص والموجّه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نفسه بلا فاحص ولا 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الاقتباسات المطابقة لنص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(‎444/444‎)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‎92.1%‎ (‎760/825‎)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لا حكم، مع عرض مرشد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‎98.9%‎ (‎89/90‎)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الحالات الحرجة: إحالة مباشرة إلى إنسان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‎81.1%‎ (‎73/90‎)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إيذاء النفس: رسالة الطوارئ أولاً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‎100%‎ (‎12/12‎)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ليس في الكتاب: امتناع أو إحالة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‎91.1%‎ (‎82/90‎)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‎85.6%‎ (‎77/90‎)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رُفضت خطأً (الأقل أفضل)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‎1.9%‎ (‎7/360‎)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‎4.2%‎ (‎15/360‎)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لها جواب أُجيبت صحيحاً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‎90.6%‎ (‎326/360‎)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الجمل المسندة إلى الكتاب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‎99.5%‎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أجوبة مسندة بالكامل إلى مقاطعها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‎96.8%‎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‎99.0%‎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مسائل الخلاف المعتبر عُرضت مع السعة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‎86.7%‎ (‎52/60‎)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‎0%‎ (‎0/60‎)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الجواب مربوط بدرسه الصحيح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6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‎95.2%‎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–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02" name="deck 3002"/>
          <p:cNvSpPr/>
          <p:nvPr/>
        </p:nvSpPr>
        <p:spPr>
          <a:xfrm>
            <a:off x="1409700" y="3667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‎120/120‎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ترتيب الدروس صحيح في كل الرحلات المحاكاة: ‎30‎ مستخدماً يعودون في ‎4‎ أيام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5191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‎111/120‎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رحلات صحيحة بالمرجع المثبّت، أي ‎92.5%‎؛ وتصبح ‎119/120‎ حين يُربط السؤال بالدرس الذي في صفحاته الجواب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6715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0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‎8.3‎ ث</a:t>
            </a:r>
          </a:p>
          <a:p>
            <a:pPr marL="0" indent="0" rtl="1" algn="r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الجواب؛ ومتوسط التكلفة ‎0.0013$‎ للسؤال</a:t>
            </a:r>
          </a:p>
        </p:txBody>
      </p:sp>
      <p:sp>
        <p:nvSpPr>
          <p:cNvPr id="3005" name="deck 3005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65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لم نبلغه: الإحالة المباشرة للحالات الحرجة ‎81%‎ مقابل هدف ‎100%‎؛ والبقية تلقّت «ليس في الكتاب» مع عرض مرشد، دون حكم. التقرير الكامل: docs/evaluation.md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النتائج (‎2‎): بعد التدقيق الشامل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‎6‎ أكتوبر: اختبرنا كمستخدمين، وأصلحنا، ثم قسنا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حَكَم: gemini-‎3.1‎-pro-preview على مقاطع الكتاب · ونذكر صراحةً أي مجموعة ضُبط عليها النظام، وأيها لم يرها قط</a:t>
            </a:r>
            <a:endParaRPr/>
          </a:p>
        </p:txBody>
      </p:sp>
      <p:graphicFrame>
        <p:nvGraphicFramePr>
          <p:cNvPr id="3001" name="audit results"/>
          <p:cNvGraphicFramePr>
            <a:graphicFrameLocks noGrp="1"/>
          </p:cNvGraphicFramePr>
          <p:nvPr/>
        </p:nvGraphicFramePr>
        <p:xfrm>
          <a:off x="5981700" y="3667125"/>
          <a:ext cx="10858500" cy="2971800"/>
        </p:xfrm>
        <a:graphic>
          <a:graphicData uri="http://schemas.openxmlformats.org/drawingml/2006/table">
            <a:tbl>
              <a:tblPr rtl="1" firstRow="1" bandRow="0"/>
              <a:tblGrid>
                <a:gridCol w="3286125"/>
                <a:gridCol w="2047875"/>
                <a:gridCol w="1619250"/>
                <a:gridCol w="1190625"/>
                <a:gridCol w="1524000"/>
                <a:gridCol w="1190625"/>
              </a:tblGrid>
              <a:tr h="45720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المجموعة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ضُبط عليها؟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السلوك الصحيح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أمينة للمقاطع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أحكام مختلَقة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FFFF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الطوارئ أولاً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6150E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المجموعة المثبتة، إعادة تشغيل ‎6‎ أكتوبر (‎200‎ سؤال)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لا: ثُبّتت قبل البناء ولم تُعدَّل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‎90.0%‎ (‎108/120‎)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‎138/138‎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 · حرجة بلا حكم ‎30/30‎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‎4/4‎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أسئلة التدقيق: ‎284‎ سؤالاً بعشر لغات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نعم: ضُبط النظام عليها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‎90.8%‎ (‎258/284‎)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‎161/162‎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‎15/15‎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AF9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‎150‎ سؤالاً جديداً، المجموعة K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4A5590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رُئيت مرة، ثم ضُبط عليها الموجّه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‎83.3%‎ → ‎89.3%‎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‎91/91‎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50" b="1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‎150‎ سؤالاً جديداً، المجموعة M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r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 يرها النظام قط: تشغيل واحد في النهاية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500" b="1" dirty="0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‎88.0%‎ (‎132/150‎)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‎87/87‎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1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35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‎0‎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rtl="0" algn="ctr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r-SA" sz="1400" b="0" dirty="0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‎6/6‎</a:t>
                      </a:r>
                    </a:p>
                  </a:txBody>
                  <a:tcPr marL="133350" marR="133350" marT="57150" marB="57150" anchor="ctr">
                    <a:lnL w="9525">
                      <a:solidFill>
                        <a:srgbClr val="E0D9FB"/>
                      </a:solidFill>
                    </a:lnL>
                    <a:lnR w="9525">
                      <a:solidFill>
                        <a:srgbClr val="E0D9FB"/>
                      </a:solidFill>
                    </a:lnR>
                    <a:lnT w="9525">
                      <a:solidFill>
                        <a:srgbClr val="E0D9FB"/>
                      </a:solidFill>
                    </a:lnT>
                    <a:lnB w="9525">
                      <a:solidFill>
                        <a:srgbClr val="E0D9FB"/>
                      </a:solidFill>
                    </a:lnB>
                    <a:solidFill>
                      <a:srgbClr val="EFEBFF"/>
                    </a:solidFill>
                  </a:tcPr>
                </a:tc>
              </a:tr>
            </a:tbl>
          </a:graphicData>
        </a:graphic>
      </p:graphicFrame>
      <p:sp>
        <p:nvSpPr>
          <p:cNvPr id="3002" name="deck 3002"/>
          <p:cNvSpPr/>
          <p:nvPr/>
        </p:nvSpPr>
        <p:spPr>
          <a:xfrm>
            <a:off x="5981700" y="6953250"/>
            <a:ext cx="10858500" cy="1238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40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المجموعة المثبتة بعد التدقيق (تشغيل واحد): أجوبة مسندة بالكامل ‎100%‎ (‎138/138‎) · اقتباسات مطابقة ‎100%‎ (‎174/174‎) · حالات حرجة بلا حكم مع عرض مرشد ‎30/30‎ · الطوارئ أولاً ‎4/4‎ · أسئلة لها جواب أُجيبت صحيحاً ‎90.0%‎ · مسائل الخلاف بسعة ‎90%‎ (‎18/20‎)</a:t>
            </a:r>
          </a:p>
          <a:p>
            <a:pPr marL="0" indent="0" rtl="1" algn="r">
              <a:lnSpc>
                <a:spcPct val="11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40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وانخفض الامتناع فيما ليس في الكتاب من ‎91.1%‎ إلى ‎83.3%‎ (‎25/30‎): صار النظام يجيب الجزء الذي في الكتاب ويعرض مرشداً للباقي.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3667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‎84/84‎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‎20‎ نوعاً من محادثات الشهادة: تُفتح الوحدة حين يجب، ولا تُفتح حين لا يجب؛ و‎28/28‎ على الموقع الحي (أول تشغيل ‎60/84‎)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5191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‎470‎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حالة استخدام تقريباً كمستخدم نهائي (‎284‎ سؤالاً، ونحو ‎125‎ في واجهة المتعلم، و‎68‎ في منصة المرشدين)؛ ظهرت ‎64‎ ملاحظة وأُصلحت كلها</a:t>
            </a:r>
          </a:p>
        </p:txBody>
      </p:sp>
      <p:sp>
        <p:nvSpPr>
          <p:cNvPr id="3005" name="deck 3005"/>
          <p:cNvSpPr/>
          <p:nvPr/>
        </p:nvSpPr>
        <p:spPr>
          <a:xfrm>
            <a:off x="1409700" y="6715125"/>
            <a:ext cx="4191000" cy="13811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4288">
            <a:solidFill>
              <a:srgbClr val="E0D9FB"/>
            </a:solidFill>
          </a:ln>
        </p:spPr>
        <p:txBody>
          <a:bodyPr wrap="square" lIns="152400" tIns="152400" rIns="152400" bIns="15240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8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‎51/51‎</a:t>
            </a:r>
          </a:p>
          <a:p>
            <a:pPr marL="0" indent="0" rtl="1" algn="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350" b="0" dirty="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في المجموعة M التي لم تُرَ قط: كل حالات الإحالة والأزمة والطوارئ وما ليس في الكتاب والتحية</a:t>
            </a:r>
          </a:p>
        </p:txBody>
      </p:sp>
      <p:sp>
        <p:nvSpPr>
          <p:cNvPr id="3006" name="deck 3006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10000"/>
            </a:srgbClr>
          </a:solidFill>
          <a:ln w="9525">
            <a:solidFill>
              <a:srgbClr val="6150EA">
                <a:alpha val="4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بصراحة: </a:t>
            </a:r>
            <a:r>
              <a:rPr lang="ar-SA" sz="1550" b="0" dirty="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ضُبط النظام على مجموعة التطوير وأسئلة التدقيق والمجموعة K؛ ولم تُعدَّل المجموعة المثبتة، ولم نطّلع على M قبل تشغيلها الوحيد. ومن ‎18‎ خطأً في المجموعة M، كان ‎10‎ امتناعات عن أسئلة يجيب عنها الكتاب. لم نُنزل المعيار لرفع الرقم.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الأصالة والقيمة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الذي لا تقدمه البدائل؟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مقارنة بما يجده المسلم الجديد اليوم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195387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المنصة اليوم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تهنئة ثم طلب وسيلة تواصل؛ وتعليم العبادة من ذاكرة النموذج ممنوع.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أول درس موثّق يبدأ فوراً في المحادثة نفسها، بلغة المستخدم.</a:t>
            </a:r>
          </a:p>
        </p:txBody>
      </p:sp>
      <p:sp>
        <p:nvSpPr>
          <p:cNvPr id="3002" name="deck 3002"/>
          <p:cNvSpPr/>
          <p:nvPr/>
        </p:nvSpPr>
        <p:spPr>
          <a:xfrm>
            <a:off x="6686550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ملف PDF أو بحث نصي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يعرف أين توقف المستخدم، ولا يجيب بلغته حوارياً، ولا يذكّره.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منهج يحفظ التقدم، ودرس في اليوم بتذكير، وجواب سياقي برقم الصفحة.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19225" y="3762375"/>
            <a:ext cx="4886325" cy="428625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66700" tIns="266700" rIns="266700" bIns="2667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5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نموذج عام مع الكتاب مرفقاً</a:t>
            </a:r>
          </a:p>
          <a:p>
            <a:pPr marL="0" indent="0" rtl="1" algn="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حدوده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قد ينسب إلى الكتاب ما ليس فيه، ويفتي في الحالات الشخصية.</a:t>
            </a:r>
          </a:p>
          <a:p>
            <a:pPr marL="0" indent="0" rtl="1" algn="r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1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ما يضيفه المشروع</a:t>
            </a:r>
          </a:p>
          <a:p>
            <a:pPr marL="0" indent="0" rtl="1" algn="r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فاحص بالكود: اقتباسات مطابقة ‎100%‎ مقابل ‎92.1%‎، وموجّه يمتنع ويحيل، و«الوجيز» هو المنهج.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0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الجديد: </a:t>
            </a:r>
            <a:r>
              <a:rPr lang="ar-SA" sz="20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الشهادة تتحول من نهاية محادثة إلى بداية منهج، داخل منصة قائمة تصل فعلاً إلى غير المسلمين.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واللغات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مصدر واحد موثوق، بلغات المستخدمين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نص ديني يولّده النموذج: الكتاب والمصحف والترجمات تُعرض من مصادرها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«الوجيز»: ‎10‎ طبعات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بصفحاته يُقرأ كاملاً في القارئ، وكل مقطع ببصمته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ar · en · fr · es · id · pt · ru · bs · vi · th</a:t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‎19‎ درساً في ‎4‎ وحدات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ملخص بجمل مرقّمة، وأسئلة فهم وتمارين من أسئلة الكتاب؛ وغير المعتمد يُعرض بنصه فقط</a:t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القرآن الكريم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Tanzil وترجمة المعاني من QuranEnc بأكثر من ‎20‎ لغة، و«استمع وردّد» بالمصحف المعلّم</a:t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بقية اللغات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096125"/>
            <a:ext cx="352425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جواب من النص العربي أو الإنجليزي بوسم «شرح مترجم آلياً، والأصل مرفق»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والاستمرار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يأتي بعد التحدي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تكلفة منخفضة، ومراجعة بشرية دورية، وقياس مجمّع لا يمس الخصوصية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3001" name="deck 3001"/>
          <p:cNvSpPr/>
          <p:nvPr/>
        </p:nvSpPr>
        <p:spPr>
          <a:xfrm>
            <a:off x="1409700" y="3810000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‎0.0013$‎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تكلفة السؤال على المجموعة المثبتة</a:t>
            </a:r>
          </a:p>
        </p:txBody>
      </p:sp>
      <p:sp>
        <p:nvSpPr>
          <p:cNvPr id="3002" name="deck 3002"/>
          <p:cNvSpPr/>
          <p:nvPr/>
        </p:nvSpPr>
        <p:spPr>
          <a:xfrm>
            <a:off x="1409700" y="6143625"/>
            <a:ext cx="4476750" cy="2143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09550" tIns="209550" rIns="209550" bIns="209550" anchor="ctr" rtlCol="1">
            <a:noAutofit/>
          </a:bodyPr>
          <a:lstStyle/>
          <a:p>
            <a:pPr marL="0" indent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46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‎6.2‎ ث</a:t>
            </a:r>
          </a:p>
          <a:p>
            <a:pPr marL="0" indent="0" rtl="1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لزمن الجواب على الموقع الحي (‎284‎ سؤالاً)، و‎7.9‎ ث لـ‎90%‎ منها</a:t>
            </a:r>
          </a:p>
        </p:txBody>
      </p:sp>
      <p:sp>
        <p:nvSpPr>
          <p:cNvPr id="3003" name="deck 3003"/>
          <p:cNvSpPr/>
          <p:nvPr/>
        </p:nvSpPr>
        <p:spPr>
          <a:xfrm>
            <a:off x="11753850" y="3810000"/>
            <a:ext cx="508635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28600" tIns="228600" rIns="228600" bIns="2286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يعمل الآن على الموقع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الرحلة كاملة: ‎19‎ درساً، والأسئلة، والإحالة، وقارئ الكتاب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الحساب بـ Google أو رابط البريد، والتذكير اليومي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 بصندوق الحالات والتنبيهات والمؤقتات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الدروس غير المعتمدة تُعرض بنص الكتاب وصفحته فقط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مزوّد احتياطي بإعداد واحد، وحاوية واحدة خلف nginx وCloudflare</a:t>
            </a:r>
          </a:p>
        </p:txBody>
      </p:sp>
      <p:sp>
        <p:nvSpPr>
          <p:cNvPr id="3004" name="deck 3004"/>
          <p:cNvSpPr/>
          <p:nvPr/>
        </p:nvSpPr>
        <p:spPr>
          <a:xfrm>
            <a:off x="6286500" y="3810000"/>
            <a:ext cx="5086350" cy="4429125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  <p:txBody>
          <a:bodyPr wrap="square" lIns="228600" tIns="228600" rIns="228600" bIns="228600" anchor="t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ar-SA" sz="2400" b="1" dirty="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بعد التحدي (لم يُنجَز بعد)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المختص الشرعي لبقية الدروس واللغات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تشغيل فريق المرشدين من أصول بحسابات حقيقية ومناوبات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أسبوعية لبلاغات «أبلغ عن خطأ» والإحالات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مجمّع من ‎7‎ أكتوبر: أعداد فقط، دون نص</a:t>
            </a:r>
          </a:p>
          <a:p>
            <a:pPr marL="342900" indent="-342900" rtl="1" algn="r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Clr>
                <a:srgbClr val="2EF2C2"/>
              </a:buClr>
              <a:buSzPct val="100000"/>
              <a:buFont typeface="Arial"/>
              <a:buChar char="•"/>
            </a:pPr>
            <a:r>
              <a:rPr lang="ar-SA" sz="17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مع مسلمين جدد لقياس الفهم (لم يُقَس بعد)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الإفصاح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ما بُني خلال التحدي، وما كان قائماً قبله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قابل للتحقق: وسم Git سابق للتحدي، وسجل الالتزامات، وملف فرق المنصة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بُني خلال ‎4‎–‎6‎ أكتوبر ‎2026‎ (يُقيَّم)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ما في المستودع، ورقعة دمج من ‎430‎ سطراً على نسخة المنصة الموسومة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قائم قبل التحدي (لا نطلب تقييمه)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19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theislam.chat لجمعية أصول، تعمل منذ أكتوبر ‎2024‎، موسومة pre-challenge-‎2026‎-‎10‎-‎03‎</a:t>
            </a:r>
            <a:endParaRPr/>
          </a:p>
        </p:txBody>
      </p:sp>
      <p:sp>
        <p:nvSpPr>
          <p:cNvPr id="3001" name="deck 3001"/>
          <p:cNvSpPr txBox="1"/>
          <p:nvPr/>
        </p:nvSpPr>
        <p:spPr>
          <a:xfrm>
            <a:off x="9696450" y="585787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الوحدة: بطاقة البداية، المنهج والدروس، قارئ الكتاب، الأسئلة، «استمع وردّد»، الإحالة، الحساب والتذكير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منصة المرشدين: صندوق الحالات، تنبيه الأزمات، المؤقتات، المحادثة، الإحصاءات، أمان الجلسات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الموجّه والاسترجاع الهجين والفاحص، وتحويل ‎10‎ طبعات من «الوجيز» إلى نص</a:t>
            </a:r>
          </a:p>
          <a:p>
            <a:pPr marL="0" indent="0" rtl="1" algn="r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ar-SA" sz="165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مجموعات التقييم المثبّتة ببصمة، ومحاكاة الرحلات، وتدقيق ‎6‎ أكتوبر</a:t>
            </a:r>
          </a:p>
        </p:txBody>
      </p:sp>
      <p:sp>
        <p:nvSpPr>
          <p:cNvPr id="3002" name="deck 3002"/>
          <p:cNvSpPr txBox="1"/>
          <p:nvPr/>
        </p:nvSpPr>
        <p:spPr>
          <a:xfrm>
            <a:off x="1409700" y="5905500"/>
            <a:ext cx="7143750" cy="228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الواجهة، والمحادثة الصوتية، وزر «تحدث إلى إنسان»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تعليمات الحوار الدعوي قبل الشهادة</a:t>
            </a:r>
          </a:p>
          <a:p>
            <a:pPr marL="0" indent="0" rtl="1" algn="r"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lang="ar-SA" sz="18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لم يُستخدم نص أي محادثة حقيقية في الكود أو الاختبار أو العرض</a:t>
            </a:r>
          </a:p>
        </p:txBody>
      </p:sp>
      <p:sp>
        <p:nvSpPr>
          <p:cNvPr id="3003" name="deck 3003"/>
          <p:cNvSpPr/>
          <p:nvPr/>
        </p:nvSpPr>
        <p:spPr>
          <a:xfrm>
            <a:off x="1409700" y="8382000"/>
            <a:ext cx="15430500" cy="7620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7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لا ندّعي: </a:t>
            </a:r>
            <a:r>
              <a:rPr lang="ar-SA" sz="17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تحسّن الفهم لدى مسلمين جدد حقيقيين خلال مدة التحدي. والحالات الحرجة الثلاثون كتبها عضو الفريق الذي بنى الموجّه، وجُمّدت في أول التزام.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جمعية أصول · theislam.chat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39827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2" name="deck 3002"/>
          <p:cNvSpPr/>
          <p:nvPr/>
        </p:nvSpPr>
        <p:spPr>
          <a:xfrm>
            <a:off x="146970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‎01‎</a:t>
            </a:r>
          </a:p>
        </p:txBody>
      </p:sp>
      <p:sp>
        <p:nvSpPr>
          <p:cNvPr id="3003" name="deck 3003"/>
          <p:cNvSpPr txBox="1"/>
          <p:nvPr/>
        </p:nvSpPr>
        <p:spPr>
          <a:xfrm>
            <a:off x="141732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قائد الفريق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العرض والتنسيق والتسليم</a:t>
            </a:r>
          </a:p>
        </p:txBody>
      </p:sp>
      <p:sp>
        <p:nvSpPr>
          <p:cNvPr id="3004" name="deck 3004"/>
          <p:cNvSpPr/>
          <p:nvPr/>
        </p:nvSpPr>
        <p:spPr>
          <a:xfrm>
            <a:off x="1083945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5" name="deck 3005"/>
          <p:cNvSpPr/>
          <p:nvPr/>
        </p:nvSpPr>
        <p:spPr>
          <a:xfrm>
            <a:off x="115538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‎02‎</a:t>
            </a:r>
          </a:p>
        </p:txBody>
      </p:sp>
      <p:sp>
        <p:nvSpPr>
          <p:cNvPr id="3006" name="deck 3006"/>
          <p:cNvSpPr txBox="1"/>
          <p:nvPr/>
        </p:nvSpPr>
        <p:spPr>
          <a:xfrm>
            <a:off x="1102995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مهندس الذكاء الاصطناعي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الاسترجاع والتوليد المقيّد والفاحص والتقييم</a:t>
            </a:r>
          </a:p>
        </p:txBody>
      </p:sp>
      <p:sp>
        <p:nvSpPr>
          <p:cNvPr id="3007" name="deck 3007"/>
          <p:cNvSpPr/>
          <p:nvPr/>
        </p:nvSpPr>
        <p:spPr>
          <a:xfrm>
            <a:off x="76962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8" name="deck 3008"/>
          <p:cNvSpPr/>
          <p:nvPr/>
        </p:nvSpPr>
        <p:spPr>
          <a:xfrm>
            <a:off x="84105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‎03‎</a:t>
            </a:r>
          </a:p>
        </p:txBody>
      </p:sp>
      <p:sp>
        <p:nvSpPr>
          <p:cNvPr id="3009" name="deck 3009"/>
          <p:cNvSpPr txBox="1"/>
          <p:nvPr/>
        </p:nvSpPr>
        <p:spPr>
          <a:xfrm>
            <a:off x="78867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الخلفية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الخدمة والحساب والإحالة ولوحة المرشد</a:t>
            </a:r>
          </a:p>
        </p:txBody>
      </p:sp>
      <p:sp>
        <p:nvSpPr>
          <p:cNvPr id="3010" name="deck 3010"/>
          <p:cNvSpPr/>
          <p:nvPr/>
        </p:nvSpPr>
        <p:spPr>
          <a:xfrm>
            <a:off x="455295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11" name="deck 3011"/>
          <p:cNvSpPr/>
          <p:nvPr/>
        </p:nvSpPr>
        <p:spPr>
          <a:xfrm>
            <a:off x="526732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‎04‎</a:t>
            </a:r>
          </a:p>
        </p:txBody>
      </p:sp>
      <p:sp>
        <p:nvSpPr>
          <p:cNvPr id="3012" name="deck 3012"/>
          <p:cNvSpPr txBox="1"/>
          <p:nvPr/>
        </p:nvSpPr>
        <p:spPr>
          <a:xfrm>
            <a:off x="474345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مطوّر الواجهات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الوحدة داخل واجهة theislam.chat</a:t>
            </a:r>
          </a:p>
        </p:txBody>
      </p:sp>
      <p:sp>
        <p:nvSpPr>
          <p:cNvPr id="3013" name="deck 3013"/>
          <p:cNvSpPr/>
          <p:nvPr/>
        </p:nvSpPr>
        <p:spPr>
          <a:xfrm>
            <a:off x="1409700" y="3762375"/>
            <a:ext cx="2857500" cy="4381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14" name="deck 3014"/>
          <p:cNvSpPr/>
          <p:nvPr/>
        </p:nvSpPr>
        <p:spPr>
          <a:xfrm>
            <a:off x="2124075" y="4048125"/>
            <a:ext cx="1428750" cy="1428750"/>
          </a:xfrm>
          <a:prstGeom prst="ellipse">
            <a:avLst/>
          </a:prstGeom>
          <a:solidFill>
            <a:srgbClr val="6150EA">
              <a:alpha val="35000"/>
            </a:srgbClr>
          </a:solidFill>
          <a:ln w="14288">
            <a:solidFill>
              <a:srgbClr val="2EF2C2">
                <a:alpha val="60000"/>
              </a:srgbClr>
            </a:solidFill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34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‎05‎</a:t>
            </a:r>
          </a:p>
        </p:txBody>
      </p:sp>
      <p:sp>
        <p:nvSpPr>
          <p:cNvPr id="3015" name="deck 3015"/>
          <p:cNvSpPr txBox="1"/>
          <p:nvPr/>
        </p:nvSpPr>
        <p:spPr>
          <a:xfrm>
            <a:off x="1600200" y="5715000"/>
            <a:ext cx="2476500" cy="285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1">
            <a:noAutofit/>
          </a:bodyPr>
          <a:lstStyle/>
          <a:p>
            <a:pPr marL="0" indent="0" rtl="1" algn="ctr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ar-SA" sz="23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المختص الشرعي</a:t>
            </a:r>
          </a:p>
          <a:p>
            <a:pPr marL="0" indent="0" rtl="1" algn="ctr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الدروس والحالات الحرجة والبلاغات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الروابط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جرّبه الآن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ما يلزم المحكّم للتجربة والتحقق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3001" name="deck 3001"/>
          <p:cNvSpPr/>
          <p:nvPr/>
        </p:nvSpPr>
        <p:spPr>
          <a:xfrm>
            <a:off x="1409700" y="3714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2" name="deck 3002"/>
          <p:cNvSpPr txBox="1"/>
          <p:nvPr/>
        </p:nvSpPr>
        <p:spPr>
          <a:xfrm>
            <a:off x="10096500" y="3848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التجربة الحية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تبدأ من لحظة الشهادة؛ وتحتها رابط النسخة الإنجليزية</a:t>
            </a:r>
          </a:p>
        </p:txBody>
      </p:sp>
      <p:sp>
        <p:nvSpPr>
          <p:cNvPr id="3003" name="deck 3003"/>
          <p:cNvSpPr txBox="1"/>
          <p:nvPr/>
        </p:nvSpPr>
        <p:spPr>
          <a:xfrm>
            <a:off x="1714500" y="3848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https://shahada.theislam.chat/ar?demo=shahada</a:t>
            </a:r>
          </a:p>
          <a:p>
            <a:pPr marL="0" indent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https://shahada.theislam.chat/en?demo=shahada</a:t>
            </a:r>
          </a:p>
        </p:txBody>
      </p:sp>
      <p:sp>
        <p:nvSpPr>
          <p:cNvPr id="3004" name="deck 3004"/>
          <p:cNvSpPr/>
          <p:nvPr/>
        </p:nvSpPr>
        <p:spPr>
          <a:xfrm>
            <a:off x="1409700" y="5238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5" name="deck 3005"/>
          <p:cNvSpPr txBox="1"/>
          <p:nvPr/>
        </p:nvSpPr>
        <p:spPr>
          <a:xfrm>
            <a:off x="10096500" y="5372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منصة فريق المتابعة (المرشدين)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حساب المشرف التجريبي؛ وكلمة المرور نفسها لحسابي المرشد والمرشدة التجريبيين</a:t>
            </a:r>
          </a:p>
        </p:txBody>
      </p:sp>
      <p:sp>
        <p:nvSpPr>
          <p:cNvPr id="3006" name="deck 3006"/>
          <p:cNvSpPr txBox="1"/>
          <p:nvPr/>
        </p:nvSpPr>
        <p:spPr>
          <a:xfrm>
            <a:off x="1714500" y="5372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https://shahada.theislam.chat/mentor</a:t>
            </a:r>
          </a:p>
          <a:p>
            <a:pPr marL="0" indent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9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supervisor@demo.theislam.chat  /  6c014c6af52e</a:t>
            </a:r>
          </a:p>
        </p:txBody>
      </p:sp>
      <p:sp>
        <p:nvSpPr>
          <p:cNvPr id="3007" name="deck 3007"/>
          <p:cNvSpPr/>
          <p:nvPr/>
        </p:nvSpPr>
        <p:spPr>
          <a:xfrm>
            <a:off x="1409700" y="6762750"/>
            <a:ext cx="15430500" cy="1333500"/>
          </a:xfrm>
          <a:prstGeom prst="roundRect">
            <a:avLst>
              <a:gd name="adj" fmla="val 6000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2EF2C2">
                <a:alpha val="18000"/>
              </a:srgbClr>
            </a:solidFill>
          </a:ln>
        </p:spPr>
      </p:sp>
      <p:sp>
        <p:nvSpPr>
          <p:cNvPr id="3008" name="deck 3008"/>
          <p:cNvSpPr txBox="1"/>
          <p:nvPr/>
        </p:nvSpPr>
        <p:spPr>
          <a:xfrm>
            <a:off x="10096500" y="6896100"/>
            <a:ext cx="6477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400" b="1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المستودع على GitHub</a:t>
            </a:r>
          </a:p>
          <a:p>
            <a:pPr marL="0" indent="0" rtl="1" algn="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1600" b="0" dirty="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الكود والتقييم الكامل (docs/evaluation.md) والمصادر (SOURCES.md)</a:t>
            </a:r>
          </a:p>
        </p:txBody>
      </p:sp>
      <p:sp>
        <p:nvSpPr>
          <p:cNvPr id="3009" name="deck 3009"/>
          <p:cNvSpPr txBox="1"/>
          <p:nvPr/>
        </p:nvSpPr>
        <p:spPr>
          <a:xfrm>
            <a:off x="1714500" y="6896100"/>
            <a:ext cx="81915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1">
            <a:noAutofit/>
          </a:bodyPr>
          <a:lstStyle/>
          <a:p>
            <a:pPr marL="0" indent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22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https://github.com/MidadeAITeam/shahada-theislam</a:t>
            </a:r>
          </a:p>
        </p:txBody>
      </p:sp>
      <p:sp>
        <p:nvSpPr>
          <p:cNvPr id="3010" name="deck 3010"/>
          <p:cNvSpPr/>
          <p:nvPr/>
        </p:nvSpPr>
        <p:spPr>
          <a:xfrm>
            <a:off x="1409700" y="8382000"/>
            <a:ext cx="15430500" cy="723900"/>
          </a:xfrm>
          <a:prstGeom prst="roundRect">
            <a:avLst>
              <a:gd name="adj" fmla="val 18000"/>
            </a:avLst>
          </a:prstGeom>
          <a:solidFill>
            <a:srgbClr val="6150EA">
              <a:alpha val="28000"/>
            </a:srgbClr>
          </a:solidFill>
          <a:ln w="9525">
            <a:solidFill>
              <a:srgbClr val="6150EA">
                <a:alpha val="70000"/>
              </a:srgbClr>
            </a:solidFill>
          </a:ln>
        </p:spPr>
        <p:txBody>
          <a:bodyPr wrap="square" lIns="171450" tIns="171450" rIns="171450" bIns="171450" anchor="ctr" rtlCol="1">
            <a:noAutofit/>
          </a:bodyPr>
          <a:lstStyle/>
          <a:p>
            <a:pPr marL="0" indent="0" rtl="1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 b="1" dirty="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في ‎3‎ دقائق: </a:t>
            </a:r>
            <a:r>
              <a:rPr lang="ar-SA" sz="1800" b="0" dirty="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«ابدأ رحلتك» ← اسأل «كيف أتوضأ؟» ← سؤال شخصي يُحال إلى مرشد ← «تصفّح الكتاب كاملاً» ← افتح حالة في منصة المرشدين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theislam.chat | ما بعد الشهادة · جمعية أصول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shahada.theislam.chat  ·  github.com/MidadeAITeam/shahada-theislam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
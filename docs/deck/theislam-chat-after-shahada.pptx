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1.xml"/>
  <Override ContentType="application/vnd.openxmlformats-officedocument.presentationml.slide+xml" PartName="/ppt/slides/slide12.xml"/>
  <Override ContentType="application/vnd.openxmlformats-officedocument.presentationml.notesSlide+xml" PartName="/ppt/notesSlides/notesSlide12.xml"/>
  <Override ContentType="application/vnd.openxmlformats-officedocument.presentationml.slide+xml" PartName="/ppt/slides/slide13.xml"/>
  <Override ContentType="application/vnd.openxmlformats-officedocument.presentationml.notesSlide+xml" PartName="/ppt/notesSlides/notesSlide13.xml"/>
  <Override ContentType="application/vnd.openxmlformats-officedocument.presentationml.slide+xml" PartName="/ppt/slides/slide14.xml"/>
  <Override ContentType="application/vnd.openxmlformats-officedocument.presentationml.notesSlide+xml" PartName="/ppt/notesSlides/notesSlide14.xml"/>
  <Override ContentType="application/vnd.openxmlformats-officedocument.presentationml.slide+xml" PartName="/ppt/slides/slide15.xml"/>
  <Override ContentType="application/vnd.openxmlformats-officedocument.presentationml.notesSlide+xml" PartName="/ppt/notesSlides/notesSlide15.xml"/>
  <Override ContentType="application/vnd.openxmlformats-officedocument.presentationml.slide+xml" PartName="/ppt/slides/slide16.xml"/>
  <Override ContentType="application/vnd.openxmlformats-officedocument.presentationml.notesSlide+xml" PartName="/ppt/notesSlides/notesSlide16.xml"/>
  <Override ContentType="application/vnd.openxmlformats-officedocument.presentationml.slide+xml" PartName="/ppt/slides/slide17.xml"/>
  <Override ContentType="application/vnd.openxmlformats-officedocument.presentationml.notesSlide+xml" PartName="/ppt/notesSlides/notesSlide17.xml"/>
  <Override ContentType="application/vnd.openxmlformats-officedocument.presentationml.slide+xml" PartName="/ppt/slides/slide18.xml"/>
  <Override ContentType="application/vnd.openxmlformats-officedocument.presentationml.notesSlide+xml" PartName="/ppt/notesSlides/notesSlide18.xml"/>
  <Override ContentType="application/vnd.openxmlformats-officedocument.presentationml.slide+xml" PartName="/ppt/slides/slide19.xml"/>
  <Override ContentType="application/vnd.openxmlformats-officedocument.presentationml.notesSlide+xml" PartName="/ppt/notesSlides/notesSlide19.xml"/>
  <Override ContentType="application/vnd.openxmlformats-officedocument.presentationml.slide+xml" PartName="/ppt/slides/slide20.xml"/>
  <Override ContentType="application/vnd.openxmlformats-officedocument.presentationml.notesSlide+xml" PartName="/ppt/notesSlides/notesSlide20.xml"/>
  <Override ContentType="application/vnd.openxmlformats-officedocument.presentationml.slide+xml" PartName="/ppt/slides/slide21.xml"/>
  <Override ContentType="application/vnd.openxmlformats-officedocument.presentationml.notesSlide+xml" PartName="/ppt/notesSlides/notesSlide21.xml"/>
  <Override ContentType="application/vnd.openxmlformats-officedocument.presentationml.slide+xml" PartName="/ppt/slides/slide22.xml"/>
  <Override ContentType="application/vnd.openxmlformats-officedocument.presentationml.notesSlide+xml" PartName="/ppt/notesSlides/notesSlide22.xml"/>
  <Override ContentType="application/vnd.openxmlformats-officedocument.presentationml.slide+xml" PartName="/ppt/slides/slide23.xml"/>
  <Override ContentType="application/vnd.openxmlformats-officedocument.presentationml.notesSlide+xml" PartName="/ppt/notesSlides/notesSlide23.xml"/>
  <Override ContentType="application/vnd.openxmlformats-officedocument.presentationml.slide+xml" PartName="/ppt/slides/slide24.xml"/>
  <Override ContentType="application/vnd.openxmlformats-officedocument.presentationml.notesSlide+xml" PartName="/ppt/notesSlides/notesSlide24.xml"/>
  <Override ContentType="application/vnd.openxmlformats-officedocument.presentationml.slide+xml" PartName="/ppt/slides/slide25.xml"/>
  <Override ContentType="application/vnd.openxmlformats-officedocument.presentationml.notesSlide+xml" PartName="/ppt/notesSlides/notesSlide25.xml"/>
  <Override ContentType="application/vnd.openxmlformats-officedocument.presentationml.slide+xml" PartName="/ppt/slides/slide26.xml"/>
  <Override ContentType="application/vnd.openxmlformats-officedocument.presentationml.notesSlide+xml" PartName="/ppt/notesSlides/notesSlide26.xml"/>
  <Override ContentType="application/vnd.openxmlformats-officedocument.presentationml.slide+xml" PartName="/ppt/slides/slide27.xml"/>
  <Override ContentType="application/vnd.openxmlformats-officedocument.presentationml.notesSlide+xml" PartName="/ppt/notesSlides/notesSlide27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Deck1"/>
    <p:sldId id="257" r:id="rIdDeck2"/>
    <p:sldId id="258" r:id="rIdDeck3"/>
    <p:sldId id="259" r:id="rIdDeck4"/>
    <p:sldId id="260" r:id="rIdDeck5"/>
    <p:sldId id="261" r:id="rIdDeck6"/>
    <p:sldId id="262" r:id="rIdDeck7"/>
    <p:sldId id="263" r:id="rIdDeck8"/>
    <p:sldId id="264" r:id="rIdDeck9"/>
    <p:sldId id="265" r:id="rIdDeck10"/>
    <p:sldId id="266" r:id="rIdDeck11"/>
    <p:sldId id="267" r:id="rIdDeck12"/>
    <p:sldId id="268" r:id="rIdDeck13"/>
    <p:sldId id="269" r:id="rIdDeck14"/>
    <p:sldId id="270" r:id="rIdDeck15"/>
    <p:sldId id="271" r:id="rIdDeck16"/>
    <p:sldId id="272" r:id="rIdDeck17"/>
    <p:sldId id="273" r:id="rIdDeck18"/>
    <p:sldId id="274" r:id="rIdDeck19"/>
    <p:sldId id="275" r:id="rIdDeck20"/>
    <p:sldId id="276" r:id="rIdDeck21"/>
    <p:sldId id="277" r:id="rIdDeck22"/>
    <p:sldId id="278" r:id="rIdDeck23"/>
    <p:sldId id="279" r:id="rIdDeck24"/>
    <p:sldId id="280" r:id="rIdDeck25"/>
    <p:sldId id="281" r:id="rIdDeck26"/>
    <p:sldId id="282" r:id="rIdDeck27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40" Type="http://schemas.openxmlformats.org/officeDocument/2006/relationships/font" Target="fonts/Urbanist-boldItalic.fntdata"/><Relationship Id="rId42" Type="http://schemas.openxmlformats.org/officeDocument/2006/relationships/font" Target="fonts/ReadexProMedium-bold.fntdata"/><Relationship Id="rId41" Type="http://schemas.openxmlformats.org/officeDocument/2006/relationships/font" Target="fonts/ReadexProMedium-regular.fntdata"/><Relationship Id="rId44" Type="http://schemas.openxmlformats.org/officeDocument/2006/relationships/font" Target="fonts/ReadexProSemiBold-bold.fntdata"/><Relationship Id="rId43" Type="http://schemas.openxmlformats.org/officeDocument/2006/relationships/font" Target="fonts/ReadexProSemiBold-regular.fntdata"/><Relationship Id="rId46" Type="http://schemas.openxmlformats.org/officeDocument/2006/relationships/font" Target="fonts/ReadexPro-bold.fntdata"/><Relationship Id="rId45" Type="http://schemas.openxmlformats.org/officeDocument/2006/relationships/font" Target="fonts/ReadexPr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48" Type="http://schemas.openxmlformats.org/officeDocument/2006/relationships/font" Target="fonts/ReadexProLight-bold.fntdata"/><Relationship Id="rId47" Type="http://schemas.openxmlformats.org/officeDocument/2006/relationships/font" Target="fonts/ReadexProLight-regular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37" Type="http://schemas.openxmlformats.org/officeDocument/2006/relationships/font" Target="fonts/Urbanist-regular.fntdata"/><Relationship Id="rId39" Type="http://schemas.openxmlformats.org/officeDocument/2006/relationships/font" Target="fonts/Urbanist-italic.fntdata"/><Relationship Id="rId38" Type="http://schemas.openxmlformats.org/officeDocument/2006/relationships/font" Target="fonts/Urbanist-bold.fntdata"/><Relationship Id="rIdDeck1" Type="http://schemas.openxmlformats.org/officeDocument/2006/relationships/slide" Target="slides/slide1.xml"/><Relationship Id="rIdDeck2" Type="http://schemas.openxmlformats.org/officeDocument/2006/relationships/slide" Target="slides/slide2.xml"/><Relationship Id="rIdDeck3" Type="http://schemas.openxmlformats.org/officeDocument/2006/relationships/slide" Target="slides/slide3.xml"/><Relationship Id="rIdDeck4" Type="http://schemas.openxmlformats.org/officeDocument/2006/relationships/slide" Target="slides/slide4.xml"/><Relationship Id="rIdDeck5" Type="http://schemas.openxmlformats.org/officeDocument/2006/relationships/slide" Target="slides/slide5.xml"/><Relationship Id="rIdDeck6" Type="http://schemas.openxmlformats.org/officeDocument/2006/relationships/slide" Target="slides/slide6.xml"/><Relationship Id="rIdDeck7" Type="http://schemas.openxmlformats.org/officeDocument/2006/relationships/slide" Target="slides/slide7.xml"/><Relationship Id="rIdDeck8" Type="http://schemas.openxmlformats.org/officeDocument/2006/relationships/slide" Target="slides/slide8.xml"/><Relationship Id="rIdDeck9" Type="http://schemas.openxmlformats.org/officeDocument/2006/relationships/slide" Target="slides/slide9.xml"/><Relationship Id="rIdDeck10" Type="http://schemas.openxmlformats.org/officeDocument/2006/relationships/slide" Target="slides/slide10.xml"/><Relationship Id="rIdDeck11" Type="http://schemas.openxmlformats.org/officeDocument/2006/relationships/slide" Target="slides/slide11.xml"/><Relationship Id="rIdDeck12" Type="http://schemas.openxmlformats.org/officeDocument/2006/relationships/slide" Target="slides/slide12.xml"/><Relationship Id="rIdDeck13" Type="http://schemas.openxmlformats.org/officeDocument/2006/relationships/slide" Target="slides/slide13.xml"/><Relationship Id="rIdDeck14" Type="http://schemas.openxmlformats.org/officeDocument/2006/relationships/slide" Target="slides/slide14.xml"/><Relationship Id="rIdDeck15" Type="http://schemas.openxmlformats.org/officeDocument/2006/relationships/slide" Target="slides/slide15.xml"/><Relationship Id="rIdDeck16" Type="http://schemas.openxmlformats.org/officeDocument/2006/relationships/slide" Target="slides/slide16.xml"/><Relationship Id="rIdDeck17" Type="http://schemas.openxmlformats.org/officeDocument/2006/relationships/slide" Target="slides/slide17.xml"/><Relationship Id="rIdDeck18" Type="http://schemas.openxmlformats.org/officeDocument/2006/relationships/slide" Target="slides/slide18.xml"/><Relationship Id="rIdDeck19" Type="http://schemas.openxmlformats.org/officeDocument/2006/relationships/slide" Target="slides/slide19.xml"/><Relationship Id="rIdDeck20" Type="http://schemas.openxmlformats.org/officeDocument/2006/relationships/slide" Target="slides/slide20.xml"/><Relationship Id="rIdDeck21" Type="http://schemas.openxmlformats.org/officeDocument/2006/relationships/slide" Target="slides/slide21.xml"/><Relationship Id="rIdDeck22" Type="http://schemas.openxmlformats.org/officeDocument/2006/relationships/slide" Target="slides/slide22.xml"/><Relationship Id="rIdDeck23" Type="http://schemas.openxmlformats.org/officeDocument/2006/relationships/slide" Target="slides/slide23.xml"/><Relationship Id="rIdDeck24" Type="http://schemas.openxmlformats.org/officeDocument/2006/relationships/slide" Target="slides/slide24.xml"/><Relationship Id="rIdDeck25" Type="http://schemas.openxmlformats.org/officeDocument/2006/relationships/slide" Target="slides/slide25.xml"/><Relationship Id="rIdDeck26" Type="http://schemas.openxmlformats.org/officeDocument/2006/relationships/slide" Target="slides/slide26.xml"/><Relationship Id="rIdDeck27" Type="http://schemas.openxmlformats.org/officeDocument/2006/relationships/slide" Target="slides/slide2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(10 ث) نحن جمعية أصول، صاحبة منصة theislam.chat للحوار مع غير المسلمين. مشروعنا: ما بعد الشهادة. لكن قبل المشروع، نبدأ بسؤال.</a:t>
            </a:r>
          </a:p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هل سألتَ نفسك: إنسان غير مسلم، يريد أن يعرف الإسلام، بلغته… إلى من يكتب؟ بعضهم كتب إلى هنا: theislam.chat.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theislam.chat من جمعية أصول، يحاور غير المسلمين منذ أكتوبر 2024، كتابةً وصوتاً. 16,653 محادثة، من 150 دولة، باثنتين وخمسين لغة.</a:t>
            </a:r>
          </a:p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الداعية الدكتور لورانس براون جرّب الحوار بالصوت وأثنى عليه. التسجيل كاملاً على الرابط.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وفي بعض تلك المحادثات توقّف الحوار عند جملتين: 166 محادثة نطق فيها صاحبها بالشهادتين. هذا من فضل الله وحده. لكن… أين المشكلة؟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(25 ث) 89 محادثة انتهت برسالتين أو أقل بعد الشهادتين. و22 سألوا في الحال: كيف أتوضأ؟ كيف أصلي؟ ماذا أفعل الآن؟ ومن هؤلاء جميعاً، 11 فقط تركوا لنا طريقاً إليهم. خسارة كبيرة، والأمانة علينا نحن.</a:t>
            </a:r>
          </a:p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المستفيد مسلم جديد في لحظة حساسة. كان يتلقى تهنئة ثم طلب رقم هاتف، ومن لا يترك رقمه تنقطع رحلته.</a:t>
            </a:r>
          </a:p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(30 ث) كنا نحتاج نظاماً يكمل معهم، فدخلنا التحدي وبنينا «ما بعد الشهادة». ست خطوات: الشهادة، بطاقة التعارف، الدرس الأول، ماذا أتعلم أولاً، درس كل يوم، ثم إنسان عند الحاجة. كلها في المحادثة نفسها.</a:t>
            </a:r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(25 ث) اخترنا المسار الثالث: رحلة معرفية متدرجة ومستمرة. معيار نجاحه: ملاءمة المحتوى وتسلسله، واستمرار الرحلة، والانتقال المنطقي، والإحالة إلى الإنسان، مع الخصوصية. وهذا ما يحققه كل صف في الجدول، ومعه دليله.</a:t>
            </a:r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(20 ث) بطاقة البداية بما قاله المستخدم حرفياً، ثم الدرس الأول وكل جملة مربوطة بصفحتها، ثم خطوات الوضوء كما في الكتاب.</a:t>
            </a:r>
          </a:p>
        </p:txBody>
      </p:sp>
      <p:sp>
        <p:nvSpPr>
          <p:cNvPr id="840" name="Google Shape;840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(20 ث) سؤال من الكتاب يُجاب بمصادره. سؤال خارج الكتاب يُرفض بوضوح. وسؤال عن حالة شخصية يذهب إلى إنسان بموافقة المستخدم.</a:t>
            </a:r>
          </a:p>
        </p:txBody>
      </p:sp>
      <p:sp>
        <p:nvSpPr>
          <p:cNvPr id="840" name="Google Shape;840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الكتاب كله يُقرأ صفحة صفحة، وكل مصدر في الأجوبة يفتح صفحته. وفي منصة المرشدين تظهر الأزمات أولاً مع رقم الطوارئ في بلد المتعلم.</a:t>
            </a:r>
          </a:p>
        </p:txBody>
      </p:sp>
      <p:sp>
        <p:nvSpPr>
          <p:cNvPr id="840" name="Google Shape;840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(25 ث) حول الرحلة: قارئ للكتاب كله، وحساب بتذكير يومي، ومنصة للمرشدين بصندوق حالات وتنبيه أزمات ومؤقتات، ومحادثة لكل حالة يصل ردها إلى المتعلم، و«استمع وردّد»، وأمان الجلسات وحدود الطلبات.</a:t>
            </a:r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(35 ث) الموجّه يقرر: يُجاب أم يُحال. الاسترجاع الهجين يجد المقاطع. النموذج يكتب الجواب ويسند كل جملة إلى مقطع. الفاحص كود لا نموذج: يحذف ما لا سند له ويدرج الاقتباسات والآيات من مصادرها. لا تظهر جملة قبل اجتياز الفاحص.</a:t>
            </a:r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(20 ث) ما يضيفه الذكاء الاصطناعي: فهم المتعلم بلغته، وإيجاد المقاطع بالمعنى، والشرح المسند. أما النص الديني فيدرجه الكود، والحكم الشخصي للإنسان.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(25 ث) الخوارزميات: موجّه بإشارتين، واسترجاع هجين BM25 مع المتجهات، وتوليد مقيّد بإسناد لكل جملة، وفاحص بالكود، وتقييم بنموذج حَكَم. والنماذج: gemini-3.8-flash للتوليد، وflash-lite للموجّه، وgemini-embedding-2، وgemini-3.1-pro للحكم، وgpt-5.4-mini للحوار.</a:t>
            </a:r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(25 ث) الثوابت تُعرض بنص الكتاب، والخلاف بقول الكتاب مع سعة، وما ليس في الكتاب امتناع وإحالة، والفتوى الشخصية والأزمة إلى إنسان، والطوارئ أولاً.</a:t>
            </a:r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(20 ث) المرجع الوحيد كتاب «الوجيز» لمركز أصول، وكل مقطع بصفحته وبصمته. الآيات من Tanzil والمعاني من QuranEnc يدرجها الكود. وسجل المراجعة في review.json، والدرس غير المعتمد يُعرض بنص الكتاب فقط.</a:t>
            </a:r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(35 ث) على 200 سؤال أغلقناها قبل البناء، وكل سؤال 3 مرات: الاقتباسات مطابقة 100% مقابل 92.1% بلا فاحص. الحالات الحرجة: لم يُعطَ حكم في 98.9% مع عرض مرشد. ونقول بوضوح ما لم نبلغه: الإحالة المباشرة 81% مقابل هدف 100%.</a:t>
            </a:r>
          </a:p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(35 ث) بعد التدقيق الشامل أعدنا تشغيل المجموعة المثبتة: الأجوبة المسندة 100%، والاقتباسات 100%، ولا حكم في 30 من 30 حالة حرجة. وعلى 150 سؤالاً لم يرها النظام قط: 88% سلوك صحيح، وصفر أحكام مختلقة، و51 من 51 في الإحالة والأزمات. ونقول بوضوح: أسئلة التدقيق والمجموعة K استُخدمت للضبط، والمجموعة M لم تُستخدم.</a:t>
            </a:r>
          </a:p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الفرق عن البدائل: يبدأ التعليم فوراً في المكان نفسه، ويستمر، ولا ينسب إلى الكتاب ما ليس فيه.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المصدر واحد: الوجيز بعشر طبعات. والقرآن من Tanzil وترجمات QuranEnc. وبقية اللغات ترى الأصل مع شرح مترجم بوسم واضح.</a:t>
            </a:r>
          </a:p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(15 ث) يعمل الآن: الدروس كاملة، والحساب والتذكير، ومنصة المرشدين، ومزوّد احتياطي. وبعد التحدي: مراجعة بقية الدروس، وتشغيل فريق المرشدين من أصول.</a:t>
            </a:r>
          </a:p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(20 ث) الجديد هو الوحدة كلها ومنصة المرشدين ورقعة دمج من 430 سطراً. المنصة نفسها قائمة قبل التحدي ولا نطلب تقييمها.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(10 ث) الفريق: محمد عاشور (قائد الفريق)، وباسل الفوزان (فريق التأسيس)، ومحمد يمان غيبه (مبرمج).</a:t>
            </a:r>
          </a:p>
        </p:txBody>
      </p:sp>
      <p:sp>
        <p:nvSpPr>
          <p:cNvPr id="684" name="Google Shape;68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(10 ث) الروابط: التجربة الحية من لحظة الشهادة، ومنصة المرشدين بحساب المشرف التجريبي، والمستودع العام بالكود والتقييم.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rtl="1" algn="r"/>
            <a:r>
              <a:rPr lang="ar-SA" sz="1200"/>
              <a:t>شكراً. التجربة الحية على الرابط، والمستودع والتقرير الكامل متاحان.</a:t>
            </a:r>
          </a:p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0" Type="http://schemas.openxmlformats.org/officeDocument/2006/relationships/image" Target="../media/deck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0" Type="http://schemas.openxmlformats.org/officeDocument/2006/relationships/image" Target="../media/deck2.png"/><Relationship Id="rId101" Type="http://schemas.openxmlformats.org/officeDocument/2006/relationships/image" Target="../media/deck3.png"/><Relationship Id="rId102" Type="http://schemas.openxmlformats.org/officeDocument/2006/relationships/image" Target="../media/deck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0" Type="http://schemas.openxmlformats.org/officeDocument/2006/relationships/image" Target="../media/deck5.png"/><Relationship Id="rId101" Type="http://schemas.openxmlformats.org/officeDocument/2006/relationships/image" Target="../media/deck6.png"/><Relationship Id="rId102" Type="http://schemas.openxmlformats.org/officeDocument/2006/relationships/image" Target="../media/deck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0" Type="http://schemas.openxmlformats.org/officeDocument/2006/relationships/image" Target="../media/deck8.png"/><Relationship Id="rId101" Type="http://schemas.openxmlformats.org/officeDocument/2006/relationships/image" Target="../media/deck9.png"/><Relationship Id="rId102" Type="http://schemas.openxmlformats.org/officeDocument/2006/relationships/image" Target="../media/deck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10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143250"/>
            <a:ext cx="904875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5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theislam.chat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54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ما بعد الشهادة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1106150" y="9115425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جمعية أصول · المسار ‎03‎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‎6‎ أكتوبر ‎2026‎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 txBox="1"/>
          <p:nvPr/>
        </p:nvSpPr>
        <p:spPr>
          <a:xfrm>
            <a:off x="7791450" y="5191125"/>
            <a:ext cx="904875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2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حين ينطق أحدٌ بالشهادتين في المحادثة، لا تكون آخرَ رسالة، بل أوّلَ درس: دروس من كتاب «الوجيز»، وجواب له صفحة في الكتاب، وإنسان حين يلزم.</a:t>
            </a:r>
          </a:p>
          <a:p>
            <a:pPr marL="0" indent="0" rtl="1"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shahada.theislam.chat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قبل أن نبدأ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يريد أن يعرف الإسلام… فإلى من يكتب؟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قبل أن نعرض المشروع، نبدأ بالشخص الذي بُني من أجله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3001" name="deck 3001"/>
          <p:cNvSpPr/>
          <p:nvPr/>
        </p:nvSpPr>
        <p:spPr>
          <a:xfrm>
            <a:off x="2476500" y="3810000"/>
            <a:ext cx="13335000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25000"/>
              </a:srgbClr>
            </a:solidFill>
          </a:ln>
        </p:spPr>
        <p:txBody>
          <a:bodyPr wrap="square" lIns="381000" tIns="381000" rIns="381000" bIns="381000" anchor="ctr" rtlCol="1">
            <a:noAutofit/>
          </a:bodyPr>
          <a:lstStyle/>
          <a:p>
            <a:pPr marL="0" indent="0"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40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«إنسانٌ، في مكانٍ ما، يريد أن يعرف الإسلام.»</a:t>
            </a:r>
          </a:p>
          <a:p>
            <a:pPr marL="0" indent="0" rtl="1" algn="ctr">
              <a:lnSpc>
                <a:spcPct val="12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ar-SA" sz="2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غير مسلم. لا يعرف مسلماً قريباً منه، ولا يدري من أين يبدأ. فيفتح محادثة، ويكتب سؤاله بلغته.</a:t>
            </a:r>
          </a:p>
        </p:txBody>
      </p:sp>
      <p:sp>
        <p:nvSpPr>
          <p:cNvPr id="3002" name="deck 3002"/>
          <p:cNvSpPr/>
          <p:nvPr/>
        </p:nvSpPr>
        <p:spPr>
          <a:xfrm>
            <a:off x="1409700" y="7620000"/>
            <a:ext cx="15430500" cy="85725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بعضهم كتب إلى هنا: </a:t>
            </a:r>
            <a:r>
              <a:rPr lang="ar-SA" sz="26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theislam.chat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من نحن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theislam.chat: حوار يعرّف غير المسلمين بالإسلام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منصة لجمعية أصول منذ أكتوبر ‎2024:‎ محادثة بالكتابة وبالصوت، يسأل فيها الزائر بلغته فيُجاب بلغته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‎16,653‎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محادثة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 أناس يسألون عن الإسلام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‎150‎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دولة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جاءت منها المحادثات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‎52‎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لغة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السواحيلية إلى اليابانية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‎2024‎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منذ أكتوبر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كتابةً وصوتاً، من جمعية أصول</a:t>
            </a:r>
            <a:endParaRPr/>
          </a:p>
        </p:txBody>
      </p:sp>
      <p:sp>
        <p:nvSpPr>
          <p:cNvPr id="3001" name="deck 3001"/>
          <p:cNvSpPr/>
          <p:nvPr/>
        </p:nvSpPr>
        <p:spPr>
          <a:xfrm>
            <a:off x="1409700" y="8382000"/>
            <a:ext cx="15430500" cy="7239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لماذا يهمّ هذا؟ </a:t>
            </a:r>
            <a:r>
              <a:rPr lang="ar-SA" sz="21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لأن الناس يصلون إلينا فعلاً، كل يوم، من بلاد ولغات كثيرة. والمشروع يُبنى داخل هذا المكان، لا بعيداً عنه.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شهادة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داعية جرّب الحوار الصوتي فقال: «لقد أذهلني»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الدكتور لورانس براون، طبيب وكاتب وداعية، عن الحوار الصوتي في theislam.chat · تسجيل مصوّر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3001" name="testimonial" descr="Laurence Brown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714500" y="3429000"/>
            <a:ext cx="3143250" cy="4714875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2" name="deck 3002"/>
          <p:cNvSpPr/>
          <p:nvPr/>
        </p:nvSpPr>
        <p:spPr>
          <a:xfrm>
            <a:off x="5334000" y="3429000"/>
            <a:ext cx="11506200" cy="4714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323850" tIns="323850" rIns="323850" bIns="323850" anchor="t" rtlCol="1">
            <a:noAutofit/>
          </a:bodyPr>
          <a:lstStyle/>
          <a:p>
            <a:pPr marL="0" indent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«Subhanallah brother, Mashallah tabarakallah, it is really amazing. And it's kind of blown my mind, actually.»</a:t>
            </a:r>
          </a:p>
          <a:p>
            <a:pPr marL="0" indent="0" rtl="1" algn="r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«سبحان الله يا أخي، ما شاء الله تبارك الله، إنه مذهل حقاً… لقد أذهلني فعلاً.»</a:t>
            </a:r>
          </a:p>
          <a:p>
            <a:pPr marL="0" indent="0" rtl="0" algn="l">
              <a:lnSpc>
                <a:spcPct val="12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9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«…an incredible tool, not just for your website, but to be made available to the Muslims in general.»</a:t>
            </a:r>
          </a:p>
          <a:p>
            <a:pPr marL="0" indent="0" rtl="1" algn="r">
              <a:lnSpc>
                <a:spcPct val="12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9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أثنى على جودة الحوار، وقال إنه ينبغي أن يكون متاحاً للمسلمين عموماً، لا لموقعنا وحده.</a:t>
            </a:r>
          </a:p>
          <a:p>
            <a:pPr marL="0" indent="0" rtl="1" algn="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ar-SA" sz="19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شاهد التسجيل: shahada.theislam.chat/testimonial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اللحظة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وفي ‎166‎ محادثة، نطق صاحبها بالشهادتين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المحادثة نفسها، كتابةً أو صوتاً · والهداية من الله وحده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3001" name="deck 3001"/>
          <p:cNvSpPr txBox="1"/>
          <p:nvPr/>
        </p:nvSpPr>
        <p:spPr>
          <a:xfrm>
            <a:off x="3429000" y="3524250"/>
            <a:ext cx="11430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‎166‎</a:t>
            </a:r>
          </a:p>
          <a:p>
            <a:pPr marL="0" indent="0" rt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محادثة نطق فيها صاحبها بالشهادتين</a:t>
            </a:r>
          </a:p>
          <a:p>
            <a:pPr marL="0" indent="0" rt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ar-SA" sz="2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هذا من فضل الله وحده.</a:t>
            </a:r>
          </a:p>
        </p:txBody>
      </p:sp>
      <p:sp>
        <p:nvSpPr>
          <p:cNvPr id="3002" name="deck 3002"/>
          <p:cNvSpPr/>
          <p:nvPr/>
        </p:nvSpPr>
        <p:spPr>
          <a:xfrm>
            <a:off x="5334000" y="7810500"/>
            <a:ext cx="7620000" cy="9525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40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لكن… أين المشكلة؟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بعد الشهادتين، انقطع الحوار عند أكثرهم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ماذا حدث بعد تلك المحادثات؟ أعداد من سجلات المنصة في ‎8‎ سبتمبر ‎2026‎، دون قراءة نص أي محادثة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‎166‎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نطقوا بالشهادتين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المحادثة نفسها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‎89‎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انتهت محادثتهم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برسالتين أو أقل بعد الشهادة (‎54%‎)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‎22‎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سألوا في الحال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كيف أتوضأ؟ كيف أصلي؟ ماذا أفعل الآن؟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‎11‎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تركوا طريقاً إليهم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فقط (‎6.6%‎)؛ والباقون لا نعرف كيف نكمل معهم</a:t>
            </a:r>
            <a:endParaRPr/>
          </a:p>
        </p:txBody>
      </p:sp>
      <p:sp>
        <p:nvSpPr>
          <p:cNvPr id="3001" name="deck 3001"/>
          <p:cNvSpPr/>
          <p:nvPr/>
        </p:nvSpPr>
        <p:spPr>
          <a:xfrm>
            <a:off x="1409700" y="8382000"/>
            <a:ext cx="15430500" cy="7239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1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ولم يكن عندنا درس نعطيهم: </a:t>
            </a: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منعنا الذكاء الاصطناعي عمداً من تعليم العبادة من ذاكرته، فبقي السؤال بلا جواب. والأمانة هنا علينا نحن.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لمن نبني؟</a:t>
            </a:r>
            <a:endParaRPr/>
          </a:p>
        </p:txBody>
      </p:sp>
      <p:sp>
        <p:nvSpPr>
          <p:cNvPr id="711" name="Google Shape;711;p20"/>
          <p:cNvSpPr txBox="1"/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مسلم جديد يسأل: «ماذا أفعل؟»</a:t>
            </a:r>
            <a:endParaRPr/>
          </a:p>
        </p:txBody>
      </p:sp>
      <p:sp>
        <p:nvSpPr>
          <p:cNvPr id="712" name="Google Shape;712;p20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قد لا يكون حوله مسلم يعلّمه؛ فإن لم نجبه نحن في تلك اللحظة، فقد لا يجيبه أحد</a:t>
            </a:r>
            <a:endParaRPr/>
          </a:p>
        </p:txBody>
      </p:sp>
      <p:sp>
        <p:nvSpPr>
          <p:cNvPr id="713" name="Google Shape;713;p2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/>
          <p:nvPr/>
        </p:nvSpPr>
        <p:spPr>
          <a:xfrm>
            <a:off x="11953875" y="3905250"/>
            <a:ext cx="4886325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285750" tIns="285750" rIns="285750" bIns="28575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0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‎01‎</a:t>
            </a:r>
          </a:p>
          <a:p>
            <a:pPr marL="0" indent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من هو؟</a:t>
            </a:r>
          </a:p>
          <a:p>
            <a:pPr marL="0" indent="0" rtl="1" algn="r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ar-SA" sz="190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شخص نطق بالشهادتين للتو في المحادثة. يكتب بلغته من أي بلد، ويسأل فوراً: كيف أتوضأ؟ كيف أصلي؟ كيف أقرأ الفاتحة؟</a:t>
            </a:r>
          </a:p>
        </p:txBody>
      </p:sp>
      <p:sp>
        <p:nvSpPr>
          <p:cNvPr id="3002" name="deck 3002"/>
          <p:cNvSpPr/>
          <p:nvPr/>
        </p:nvSpPr>
        <p:spPr>
          <a:xfrm>
            <a:off x="6686550" y="3905250"/>
            <a:ext cx="4886325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285750" tIns="285750" rIns="285750" bIns="28575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0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‎02‎</a:t>
            </a:r>
          </a:p>
          <a:p>
            <a:pPr marL="0" indent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ماذا كان يحدث؟</a:t>
            </a:r>
          </a:p>
          <a:p>
            <a:pPr marL="0" indent="0" rtl="1" algn="r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ar-SA" sz="190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تهنئة بسطر أو سطرين، ثم طلب رقم أو بريد ليتابعه إنسان لاحقاً. لا دروس داخل المحادثة، لأننا منعنا الآلة عمداً من تعليم العبادة من ذاكرتها.</a:t>
            </a:r>
          </a:p>
        </p:txBody>
      </p:sp>
      <p:sp>
        <p:nvSpPr>
          <p:cNvPr id="3003" name="deck 3003"/>
          <p:cNvSpPr/>
          <p:nvPr/>
        </p:nvSpPr>
        <p:spPr>
          <a:xfrm>
            <a:off x="1419225" y="3905250"/>
            <a:ext cx="4886325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285750" tIns="285750" rIns="285750" bIns="28575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0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‎03‎</a:t>
            </a:r>
          </a:p>
          <a:p>
            <a:pPr marL="0" indent="0" rtl="1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والنتيجة</a:t>
            </a:r>
          </a:p>
          <a:p>
            <a:pPr marL="0" indent="0" rtl="1" algn="r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ar-SA" sz="190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‎11‎ فقط من ‎166‎ تركوا وسيلة تواصل، و‎13‎ عادوا في يوم لاحق. وإرسال ملف PDF أو بوت عام لا يضمن مصدراً موثوقاً ولا متابعة.</a:t>
            </a:r>
          </a:p>
        </p:txBody>
      </p:sp>
      <p:sp>
        <p:nvSpPr>
          <p:cNvPr id="3004" name="deck 3004"/>
          <p:cNvSpPr/>
          <p:nvPr/>
        </p:nvSpPr>
        <p:spPr>
          <a:xfrm>
            <a:off x="1409700" y="8096250"/>
            <a:ext cx="15430500" cy="723900"/>
          </a:xfrm>
          <a:prstGeom prst="roundRect">
            <a:avLst>
              <a:gd name="adj" fmla="val 18000"/>
            </a:avLst>
          </a:prstGeom>
          <a:solidFill>
            <a:srgbClr val="6150EA">
              <a:alpha val="10000"/>
            </a:srgbClr>
          </a:solidFill>
          <a:ln w="9525">
            <a:solidFill>
              <a:srgbClr val="6150EA">
                <a:alpha val="4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1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الهدف: </a:t>
            </a:r>
            <a:r>
              <a:rPr lang="ar-SA" sz="2100" b="0" dirty="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أن تصبح الشهادتان أوّلَ درس، لا آخرَ رسالة، في المحادثة نفسها وبلغته.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فقررنا أن نبني الحل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«ما بعد الشهادة»: المحادثة نفسها تصبح فصلاً دراسياً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لحظة الشهادة يتعلم خطوة خطوة، بلغته، من كتاب «الوجيز» لمركز أصول، المكتوب للمسلم الجديد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/>
          <p:nvPr/>
        </p:nvSpPr>
        <p:spPr>
          <a:xfrm>
            <a:off x="1445895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‎01‎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الشهادة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حين ينطق بالشهادتين، يعرف النظام ذلك، فتظهر تحت التهنئة بطاقة تدعوه للبدء.</a:t>
            </a:r>
          </a:p>
        </p:txBody>
      </p:sp>
      <p:sp>
        <p:nvSpPr>
          <p:cNvPr id="3002" name="deck 3002"/>
          <p:cNvSpPr/>
          <p:nvPr/>
        </p:nvSpPr>
        <p:spPr>
          <a:xfrm>
            <a:off x="14239875" y="5810250"/>
            <a:ext cx="209550" cy="22860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03" name="deck 3003"/>
          <p:cNvSpPr/>
          <p:nvPr/>
        </p:nvSpPr>
        <p:spPr>
          <a:xfrm>
            <a:off x="1184910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‎02‎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بطاقة التعارف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لغته وبلده وما سأل عنه، بكلماته هو. لا يُحفظ شيء قبل موافقته.</a:t>
            </a:r>
          </a:p>
        </p:txBody>
      </p:sp>
      <p:sp>
        <p:nvSpPr>
          <p:cNvPr id="3004" name="deck 3004"/>
          <p:cNvSpPr/>
          <p:nvPr/>
        </p:nvSpPr>
        <p:spPr>
          <a:xfrm>
            <a:off x="11630025" y="5810250"/>
            <a:ext cx="209550" cy="22860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05" name="deck 3005"/>
          <p:cNvSpPr/>
          <p:nvPr/>
        </p:nvSpPr>
        <p:spPr>
          <a:xfrm>
            <a:off x="923925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‎03‎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الدرس الأول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معنى الشهادتين اللتين نطق بهما. بعد كل جملة رقم يفتح صفحتها في الكتاب.</a:t>
            </a:r>
          </a:p>
        </p:txBody>
      </p:sp>
      <p:sp>
        <p:nvSpPr>
          <p:cNvPr id="3006" name="deck 3006"/>
          <p:cNvSpPr/>
          <p:nvPr/>
        </p:nvSpPr>
        <p:spPr>
          <a:xfrm>
            <a:off x="9020175" y="5810250"/>
            <a:ext cx="209550" cy="22860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07" name="deck 3007"/>
          <p:cNvSpPr/>
          <p:nvPr/>
        </p:nvSpPr>
        <p:spPr>
          <a:xfrm>
            <a:off x="662940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‎04‎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ماذا أتعلم أولاً؟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يختار: الوضوء أو الصلاة أو الفاتحة أو «لا أعرف»، فيُرتَّب له الطريق.</a:t>
            </a:r>
          </a:p>
        </p:txBody>
      </p:sp>
      <p:sp>
        <p:nvSpPr>
          <p:cNvPr id="3008" name="deck 3008"/>
          <p:cNvSpPr/>
          <p:nvPr/>
        </p:nvSpPr>
        <p:spPr>
          <a:xfrm>
            <a:off x="6410325" y="5810250"/>
            <a:ext cx="209550" cy="22860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09" name="deck 3009"/>
          <p:cNvSpPr/>
          <p:nvPr/>
        </p:nvSpPr>
        <p:spPr>
          <a:xfrm>
            <a:off x="401955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‎05‎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درس كل يوم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تذكير يومي بالدرس التالي، ويسأل متى شاء فيُجاب من الكتاب وحده.</a:t>
            </a:r>
          </a:p>
        </p:txBody>
      </p:sp>
      <p:sp>
        <p:nvSpPr>
          <p:cNvPr id="3010" name="deck 3010"/>
          <p:cNvSpPr/>
          <p:nvPr/>
        </p:nvSpPr>
        <p:spPr>
          <a:xfrm>
            <a:off x="3800475" y="5810250"/>
            <a:ext cx="209550" cy="22860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11" name="deck 3011"/>
          <p:cNvSpPr/>
          <p:nvPr/>
        </p:nvSpPr>
        <p:spPr>
          <a:xfrm>
            <a:off x="140970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‎06‎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مرشد أو مرشدة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يخص حياته الشخصية أو أزمة يمر بها يذهب إلى إنسان، بموافقته.</a:t>
            </a:r>
          </a:p>
        </p:txBody>
      </p:sp>
      <p:sp>
        <p:nvSpPr>
          <p:cNvPr id="3012" name="deck 3012"/>
          <p:cNvSpPr/>
          <p:nvPr/>
        </p:nvSpPr>
        <p:spPr>
          <a:xfrm>
            <a:off x="1409700" y="8382000"/>
            <a:ext cx="15430500" cy="7239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9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وحولها: </a:t>
            </a:r>
            <a:r>
              <a:rPr lang="ar-SA" sz="19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الكتاب كاملاً صفحة صفحة · حساب يحفظ تقدمه · «استمع وردّد» للفاتحة · تمارين بعد كل درس · منصة لفريق المرشدين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المسار ‎03:‎ التجارب التفاعلية والرحلة المعرفية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ما يطلبه مسار «الرحلة المعرفية»، وما فعلناه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المسار يطلب تعليماً متدرّجاً لا ينقطع، ويحيل إلى إنسان عند الحاجة. وهذا ما كان ينقص المسلم الجديد عندنا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والفهم؟ بعد كل درس أسئلة وتمارين من الكتاب نفسه. لكننا لم نقس بعدُ فهم مسلمين جدد حقيقيين، ولا ندّعي ذلك.</a:t>
            </a:r>
            <a:endParaRPr/>
          </a:p>
        </p:txBody>
      </p:sp>
      <p:graphicFrame>
        <p:nvGraphicFramePr>
          <p:cNvPr id="3001" name="track criteria"/>
          <p:cNvGraphicFramePr>
            <a:graphicFrameLocks noGrp="1"/>
          </p:cNvGraphicFramePr>
          <p:nvPr/>
        </p:nvGraphicFramePr>
        <p:xfrm>
          <a:off x="1409700" y="3762375"/>
          <a:ext cx="15430500" cy="4400550"/>
        </p:xfrm>
        <a:graphic>
          <a:graphicData uri="http://schemas.openxmlformats.org/drawingml/2006/table">
            <a:tbl>
              <a:tblPr rtl="1" firstRow="1" bandRow="0"/>
              <a:tblGrid>
                <a:gridCol w="3619500"/>
                <a:gridCol w="8953500"/>
                <a:gridCol w="2857500"/>
              </a:tblGrid>
              <a:tr h="49530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 يطلبه المسار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 فعلناه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كيف تحققنا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محتوى مناسب ومرتّب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منهج «الوجيز» في ‎19‎ درساً: معنى الشهادتين أولاً، ثم ما اختاره المتعلم، ثم الطهارة والصلاة، ثم بقية الكتاب بترتيبه.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الترتيب صحيح عند ‎120/120‎ متعلماً افتراضياً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تعلّم لا ينقطع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يُحفظ تقدّمه بحساب Google أو برابط في بريده، ويصله تذكير بدرسه كل يوم، ويجد ردّ المرشد حين يعود.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‎30‎ متعلماً افتراضياً يعودون في ‎4‎ أيام مختلفة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انتقال منطقي بين المراحل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الشهادة ← بطاقة التعارف ← الدرس الأول ← ماذا أتعلم أولاً؟ ← درس كل يوم ← إنسان عند الحاجة.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‎84/84‎ في ‎20‎ نوعاً من محادثات الشهادة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إنسان عند الحاجة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مرشد للإخوة ومرشدة للأخوات، بعد موافقة المتعلم. وإن كان في خطر، يرى رقم الطوارئ في بلده أولاً.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رقم الطوارئ أولاً: ‎15/15‎ و‎6/6‎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الخصوصية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نحفظ إلا ما قاله المتعلم بنفسه وبعد موافقته. ديانته السابقة تُنسى بعد الجلسة، ولا نستنتج عنه شيئاً لم يقله.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الكود يفحص كل حقل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من الموقع الحي</a:t>
            </a:r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هكذا يراه المتعلم: البداية، ثم الدرس الأول، ثم الوضوء</a:t>
            </a:r>
            <a:endParaRPr/>
          </a:p>
        </p:txBody>
      </p:sp>
      <p:sp>
        <p:nvSpPr>
          <p:cNvPr id="845" name="Google Shape;845;p2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 txBox="1"/>
          <p:nvPr/>
        </p:nvSpPr>
        <p:spPr>
          <a:xfrm>
            <a:off x="1409700" y="2781300"/>
            <a:ext cx="15430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لقطات حقيقية من shahada.theislam.chat/ar?demo=shahada</a:t>
            </a:r>
          </a:p>
        </p:txBody>
      </p:sp>
      <p:pic>
        <p:nvPicPr>
          <p:cNvPr id="3002" name="screenshot start" descr="بطاقة التعارف: ما قاله المتعلم بكلماته. يعدّله أو يحذفه، ولا يُحفظ قبل «متابعة»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887200" y="3286125"/>
            <a:ext cx="4953000" cy="4953000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3" name="deck 3003"/>
          <p:cNvSpPr txBox="1"/>
          <p:nvPr/>
        </p:nvSpPr>
        <p:spPr>
          <a:xfrm>
            <a:off x="1188720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بطاقة التعارف: ما قاله المتعلم بكلماته. يعدّله أو يحذفه، ولا يُحفظ قبل «متابعة»</a:t>
            </a:r>
          </a:p>
        </p:txBody>
      </p:sp>
      <p:pic>
        <p:nvPicPr>
          <p:cNvPr id="3004" name="screenshot lesson" descr="درس معنى الشهادتين: الرقم بعد كل جملة يفتح صفحتها من «الوجيز»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648450" y="3286125"/>
            <a:ext cx="4953000" cy="4953000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5" name="deck 3005"/>
          <p:cNvSpPr txBox="1"/>
          <p:nvPr/>
        </p:nvSpPr>
        <p:spPr>
          <a:xfrm>
            <a:off x="664845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درس معنى الشهادتين: الرقم بعد كل جملة يفتح صفحتها من «الوجيز»</a:t>
            </a:r>
          </a:p>
        </p:txBody>
      </p:sp>
      <p:pic>
        <p:nvPicPr>
          <p:cNvPr id="3006" name="screenshot wudu" descr="الوضوء: الخطوات بنص الكتاب وترتيبه، ثم تمارين قصيرة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409700" y="3286125"/>
            <a:ext cx="4953000" cy="4953000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7" name="deck 3007"/>
          <p:cNvSpPr txBox="1"/>
          <p:nvPr/>
        </p:nvSpPr>
        <p:spPr>
          <a:xfrm>
            <a:off x="140970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الوضوء: الخطوات بنص الكتاب وترتيبه، ثم تمارين قصيرة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من الموقع الحي</a:t>
            </a:r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وحين يسأل: جواب من الكتاب، أو اعتذار، أو إنسان</a:t>
            </a:r>
            <a:endParaRPr/>
          </a:p>
        </p:txBody>
      </p:sp>
      <p:sp>
        <p:nvSpPr>
          <p:cNvPr id="845" name="Google Shape;845;p2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 txBox="1"/>
          <p:nvPr/>
        </p:nvSpPr>
        <p:spPr>
          <a:xfrm>
            <a:off x="1409700" y="2781300"/>
            <a:ext cx="15430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الأسئلة الثلاثة: «Can I pray if I don't know Arabic yet?» · «ما رأيك في العملات الرقمية؟» · «زوجتي مسيحية، هل زواجي صحيح بعد إسلامي؟»</a:t>
            </a:r>
          </a:p>
        </p:txBody>
      </p:sp>
      <p:pic>
        <p:nvPicPr>
          <p:cNvPr id="3002" name="screenshot answer" descr="سؤال بالإنجليزية: خطوات الصلاة من الكتاب، وبعد كل جملة رقم مصدرها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887200" y="3286125"/>
            <a:ext cx="4953000" cy="4953000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3" name="deck 3003"/>
          <p:cNvSpPr txBox="1"/>
          <p:nvPr/>
        </p:nvSpPr>
        <p:spPr>
          <a:xfrm>
            <a:off x="1188720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سؤال بالإنجليزية: خطوات الصلاة من الكتاب، وبعد كل جملة رقم مصدرها</a:t>
            </a:r>
          </a:p>
        </p:txBody>
      </p:sp>
      <p:pic>
        <p:nvPicPr>
          <p:cNvPr id="3004" name="screenshot refusal" descr="سؤال ليس في الكتاب: يعتذر بوضوح ويعرض «تحدث إلى إنسان»، ولا يخمّن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648450" y="3286125"/>
            <a:ext cx="4953000" cy="4953000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5" name="deck 3005"/>
          <p:cNvSpPr txBox="1"/>
          <p:nvPr/>
        </p:nvSpPr>
        <p:spPr>
          <a:xfrm>
            <a:off x="664845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سؤال ليس في الكتاب: يعتذر بوضوح ويعرض «تحدث إلى إنسان»، ولا يخمّن</a:t>
            </a:r>
          </a:p>
        </p:txBody>
      </p:sp>
      <p:pic>
        <p:nvPicPr>
          <p:cNvPr id="3006" name="screenshot dialog" descr="سؤال شخصي: يختار مرشداً أو مرشدة، ويرى ما سيُرسل قبل أن يوافق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409700" y="3286125"/>
            <a:ext cx="4953000" cy="4953000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7" name="deck 3007"/>
          <p:cNvSpPr txBox="1"/>
          <p:nvPr/>
        </p:nvSpPr>
        <p:spPr>
          <a:xfrm>
            <a:off x="140970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سؤال شخصي: يختار مرشداً أو مرشدة، ويرى ما سيُرسل قبل أن يوافق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من الموقع الحي</a:t>
            </a:r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الكتاب كاملاً للمتعلم، ومنصة متابعة للمرشدين</a:t>
            </a:r>
            <a:endParaRPr/>
          </a:p>
        </p:txBody>
      </p:sp>
      <p:sp>
        <p:nvSpPr>
          <p:cNvPr id="845" name="Google Shape;845;p2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 txBox="1"/>
          <p:nvPr/>
        </p:nvSpPr>
        <p:spPr>
          <a:xfrm>
            <a:off x="1409700" y="2781300"/>
            <a:ext cx="15430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لقطات حقيقية من shahada.theislam.chat/ar?demo=shahada وshahada.theislam.chat/mentor</a:t>
            </a:r>
          </a:p>
        </p:txBody>
      </p:sp>
      <p:pic>
        <p:nvPicPr>
          <p:cNvPr id="3002" name="screenshot book" descr="الكتاب كاملاً: يقرؤه صفحة صفحة بفهرس، وكل صفحة تدلّ على درسها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887200" y="3286125"/>
            <a:ext cx="4953000" cy="4953000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3" name="deck 3003"/>
          <p:cNvSpPr txBox="1"/>
          <p:nvPr/>
        </p:nvSpPr>
        <p:spPr>
          <a:xfrm>
            <a:off x="1188720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الكتاب كاملاً: يقرؤه صفحة صفحة بفهرس، وكل صفحة تدلّ على درسها</a:t>
            </a:r>
          </a:p>
        </p:txBody>
      </p:sp>
      <p:pic>
        <p:nvPicPr>
          <p:cNvPr id="3004" name="screenshot inbox" descr="منصة المرشدين: كل الطلبات في مكان واحد، والأزمات في أعلاها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648450" y="3286125"/>
            <a:ext cx="4953000" cy="4714301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5" name="deck 3005"/>
          <p:cNvSpPr txBox="1"/>
          <p:nvPr/>
        </p:nvSpPr>
        <p:spPr>
          <a:xfrm>
            <a:off x="664845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منصة المرشدين: كل الطلبات في مكان واحد، والأزمات في أعلاها</a:t>
            </a:r>
          </a:p>
        </p:txBody>
      </p:sp>
      <p:pic>
        <p:nvPicPr>
          <p:cNvPr id="3006" name="screenshot crisis" descr="طلب عاجل: رقم الطوارئ في بلد المتعلم، ثم المحادثة وردود جاهزة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409700" y="3286125"/>
            <a:ext cx="4953000" cy="3952135"/>
          </a:xfrm>
          <a:prstGeom prst="roundRect">
            <a:avLst>
              <a:gd name="adj" fmla="val 2500"/>
            </a:avLst>
          </a:prstGeom>
          <a:ln w="19050">
            <a:solidFill>
              <a:srgbClr val="2EF2C2"/>
            </a:solidFill>
          </a:ln>
        </p:spPr>
      </p:pic>
      <p:sp>
        <p:nvSpPr>
          <p:cNvPr id="3007" name="deck 3007"/>
          <p:cNvSpPr txBox="1"/>
          <p:nvPr/>
        </p:nvSpPr>
        <p:spPr>
          <a:xfrm>
            <a:off x="1409700" y="8372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طلب عاجل: رقم الطوارئ في بلد المتعلم، ثم المحادثة وردود جاهزة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بنيناه حول الدروس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ستة أشياء تجعل المتعلم يعود في الغد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درس واحد لا يكفي. هذه كلها تعمل الآن على الموقع، وبنيناها في أيام التحدي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/>
          <p:nvPr/>
        </p:nvSpPr>
        <p:spPr>
          <a:xfrm>
            <a:off x="1445895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‎01‎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الكتاب كاملاً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يقرؤه صفحة صفحة بفهرس. وكل مصدر في درس أو جواب يفتح صفحته.</a:t>
            </a:r>
          </a:p>
        </p:txBody>
      </p:sp>
      <p:sp>
        <p:nvSpPr>
          <p:cNvPr id="3002" name="deck 3002"/>
          <p:cNvSpPr/>
          <p:nvPr/>
        </p:nvSpPr>
        <p:spPr>
          <a:xfrm>
            <a:off x="1184910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‎02‎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حساب وتذكير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يدخل بحساب Google أو برابط في بريده. يصله تذكير بدرسه في الساعة التي يختارها، ويحذف بياناته متى شاء.</a:t>
            </a:r>
          </a:p>
        </p:txBody>
      </p:sp>
      <p:sp>
        <p:nvSpPr>
          <p:cNvPr id="3003" name="deck 3003"/>
          <p:cNvSpPr/>
          <p:nvPr/>
        </p:nvSpPr>
        <p:spPr>
          <a:xfrm>
            <a:off x="923925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‎03‎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منصة المرشدين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كل الطلبات في مكان واحد. تنبيه فوري عند الأزمة، وعدّاد يذكّر بالرد، وأرقام للمشرف.</a:t>
            </a:r>
          </a:p>
        </p:txBody>
      </p:sp>
      <p:sp>
        <p:nvSpPr>
          <p:cNvPr id="3004" name="deck 3004"/>
          <p:cNvSpPr/>
          <p:nvPr/>
        </p:nvSpPr>
        <p:spPr>
          <a:xfrm>
            <a:off x="662940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‎04‎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محادثة مع المرشد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لكل طلب محادثة محفوظة. وردّ المرشد ينتظر المتعلم حين يعود.</a:t>
            </a:r>
          </a:p>
        </p:txBody>
      </p:sp>
      <p:sp>
        <p:nvSpPr>
          <p:cNvPr id="3005" name="deck 3005"/>
          <p:cNvSpPr/>
          <p:nvPr/>
        </p:nvSpPr>
        <p:spPr>
          <a:xfrm>
            <a:off x="401955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‎05‎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استمع وردّد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الفاتحة وقصار السور، آيةً آية بصوت المنشاوي (المصحف المعلّم) والعفاسي، ثم يردّد المتعلم.</a:t>
            </a:r>
          </a:p>
        </p:txBody>
      </p:sp>
      <p:sp>
        <p:nvSpPr>
          <p:cNvPr id="3006" name="deck 3006"/>
          <p:cNvSpPr/>
          <p:nvPr/>
        </p:nvSpPr>
        <p:spPr>
          <a:xfrm>
            <a:off x="1409700" y="3762375"/>
            <a:ext cx="2381250" cy="433387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‎06‎</a:t>
            </a:r>
          </a:p>
          <a:p>
            <a:pPr marL="0" indent="0" rtl="1" algn="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الحماية</a:t>
            </a:r>
          </a:p>
          <a:p>
            <a:pPr marL="0" indent="0" rtl="1" algn="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7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المفاتيح السرية على الخادم وحده، وحدّ لعدد الطلبات. ولا نصّ لأي محادثة حقيقية في الكود.</a:t>
            </a:r>
          </a:p>
        </p:txBody>
      </p:sp>
      <p:sp>
        <p:nvSpPr>
          <p:cNvPr id="3007" name="deck 3007"/>
          <p:cNvSpPr/>
          <p:nvPr/>
        </p:nvSpPr>
        <p:spPr>
          <a:xfrm>
            <a:off x="1409700" y="8382000"/>
            <a:ext cx="15430500" cy="7239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9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وأيضاً: </a:t>
            </a:r>
            <a:r>
              <a:rPr lang="ar-SA" sz="19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يرى المتعلم ما يجري أثناء تحضير الجواب · تمارين بعد كل درس · خطوات الوضوء والغسل والصلاة بنص الكتاب في كل مرة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كيف يعمل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كيف يُصنع الجواب؟ ولماذا لا تظهر جملة بلا مصدر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الخطأ في الدين ليس كأي خطأ. لذلك يكتب الذكاء الاصطناعي الشرح، ويفحصه برنامج قبل أن يراه أحد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/>
          <p:nvPr/>
        </p:nvSpPr>
        <p:spPr>
          <a:xfrm>
            <a:off x="13982700" y="3762375"/>
            <a:ext cx="2857500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‎01‎ </a:t>
            </a: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الفرز</a:t>
            </a:r>
          </a:p>
          <a:p>
            <a:pPr marL="0" indent="0" rtl="1" algn="r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هل السؤال من الكتاب أم يحتاج إنساناً؟ يحكم عليه أمران: قائمة ثابتة لكلمات الأزمة بلغات عدة، ورأي الذكاء الاصطناعي. إن قال أحدهما «إنسان»، ذهب إلى إنسان.</a:t>
            </a:r>
          </a:p>
        </p:txBody>
      </p:sp>
      <p:sp>
        <p:nvSpPr>
          <p:cNvPr id="3002" name="deck 3002"/>
          <p:cNvSpPr/>
          <p:nvPr/>
        </p:nvSpPr>
        <p:spPr>
          <a:xfrm>
            <a:off x="14077950" y="7677150"/>
            <a:ext cx="2667000" cy="381000"/>
          </a:xfrm>
          <a:prstGeom prst="roundRect">
            <a:avLst>
              <a:gd name="adj" fmla="val 50000"/>
            </a:avLst>
          </a:prstGeom>
          <a:solidFill>
            <a:srgbClr val="2EF2C2">
              <a:alpha val="10000"/>
            </a:srgbClr>
          </a:solidFill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gemini-‎3.5‎-flash-lite</a:t>
            </a:r>
          </a:p>
        </p:txBody>
      </p:sp>
      <p:sp>
        <p:nvSpPr>
          <p:cNvPr id="3003" name="deck 3003"/>
          <p:cNvSpPr/>
          <p:nvPr/>
        </p:nvSpPr>
        <p:spPr>
          <a:xfrm>
            <a:off x="13716000" y="5857875"/>
            <a:ext cx="247650" cy="24765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04" name="deck 3004"/>
          <p:cNvSpPr/>
          <p:nvPr/>
        </p:nvSpPr>
        <p:spPr>
          <a:xfrm>
            <a:off x="10839450" y="3762375"/>
            <a:ext cx="2857500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‎02‎ </a:t>
            </a: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البحث في الكتاب</a:t>
            </a:r>
          </a:p>
          <a:p>
            <a:pPr marL="0" indent="0" rtl="1" algn="r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يبحث في «الوجيز» بالكلمة وبالمعنى معاً، ولو سأل بلغة أخرى. إن لم يجد نصاً قريباً من السؤال، قال: «ليس في الكتاب».</a:t>
            </a:r>
          </a:p>
        </p:txBody>
      </p:sp>
      <p:sp>
        <p:nvSpPr>
          <p:cNvPr id="3005" name="deck 3005"/>
          <p:cNvSpPr/>
          <p:nvPr/>
        </p:nvSpPr>
        <p:spPr>
          <a:xfrm>
            <a:off x="10934700" y="7677150"/>
            <a:ext cx="2667000" cy="381000"/>
          </a:xfrm>
          <a:prstGeom prst="roundRect">
            <a:avLst>
              <a:gd name="adj" fmla="val 50000"/>
            </a:avLst>
          </a:prstGeom>
          <a:solidFill>
            <a:srgbClr val="2EF2C2">
              <a:alpha val="10000"/>
            </a:srgbClr>
          </a:solidFill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BM‎25‎ + gemini-embedding-‎2‎</a:t>
            </a:r>
          </a:p>
        </p:txBody>
      </p:sp>
      <p:sp>
        <p:nvSpPr>
          <p:cNvPr id="3006" name="deck 3006"/>
          <p:cNvSpPr/>
          <p:nvPr/>
        </p:nvSpPr>
        <p:spPr>
          <a:xfrm>
            <a:off x="10572750" y="5857875"/>
            <a:ext cx="247650" cy="24765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07" name="deck 3007"/>
          <p:cNvSpPr/>
          <p:nvPr/>
        </p:nvSpPr>
        <p:spPr>
          <a:xfrm>
            <a:off x="7696200" y="3762375"/>
            <a:ext cx="2857500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‎03‎ </a:t>
            </a: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كتابة الجواب</a:t>
            </a:r>
          </a:p>
          <a:p>
            <a:pPr marL="0" indent="0" rtl="1" algn="r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يكتب الذكاء الاصطناعي الجواب بلغة المتعلم، ويضع بعد كل جملة رقم الفقرة التي أخذها منها. ولا يكتب آية ولا اقتباساً.</a:t>
            </a:r>
          </a:p>
        </p:txBody>
      </p:sp>
      <p:sp>
        <p:nvSpPr>
          <p:cNvPr id="3008" name="deck 3008"/>
          <p:cNvSpPr/>
          <p:nvPr/>
        </p:nvSpPr>
        <p:spPr>
          <a:xfrm>
            <a:off x="7791450" y="7677150"/>
            <a:ext cx="2667000" cy="381000"/>
          </a:xfrm>
          <a:prstGeom prst="roundRect">
            <a:avLst>
              <a:gd name="adj" fmla="val 50000"/>
            </a:avLst>
          </a:prstGeom>
          <a:solidFill>
            <a:srgbClr val="2EF2C2">
              <a:alpha val="10000"/>
            </a:srgbClr>
          </a:solidFill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gemini-‎3.8‎-flash</a:t>
            </a:r>
          </a:p>
        </p:txBody>
      </p:sp>
      <p:sp>
        <p:nvSpPr>
          <p:cNvPr id="3009" name="deck 3009"/>
          <p:cNvSpPr/>
          <p:nvPr/>
        </p:nvSpPr>
        <p:spPr>
          <a:xfrm>
            <a:off x="7429500" y="5857875"/>
            <a:ext cx="247650" cy="24765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10" name="deck 3010"/>
          <p:cNvSpPr/>
          <p:nvPr/>
        </p:nvSpPr>
        <p:spPr>
          <a:xfrm>
            <a:off x="4552950" y="3762375"/>
            <a:ext cx="2857500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‎04‎ </a:t>
            </a: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المدقّق</a:t>
            </a:r>
          </a:p>
          <a:p>
            <a:pPr marL="0" indent="0" rtl="1" algn="r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برنامج يحذف أي جملة بلا مصدر، ويطابق كل اقتباس بنص الكتاب، وينقل الآيات من مصدرها. إن حذف أكثر من الثلث أعاد الكتابة مرة، ثم يعتذر ويعرض مرشداً.</a:t>
            </a:r>
          </a:p>
        </p:txBody>
      </p:sp>
      <p:sp>
        <p:nvSpPr>
          <p:cNvPr id="3011" name="deck 3011"/>
          <p:cNvSpPr/>
          <p:nvPr/>
        </p:nvSpPr>
        <p:spPr>
          <a:xfrm>
            <a:off x="4648200" y="7677150"/>
            <a:ext cx="2667000" cy="381000"/>
          </a:xfrm>
          <a:prstGeom prst="roundRect">
            <a:avLst>
              <a:gd name="adj" fmla="val 50000"/>
            </a:avLst>
          </a:prstGeom>
          <a:solidFill>
            <a:srgbClr val="2EF2C2">
              <a:alpha val="10000"/>
            </a:srgbClr>
          </a:solidFill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قواعد ثابتة، بلا ذكاء اصطناعي</a:t>
            </a:r>
          </a:p>
        </p:txBody>
      </p:sp>
      <p:sp>
        <p:nvSpPr>
          <p:cNvPr id="3012" name="deck 3012"/>
          <p:cNvSpPr/>
          <p:nvPr/>
        </p:nvSpPr>
        <p:spPr>
          <a:xfrm>
            <a:off x="4286250" y="5857875"/>
            <a:ext cx="247650" cy="247650"/>
          </a:xfrm>
          <a:prstGeom prst="leftArrow">
            <a:avLst/>
          </a:prstGeom>
          <a:solidFill>
            <a:srgbClr val="2EF2C2">
              <a:alpha val="85000"/>
            </a:srgbClr>
          </a:solidFill>
          <a:ln>
            <a:noFill/>
          </a:ln>
        </p:spPr>
      </p:sp>
      <p:sp>
        <p:nvSpPr>
          <p:cNvPr id="3013" name="deck 3013"/>
          <p:cNvSpPr/>
          <p:nvPr/>
        </p:nvSpPr>
        <p:spPr>
          <a:xfrm>
            <a:off x="1409700" y="3762375"/>
            <a:ext cx="2857500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190500" tIns="190500" rIns="190500" bIns="1905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‎05‎ </a:t>
            </a: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العرض</a:t>
            </a:r>
          </a:p>
          <a:p>
            <a:pPr marL="0" indent="0" rtl="1" algn="r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يظهر الجواب ومصادره تُفتح بلمسة، ومعه رابط درسه، وزر «أبلغ عن خطأ».</a:t>
            </a:r>
          </a:p>
        </p:txBody>
      </p:sp>
      <p:sp>
        <p:nvSpPr>
          <p:cNvPr id="3014" name="deck 3014"/>
          <p:cNvSpPr/>
          <p:nvPr/>
        </p:nvSpPr>
        <p:spPr>
          <a:xfrm>
            <a:off x="1504950" y="7677150"/>
            <a:ext cx="2667000" cy="381000"/>
          </a:xfrm>
          <a:prstGeom prst="roundRect">
            <a:avLst>
              <a:gd name="adj" fmla="val 50000"/>
            </a:avLst>
          </a:prstGeom>
          <a:solidFill>
            <a:srgbClr val="2EF2C2">
              <a:alpha val="10000"/>
            </a:srgbClr>
          </a:solidFill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داخل theislam.chat</a:t>
            </a:r>
          </a:p>
        </p:txBody>
      </p:sp>
      <p:sp>
        <p:nvSpPr>
          <p:cNvPr id="3015" name="deck 3015"/>
          <p:cNvSpPr/>
          <p:nvPr/>
        </p:nvSpPr>
        <p:spPr>
          <a:xfrm>
            <a:off x="1409700" y="8429625"/>
            <a:ext cx="15430500" cy="6858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0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القاعدة: </a:t>
            </a: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الآية ونص الكتاب لا يكتبهما الذكاء الاصطناعي أبداً. يشير إلى رقمهما فقط، والبرنامج ينقلهما من المصدر كما هما.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يضيفه الذكاء الاصطناعي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 يشرح، والإنسان يفتي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وبينهما برنامج يفحص كل جملة. بالذكاء الاصطناعي نحاور كل زائر بلغته، أما النص الديني والفتوى فلا نتركهما له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3001" name="deck 3001"/>
          <p:cNvSpPr/>
          <p:nvPr/>
        </p:nvSpPr>
        <p:spPr>
          <a:xfrm>
            <a:off x="11953875" y="3762375"/>
            <a:ext cx="4886325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47650" tIns="247650" rIns="247650" bIns="24765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ar-SA" sz="25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يلاحظ لحظة الشهادة في المحادثة، بأي لغة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يملأ بطاقة التعارف من كلام المتعلم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يفهم السؤال، ويترجمه ليبحث في الكتاب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يجد النص بالمعنى، لا بالكلمة وحدها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يشرح بلغة المتعلم، ويذكر مصدر كل جملة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يساعد في الفرز، وفي تصحيح الاختبارات</a:t>
            </a:r>
          </a:p>
        </p:txBody>
      </p:sp>
      <p:sp>
        <p:nvSpPr>
          <p:cNvPr id="3002" name="deck 3002"/>
          <p:cNvSpPr/>
          <p:nvPr/>
        </p:nvSpPr>
        <p:spPr>
          <a:xfrm>
            <a:off x="6686550" y="3762375"/>
            <a:ext cx="4886325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47650" tIns="247650" rIns="247650" bIns="24765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ar-SA" sz="2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البرنامج (قواعد ثابتة)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يرتّب الدروس ويحفظ التقدّم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يحذف كل جملة بلا مصدر، ويطابق الاقتباسات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ينقل الآيات وترجمات معانيها من مصادرها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يعرض خطوات الوضوء والصلاة بنص الكتاب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يعرف كلمات الأزمة، ويُظهر رقم الطوارئ أولاً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يتأكد أن البطاقة فيها كلام المتعلم وحده</a:t>
            </a:r>
          </a:p>
        </p:txBody>
      </p:sp>
      <p:sp>
        <p:nvSpPr>
          <p:cNvPr id="3003" name="deck 3003"/>
          <p:cNvSpPr/>
          <p:nvPr/>
        </p:nvSpPr>
        <p:spPr>
          <a:xfrm>
            <a:off x="1419225" y="3762375"/>
            <a:ext cx="4886325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47650" tIns="247650" rIns="247650" bIns="24765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ar-SA" sz="2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الإنسان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مركز أصول: كتب «الوجيز»، مصدرنا الوحيد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المختص الشرعي: يراجع الدروس ويعتمدها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المرشد والمرشدة: الأسئلة الشخصية والأزمات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16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المشرف: يتابع الطلبات وبلاغات الأخطاء</a:t>
            </a:r>
          </a:p>
        </p:txBody>
      </p:sp>
      <p:sp>
        <p:nvSpPr>
          <p:cNvPr id="3004" name="deck 3004"/>
          <p:cNvSpPr/>
          <p:nvPr/>
        </p:nvSpPr>
        <p:spPr>
          <a:xfrm>
            <a:off x="1409700" y="8429625"/>
            <a:ext cx="15430500" cy="6858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0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القاعدة: </a:t>
            </a: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 يشرح ويفرز فقط. لا يكتب آية، ولا ينقل من الكتاب بنفسه، ولا يفتي أحداً في أمره الخاص.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 المستخدمة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الخوارزميات والنماذج والأدوات، وماذا يفعل كلٌّ منها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الشريحة الوحيدة بالمصطلحات التقنية، ومع كل مصطلح شرح قصير · الإصدارات والتراخيص في SOURCES.md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البرمجيات: Node.js وTypeScript وFastify (الخادم) · SQLite (قاعدة البيانات) · Vue ‎3‎ وVite (الواجهة) · Docker وnginx وCloudflare (التشغيل) · Playwright (اللقطات)</a:t>
            </a:r>
            <a:endParaRPr/>
          </a:p>
        </p:txBody>
      </p:sp>
      <p:graphicFrame>
        <p:nvGraphicFramePr>
          <p:cNvPr id="3001" name="algorithms"/>
          <p:cNvGraphicFramePr>
            <a:graphicFrameLocks noGrp="1"/>
          </p:cNvGraphicFramePr>
          <p:nvPr/>
        </p:nvGraphicFramePr>
        <p:xfrm>
          <a:off x="1409700" y="3667125"/>
          <a:ext cx="15430500" cy="4638675"/>
        </p:xfrm>
        <a:graphic>
          <a:graphicData uri="http://schemas.openxmlformats.org/drawingml/2006/table">
            <a:tbl>
              <a:tblPr rtl="1" firstRow="1" bandRow="0"/>
              <a:tblGrid>
                <a:gridCol w="2857500"/>
                <a:gridCol w="8953500"/>
                <a:gridCol w="3619500"/>
              </a:tblGrid>
              <a:tr h="4381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المهمة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الخوارزمية، بكلمات بسيطة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النموذج أو الأداة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لحظة الشهادة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علامة خفية يضعها بوت الحوار مع التهنئة؛ اختبرناها في ‎20‎ نوعاً من المحادثات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gpt-5.4-mini (OpenAI)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بطاقة التعارف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استخراج منظّم (يملأ حقولاً محددة)، ثم فحص أن كل حقل من كلام المتعلم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gemini-3.5-flash-lite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الفرز (router)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قائمة كلمات أزمة ثابتة + تصنيف السؤال إلى ‎7‎ أنواع؛ إن قال أحدهما «إنسان» أُحيل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gemini-3.5-flash-lite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فهم السؤال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يترجم السؤال ويربطه بما قبله، ثم يبحث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gemini-3.5-flash-lite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البحث الهجين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BM‎25‎ (بحث بالكلمة) + متجهات ‎768‎ بُعداً (بحث بالمعنى)، مع حد أدنى للقرب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BM25 · gemini-embedding-2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التوليد المقيّد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يكتب الجواب، ولا تمرّ جملة إلا ومعها رقم مصدرها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gemini-3.8-flash · fallback: gpt-5.4-mini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المدقّق (checker)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قواعد مكتوبة، بلا ذكاء اصطناعي: يحذف ما لا مصدر له، ويطابق الاقتباسات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TypeScript rules · no model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التقييم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نموذج مصحّح يحكم على كل جملة + بصمة SHA-‎256‎ (تكشف أي تعديل في أسئلة الاختبار)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gemini-3.1-pro-preview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الكتاب إلى نص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يقرأ صور صفحات PDF، ثم يقسّمها فقرات بأرقام صفحاتها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0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gemini-3.8-flash · poppler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الموثوقية الشرعية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أربعة أنواع من الأسئلة، ولكل نوع تصرّف ثابت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سؤال عن الوضوء غير سؤال عن زواج شخصي. قسّمناها كما في الحزمة العلمية للتحدي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وتحت كل درس وجواب زر «أبلغ عن خطأ». والدرس الذي لم يراجعه المختص الشرعي بعدُ يُعرض بنص الكتاب وصفحته فقط.</a:t>
            </a:r>
            <a:endParaRPr/>
          </a:p>
        </p:txBody>
      </p:sp>
      <p:graphicFrame>
        <p:nvGraphicFramePr>
          <p:cNvPr id="3001" name="content levels"/>
          <p:cNvGraphicFramePr>
            <a:graphicFrameLocks noGrp="1"/>
          </p:cNvGraphicFramePr>
          <p:nvPr/>
        </p:nvGraphicFramePr>
        <p:xfrm>
          <a:off x="1409700" y="3810000"/>
          <a:ext cx="15430500" cy="4819650"/>
        </p:xfrm>
        <a:graphic>
          <a:graphicData uri="http://schemas.openxmlformats.org/drawingml/2006/table">
            <a:tbl>
              <a:tblPr rtl="1" firstRow="1" bandRow="0"/>
              <a:tblGrid>
                <a:gridCol w="3810000"/>
                <a:gridCol w="8382000"/>
                <a:gridCol w="3238500"/>
              </a:tblGrid>
              <a:tr h="5524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9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نوع السؤال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9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ماذا يفعل النظام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9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مثال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9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العبادات والثوابت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ينقل نص الكتاب كما هو: الخطوات بلفظ «الوجيز» وترتيبه، والآية من مصحف Tanzil، ومعناها من QuranEnc.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خطوات الوضوء والصلاة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9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مسألة اختلف فيها العلماء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يذكر قول «الوجيز»، ثم يقول: هذا قول معتبر، ولبعض العلماء قول آخر، وما تراه في مسجدك قد يكون صحيحاً أيضاً.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صفة في الصلاة تختلف عما يراه في مسجده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9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 ليس في الكتاب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يعتذر بوضوح: «لم أجد جواب هذا السؤال في الوجيز»، ويعرض زر «تحدث إلى إنسان». ولا يخمّن.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أنصبة الميراث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90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سؤال شخصي أو أزمة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يفتي؛ يحوّله إلى مرشد أو مرشدة. وإن كان في خطر على نفسه، يرى رقم الطوارئ في بلده أولاً (‎988‎ في أمريكا).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7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«زوجتي مسيحية، هل زواجنا صحيح؟»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المراجع العلمية والشرعية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كل نص يراه المتعلم له مصدر معتمد نفحصه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الدين لا يكفي جواب جميل؛ يجب أن يُعرف من أين جاء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التفاصيل والتراخيص في SOURCES.md · ومراجعة بشرية مستقلة لـ‎60‎ جواباً دون معرفة مصدرها: ‎23‎ سليم، و‎7‎ ناقص، و‎0‎ خطأ (eval/human_review.md)</a:t>
            </a:r>
            <a:endParaRPr/>
          </a:p>
        </p:txBody>
      </p:sp>
      <p:graphicFrame>
        <p:nvGraphicFramePr>
          <p:cNvPr id="3001" name="references"/>
          <p:cNvGraphicFramePr>
            <a:graphicFrameLocks noGrp="1"/>
          </p:cNvGraphicFramePr>
          <p:nvPr/>
        </p:nvGraphicFramePr>
        <p:xfrm>
          <a:off x="1409700" y="3762375"/>
          <a:ext cx="15430500" cy="4591050"/>
        </p:xfrm>
        <a:graphic>
          <a:graphicData uri="http://schemas.openxmlformats.org/drawingml/2006/table">
            <a:tbl>
              <a:tblPr rtl="1" firstRow="1" bandRow="0"/>
              <a:tblGrid>
                <a:gridCol w="4953000"/>
                <a:gridCol w="4572000"/>
                <a:gridCol w="5905500"/>
              </a:tblGrid>
              <a:tr h="49530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المرجع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أين نستعمله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800" b="1" dirty="0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كيف نتحقق منه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242759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5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«الوجيز: منهج تعليم صفي للمسلم الجديد» (مركز أصول)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المصدر الوحيد للدروس والأجوبة؛ ‎10‎ طبعات بلغات مختلفة، حوّلناها إلى نص بأرقام صفحاته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لكل فقرة رقم صفحتها وبصمة رقمية تكشف أي تغيير؛ والمدقّق يطابق كل اقتباس بنص الكتاب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5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نص المصحف: Tanzil (الرسم العثماني، رواية حفص)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يضعه البرنامج حين تذكر الفقرة آية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الذكاء الاصطناعي لا يكتب آية أبداً؛ تُنقل حرفياً مع ذكر مصدرها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5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ترجمات المعاني: QuranEnc (مجمع الملك فهد، مركز رواد الترجمة)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تحت كل آية بلغة المتعلم، أو بالإنجليزية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بلا تعديل، مع اسم المترجم لكل لغة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5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سجل مراجعة الدروس (content/review.json)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من راجع كل درس، ومتى، وكيف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الدروس الحساسة تنتظر توقيع المختص الشرعي؛ وما لم يُراجع يُعرض بنص الكتاب وصفحته فقط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50" b="1" dirty="0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الحزمة العلمية للتحدي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أنواع الأسئلة الأربعة، والمصطلحات المعتمدة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0" dirty="0">
                          <a:solidFill>
                            <a:srgbClr val="CBCFE6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مطبّقة في الفرز والنصوص الثابتة، ومختبرة بأسئلة حساسة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323D68"/>
                      </a:solidFill>
                    </a:lnL>
                    <a:lnR w="9525">
                      <a:solidFill>
                        <a:srgbClr val="323D68"/>
                      </a:solidFill>
                    </a:lnR>
                    <a:lnT w="9525">
                      <a:solidFill>
                        <a:srgbClr val="323D68"/>
                      </a:solidFill>
                    </a:lnT>
                    <a:lnB w="9525">
                      <a:solidFill>
                        <a:srgbClr val="323D68"/>
                      </a:solidFill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النتائج (‎1‎): امتحان كتبناه قبل البناء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قبل أن نبني، كتبنا الامتحان وأغلقناه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‎200‎ سؤال أغلقناها قبل البناء، وكل سؤال ‎3‎ مرات، حتى لا نعدّلها لصالحنا · وقارنّا بالذكاء الاصطناعي نفسه بلا مدقّق ولا فرز</a:t>
            </a:r>
            <a:endParaRPr/>
          </a:p>
        </p:txBody>
      </p:sp>
      <p:graphicFrame>
        <p:nvGraphicFramePr>
          <p:cNvPr id="3001" name="results"/>
          <p:cNvGraphicFramePr>
            <a:graphicFrameLocks noGrp="1"/>
          </p:cNvGraphicFramePr>
          <p:nvPr/>
        </p:nvGraphicFramePr>
        <p:xfrm>
          <a:off x="5981700" y="3667125"/>
          <a:ext cx="10858500" cy="4419600"/>
        </p:xfrm>
        <a:graphic>
          <a:graphicData uri="http://schemas.openxmlformats.org/drawingml/2006/table">
            <a:tbl>
              <a:tblPr rtl="1" firstRow="1" bandRow="0"/>
              <a:tblGrid>
                <a:gridCol w="5143500"/>
                <a:gridCol w="2762250"/>
                <a:gridCol w="2952750"/>
              </a:tblGrid>
              <a:tr h="4381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المقياس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نظامنا (مع المدقّق والفرز)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الذكاء الاصطناعي نفسه بدونهما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اقتباسات تطابق نص الكتاب حرفاً بحرف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‎100%‎ (‎444/444‎)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‎92.1%‎ (‎760/825‎)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أسئلة حساسة: لم يُفتِ، وعرض مرشداً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‎98.9%‎ (‎89/90‎)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‎81.1%‎ (‎73/90‎)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أسئلة حساسة: حوّلها فوراً إلى إنسان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‎81.1%‎ (‎73/90‎)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‎81.1%‎ (‎73/90‎)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خطر على النفس: رقم الطوارئ أولاً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‎100%‎ (‎12/12‎)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–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ليس في الكتاب: اعتذر أو حوّل لإنسان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‎91.1%‎ (‎82/90‎)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‎85.6%‎ (‎77/90‎)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أسئلة لها جواب رفضها خطأً (الأقل أفضل)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‎1.9%‎ (‎7/360‎)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‎4.2%‎ (‎15/360‎)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أسئلة لها جواب أجاب عنها صحيحاً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‎90.6%‎ (‎326/360‎)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‎90.6%‎ (‎326/360‎)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جُمل لها مصدر في الكتاب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‎99.2%‎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‎99.5%‎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أجوبة كل جملة فيها لها مصدر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‎96.8%‎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‎99.0%‎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مسائل خلاف: ذكر أن فيها سعة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‎86.7%‎ (‎52/60‎)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‎0%‎ (‎0/60‎)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الجواب يدلّ على درسه الصحيح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6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‎95.2%‎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–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02" name="deck 3002"/>
          <p:cNvSpPr/>
          <p:nvPr/>
        </p:nvSpPr>
        <p:spPr>
          <a:xfrm>
            <a:off x="1409700" y="3667125"/>
            <a:ext cx="4191000" cy="1381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0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‎120/120‎</a:t>
            </a:r>
          </a:p>
          <a:p>
            <a:pPr marL="0" indent="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4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ترتيب الدروس صحيح في كل التجارب: ‎30‎ متعلماً افتراضياً يعودون في ‎4‎ أيام مختلفة</a:t>
            </a:r>
          </a:p>
        </p:txBody>
      </p:sp>
      <p:sp>
        <p:nvSpPr>
          <p:cNvPr id="3003" name="deck 3003"/>
          <p:cNvSpPr/>
          <p:nvPr/>
        </p:nvSpPr>
        <p:spPr>
          <a:xfrm>
            <a:off x="1409700" y="5191125"/>
            <a:ext cx="4191000" cy="1381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0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‎111/120‎</a:t>
            </a:r>
          </a:p>
          <a:p>
            <a:pPr marL="0" indent="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4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تجربة صحيحة تماماً (‎92.5%‎)؛ وتصبح ‎119/120‎ إن قبلنا أي درس في صفحاته الجواب</a:t>
            </a:r>
          </a:p>
        </p:txBody>
      </p:sp>
      <p:sp>
        <p:nvSpPr>
          <p:cNvPr id="3004" name="deck 3004"/>
          <p:cNvSpPr/>
          <p:nvPr/>
        </p:nvSpPr>
        <p:spPr>
          <a:xfrm>
            <a:off x="1409700" y="6715125"/>
            <a:ext cx="4191000" cy="1381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0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‎8.3‎ ث</a:t>
            </a:r>
          </a:p>
          <a:p>
            <a:pPr marL="0" indent="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4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زمن الجواب المعتاد (الوسيط)؛ وتكلفة السؤال ‎0.0013$‎ في المتوسط</a:t>
            </a:r>
          </a:p>
        </p:txBody>
      </p:sp>
      <p:sp>
        <p:nvSpPr>
          <p:cNvPr id="3005" name="deck 3005"/>
          <p:cNvSpPr/>
          <p:nvPr/>
        </p:nvSpPr>
        <p:spPr>
          <a:xfrm>
            <a:off x="1409700" y="8382000"/>
            <a:ext cx="15430500" cy="762000"/>
          </a:xfrm>
          <a:prstGeom prst="roundRect">
            <a:avLst>
              <a:gd name="adj" fmla="val 18000"/>
            </a:avLst>
          </a:prstGeom>
          <a:solidFill>
            <a:srgbClr val="6150EA">
              <a:alpha val="10000"/>
            </a:srgbClr>
          </a:solidFill>
          <a:ln w="9525">
            <a:solidFill>
              <a:srgbClr val="6150EA">
                <a:alpha val="4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50" b="0" dirty="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ما لم نبلغه: تحويل الأسئلة الحساسة فوراً إلى إنسان ‎81%‎، وهدفنا ‎100%‎. الباقي تلقّى «ليس في الكتاب» مع عرض مرشد، ولم يُفتَ في شيء. التقرير كاملاً: docs/evaluation.md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النتائج (‎2‎): بعد مراجعة شاملة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أصلحنا ما وجدناه، ثم امتحنّاه بأسئلة لم يرها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‎6‎ أكتوبر · المصحّح gemini-‎3.1‎-pro-preview يقارن كل جواب بنص الكتاب · ونذكر بصراحة ما حسّنّا عليه، وما لم يره النظام</a:t>
            </a:r>
            <a:endParaRPr/>
          </a:p>
        </p:txBody>
      </p:sp>
      <p:graphicFrame>
        <p:nvGraphicFramePr>
          <p:cNvPr id="3001" name="audit results"/>
          <p:cNvGraphicFramePr>
            <a:graphicFrameLocks noGrp="1"/>
          </p:cNvGraphicFramePr>
          <p:nvPr/>
        </p:nvGraphicFramePr>
        <p:xfrm>
          <a:off x="5981700" y="3667125"/>
          <a:ext cx="10858500" cy="2971800"/>
        </p:xfrm>
        <a:graphic>
          <a:graphicData uri="http://schemas.openxmlformats.org/drawingml/2006/table">
            <a:tbl>
              <a:tblPr rtl="1" firstRow="1" bandRow="0"/>
              <a:tblGrid>
                <a:gridCol w="3286125"/>
                <a:gridCol w="2047875"/>
                <a:gridCol w="1619250"/>
                <a:gridCol w="1190625"/>
                <a:gridCol w="1524000"/>
                <a:gridCol w="1190625"/>
              </a:tblGrid>
              <a:tr h="45720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الأسئلة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حسّنّا عليها؟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تصرّف صحيح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وفيّة للكتاب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أحكام مخترَعة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FFFF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الطوارئ أولاً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6150E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الأسئلة المغلقة (‎200‎ سؤال)، أعدنا تشغيلها في ‎6‎ أكتوبر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لا: أُغلقت قبل البناء ولم نلمسها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‎90.0%‎ (‎108/120‎)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‎138/138‎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‎0‎ · حساسة بلا فتوى ‎30/30‎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‎4/4‎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أسئلة المراجعة: ‎284‎ سؤالاً بعشر لغات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نعم: حسّنّا النظام عليها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‎90.8%‎ (‎258/284‎)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‎161/162‎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‎15/15‎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AF9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‎150‎ سؤالاً جديداً (المجموعة K)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0" dirty="0">
                          <a:solidFill>
                            <a:srgbClr val="4A5590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رأيناها مرة، ثم حسّنّا الفرز عليها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‎83.3%‎ → ‎89.3%‎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‎91/91‎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‎6/6‎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50" b="1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‎150‎ سؤالاً جديداً (المجموعة M)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EFE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لا: لم يرها النظام قبل الاختبار الأخير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EFE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500" b="1" dirty="0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‎88.0%‎ (‎132/150‎)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EFE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‎87/87‎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EFE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1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35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‎0‎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EFE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0" dirty="0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‎6/6‎</a:t>
                      </a:r>
                    </a:p>
                  </a:txBody>
                  <a:tcPr marL="133350" marR="133350" marT="57150" marB="57150" anchor="ctr">
                    <a:lnL w="9525">
                      <a:solidFill>
                        <a:srgbClr val="E0D9FB"/>
                      </a:solidFill>
                    </a:lnL>
                    <a:lnR w="9525">
                      <a:solidFill>
                        <a:srgbClr val="E0D9FB"/>
                      </a:solidFill>
                    </a:lnR>
                    <a:lnT w="9525">
                      <a:solidFill>
                        <a:srgbClr val="E0D9FB"/>
                      </a:solidFill>
                    </a:lnT>
                    <a:lnB w="9525">
                      <a:solidFill>
                        <a:srgbClr val="E0D9FB"/>
                      </a:solidFill>
                    </a:lnB>
                    <a:solidFill>
                      <a:srgbClr val="EFEBFF"/>
                    </a:solidFill>
                  </a:tcPr>
                </a:tc>
              </a:tr>
            </a:tbl>
          </a:graphicData>
        </a:graphic>
      </p:graphicFrame>
      <p:sp>
        <p:nvSpPr>
          <p:cNvPr id="3002" name="deck 3002"/>
          <p:cNvSpPr/>
          <p:nvPr/>
        </p:nvSpPr>
        <p:spPr>
          <a:xfrm>
            <a:off x="5981700" y="6953250"/>
            <a:ext cx="10858500" cy="1238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152400" tIns="152400" rIns="152400" bIns="152400" anchor="ctr" rtlCol="1">
            <a:noAutofit/>
          </a:bodyPr>
          <a:lstStyle/>
          <a:p>
            <a:pPr marL="0" indent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الأسئلة المغلقة بعد المراجعة (تشغيل واحد): أجوبة كل جملها لها مصدر ‎100%‎ (‎138/138‎) · اقتباسات مطابقة ‎100%‎ (‎174/174‎) · أسئلة حساسة بلا فتوى مع عرض مرشد ‎30/30‎ · الطوارئ أولاً ‎4/4‎ · أسئلة لها جواب أُجيبت صحيحاً ‎90.0%‎ · مسائل الخلاف بسعة ‎90%‎ (‎18/20‎)</a:t>
            </a:r>
          </a:p>
          <a:p>
            <a:pPr marL="0" indent="0" rtl="1" algn="r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وقلّ الاعتذار عمّا ليس في الكتاب من ‎91.1%‎ إلى ‎83.3%‎ (‎25/30‎): صار يجيب الجزء الموجود في الكتاب، ويعرض مرشداً للباقي.</a:t>
            </a:r>
          </a:p>
        </p:txBody>
      </p:sp>
      <p:sp>
        <p:nvSpPr>
          <p:cNvPr id="3003" name="deck 3003"/>
          <p:cNvSpPr/>
          <p:nvPr/>
        </p:nvSpPr>
        <p:spPr>
          <a:xfrm>
            <a:off x="1409700" y="3667125"/>
            <a:ext cx="4191000" cy="1381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152400" tIns="152400" rIns="152400" bIns="15240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‎84/84‎</a:t>
            </a:r>
          </a:p>
          <a:p>
            <a:pPr marL="0" indent="0" rtl="1" algn="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محادثة شهادة من ‎20‎ نوعاً: تظهر الدروس حين يجب، ولا تظهر حين لا يجب؛ و‎28/28‎ على الموقع الحي (أول مرة ‎60/84‎)</a:t>
            </a:r>
          </a:p>
        </p:txBody>
      </p:sp>
      <p:sp>
        <p:nvSpPr>
          <p:cNvPr id="3004" name="deck 3004"/>
          <p:cNvSpPr/>
          <p:nvPr/>
        </p:nvSpPr>
        <p:spPr>
          <a:xfrm>
            <a:off x="1409700" y="5191125"/>
            <a:ext cx="4191000" cy="1381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152400" tIns="152400" rIns="152400" bIns="15240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‎470‎</a:t>
            </a:r>
          </a:p>
          <a:p>
            <a:pPr marL="0" indent="0" rtl="1" algn="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تجربة تقريباً كمستخدم حقيقي (‎284‎ سؤالاً، ونحو ‎125‎ في صفحة المتعلم، و‎68‎ في منصة المرشدين)؛ ظهرت ‎64‎ ملاحظة وأصلحناها كلها</a:t>
            </a:r>
          </a:p>
        </p:txBody>
      </p:sp>
      <p:sp>
        <p:nvSpPr>
          <p:cNvPr id="3005" name="deck 3005"/>
          <p:cNvSpPr/>
          <p:nvPr/>
        </p:nvSpPr>
        <p:spPr>
          <a:xfrm>
            <a:off x="1409700" y="6715125"/>
            <a:ext cx="4191000" cy="13811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E0D9FB"/>
            </a:solidFill>
          </a:ln>
        </p:spPr>
        <p:txBody>
          <a:bodyPr wrap="square" lIns="152400" tIns="152400" rIns="152400" bIns="15240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‎51/51‎</a:t>
            </a:r>
          </a:p>
          <a:p>
            <a:pPr marL="0" indent="0" rtl="1" algn="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في أسئلة M التي لم يرها قط: كل أسئلة الإحالة والأزمة والطوارئ وما ليس في الكتاب والتحية</a:t>
            </a:r>
          </a:p>
        </p:txBody>
      </p:sp>
      <p:sp>
        <p:nvSpPr>
          <p:cNvPr id="3006" name="deck 3006"/>
          <p:cNvSpPr/>
          <p:nvPr/>
        </p:nvSpPr>
        <p:spPr>
          <a:xfrm>
            <a:off x="1409700" y="8382000"/>
            <a:ext cx="15430500" cy="762000"/>
          </a:xfrm>
          <a:prstGeom prst="roundRect">
            <a:avLst>
              <a:gd name="adj" fmla="val 18000"/>
            </a:avLst>
          </a:prstGeom>
          <a:solidFill>
            <a:srgbClr val="6150EA">
              <a:alpha val="10000"/>
            </a:srgbClr>
          </a:solidFill>
          <a:ln w="9525">
            <a:solidFill>
              <a:srgbClr val="6150EA">
                <a:alpha val="4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600" b="1" dirty="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بصراحة: </a:t>
            </a:r>
            <a:r>
              <a:rPr lang="ar-SA" sz="1550" b="0" dirty="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حسّنّا النظام على أسئلة التطوير وأسئلة المراجعة وأسئلة K. أما الأسئلة المغلقة فلم نلمسها، وأسئلة M لم نرها قبل تشغيلها الوحيد. ومن ‎18‎ خطأً في M، كانت ‎10‎ اعتذارات عن أسئلة في الكتاب جوابها. لم نخفّف المعيار لنرفع الرقم.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الأصالة والقيمة المضافة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لماذا لا يكفي ملف PDF أو بوت عام؟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هذه هي البدائل التي يجدها المسلم الجديد اليوم، وما ينقصها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3001" name="deck 3001"/>
          <p:cNvSpPr/>
          <p:nvPr/>
        </p:nvSpPr>
        <p:spPr>
          <a:xfrm>
            <a:off x="11953875" y="3762375"/>
            <a:ext cx="4886325" cy="428625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66700" tIns="266700" rIns="266700" bIns="2667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المنصة قبل المشروع</a:t>
            </a:r>
          </a:p>
          <a:p>
            <a:pPr marL="0" indent="0" rtl="1" algn="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ar-SA" sz="1600" b="1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ما ينقصه</a:t>
            </a:r>
          </a:p>
          <a:p>
            <a:pPr marL="0" indent="0" rtl="1" algn="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تهنئة، ثم طلب رقم أو بريد. ولا تعليم للعبادة، لأننا منعنا الآلة منه.</a:t>
            </a:r>
          </a:p>
          <a:p>
            <a:pPr marL="0" indent="0" rtl="1" algn="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نقدّمه</a:t>
            </a:r>
          </a:p>
          <a:p>
            <a:pPr marL="0" indent="0" rtl="1" algn="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أول درس موثّق يبدأ فوراً، في المحادثة نفسها، بلغة المتعلم.</a:t>
            </a:r>
          </a:p>
        </p:txBody>
      </p:sp>
      <p:sp>
        <p:nvSpPr>
          <p:cNvPr id="3002" name="deck 3002"/>
          <p:cNvSpPr/>
          <p:nvPr/>
        </p:nvSpPr>
        <p:spPr>
          <a:xfrm>
            <a:off x="6686550" y="3762375"/>
            <a:ext cx="4886325" cy="428625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66700" tIns="266700" rIns="266700" bIns="2667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ملف PDF أو بحث نصي</a:t>
            </a:r>
          </a:p>
          <a:p>
            <a:pPr marL="0" indent="0" rtl="1" algn="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ar-SA" sz="1600" b="1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ما ينقصه</a:t>
            </a:r>
          </a:p>
          <a:p>
            <a:pPr marL="0" indent="0" rtl="1" algn="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لا يعرف أين توقف القارئ، ولا يحاوره بلغته، ولا يذكّره بشيء.</a:t>
            </a:r>
          </a:p>
          <a:p>
            <a:pPr marL="0" indent="0" rtl="1" algn="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نقدّمه</a:t>
            </a:r>
          </a:p>
          <a:p>
            <a:pPr marL="0" indent="0" rtl="1" algn="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منهج يحفظ تقدّمه، ودرس كل يوم بتذكير، وجواب على سؤاله برقم الصفحة.</a:t>
            </a:r>
          </a:p>
        </p:txBody>
      </p:sp>
      <p:sp>
        <p:nvSpPr>
          <p:cNvPr id="3003" name="deck 3003"/>
          <p:cNvSpPr/>
          <p:nvPr/>
        </p:nvSpPr>
        <p:spPr>
          <a:xfrm>
            <a:off x="1419225" y="3762375"/>
            <a:ext cx="4886325" cy="428625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66700" tIns="266700" rIns="266700" bIns="26670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بوت ذكاء اصطناعي عام</a:t>
            </a:r>
          </a:p>
          <a:p>
            <a:pPr marL="0" indent="0" rtl="1" algn="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ar-SA" sz="1600" b="1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ما ينقصه</a:t>
            </a:r>
          </a:p>
          <a:p>
            <a:pPr marL="0" indent="0" rtl="1" algn="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قد ينسب إلى الكتاب ما ليس فيه، وقد يفتي في أمر شخصي.</a:t>
            </a:r>
          </a:p>
          <a:p>
            <a:pPr marL="0" indent="0" rtl="1" algn="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نقدّمه</a:t>
            </a:r>
          </a:p>
          <a:p>
            <a:pPr marL="0" indent="0" rtl="1" algn="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مدقّق برمجي: اقتباسات مطابقة ‎100%‎ مقابل ‎92.1%‎، وفرز يعتذر ويحيل إلى إنسان.</a:t>
            </a:r>
          </a:p>
        </p:txBody>
      </p:sp>
      <p:sp>
        <p:nvSpPr>
          <p:cNvPr id="3004" name="deck 3004"/>
          <p:cNvSpPr/>
          <p:nvPr/>
        </p:nvSpPr>
        <p:spPr>
          <a:xfrm>
            <a:off x="1409700" y="8382000"/>
            <a:ext cx="15430500" cy="7239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0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الجديد: </a:t>
            </a: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الشهادتان بداية منهج، لا نهاية محادثة. وفي منصة يزورها غير المسلمين فعلاً، لا في تطبيق جديد ينتظر زواره.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المحتوى واللغات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كتاب واحد موثوق، يصل إلى المتعلم بلغته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الدروس من «الوجيز»، والقرآن ومعانيه من مصادرها. لا نص دينياً يخترعه الذكاء الاصطناعي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«الوجيز»: ‎10‎ طبعات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096125"/>
            <a:ext cx="35242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بأرقام صفحاته، يُقرأ كاملاً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ar · en · fr · es · id · pt · ru · bs · vi · th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‎19‎ درساً في ‎4‎ وحدات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096125"/>
            <a:ext cx="35242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جمل قصيرة مرقّمة، وأسئلة وتمارين من الكتاب؛ وما لم يُراجع يُعرض بنصه فقط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القرآن الكريم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096125"/>
            <a:ext cx="35242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مصحف Tanzil، ومعانيه من QuranEnc بأكثر من ‎20‎ لغة، و«استمع وردّد»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بقية اللغات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096125"/>
            <a:ext cx="352425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يُجاب من النص العربي أو الإنجليزي، مع تنبيه: «شرح مترجم آلياً، والأصل مرفق»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التشغيل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يعمل الآن على الموقع، وبتكلفة قليلة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مشروع ينفع الناس يجب أن يبقى يعمل بعد التحدي، دون أن يكلّف الجمعية فوق طاقتها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deck 3001"/>
          <p:cNvSpPr/>
          <p:nvPr/>
        </p:nvSpPr>
        <p:spPr>
          <a:xfrm>
            <a:off x="1409700" y="3810000"/>
            <a:ext cx="4476750" cy="2143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09550" tIns="209550" rIns="209550" bIns="209550" anchor="ctr" rtlCol="1">
            <a:noAutofit/>
          </a:bodyPr>
          <a:lstStyle/>
          <a:p>
            <a:pPr marL="0" indent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4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‎0.0013$‎</a:t>
            </a:r>
          </a:p>
          <a:p>
            <a:pPr marL="0" indent="0" rtl="1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متوسط تكلفة السؤال الواحد</a:t>
            </a:r>
          </a:p>
        </p:txBody>
      </p:sp>
      <p:sp>
        <p:nvSpPr>
          <p:cNvPr id="3002" name="deck 3002"/>
          <p:cNvSpPr/>
          <p:nvPr/>
        </p:nvSpPr>
        <p:spPr>
          <a:xfrm>
            <a:off x="1409700" y="6143625"/>
            <a:ext cx="4476750" cy="2143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09550" tIns="209550" rIns="209550" bIns="209550" anchor="ctr" rtlCol="1">
            <a:noAutofit/>
          </a:bodyPr>
          <a:lstStyle/>
          <a:p>
            <a:pPr marL="0" indent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4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‎6.2‎ ث</a:t>
            </a:r>
          </a:p>
          <a:p>
            <a:pPr marL="0" indent="0" rtl="1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زمن الجواب المعتاد على الموقع الحي (‎284‎ سؤالاً)، و‎7.9‎ ث لـ‎90%‎ منها</a:t>
            </a:r>
          </a:p>
        </p:txBody>
      </p:sp>
      <p:sp>
        <p:nvSpPr>
          <p:cNvPr id="3003" name="deck 3003"/>
          <p:cNvSpPr/>
          <p:nvPr/>
        </p:nvSpPr>
        <p:spPr>
          <a:xfrm>
            <a:off x="6286500" y="3810000"/>
            <a:ext cx="10553700" cy="4429125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  <p:txBody>
          <a:bodyPr wrap="square" lIns="285750" tIns="285750" rIns="285750" bIns="285750" anchor="t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ar-SA" sz="2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يعمل الآن على الموقع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الدروس كاملة: ‎19‎ درساً، والأسئلة، والإحالة، والكتاب كاملاً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الحساب بـ Google أو برابط البريد، والتذكير اليومي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منصة المرشدين: الطلبات والتنبيهات وعدّاد الرد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الدرس الذي لم يُراجع بعدُ يُعرض بنص الكتاب وصفحته فقط</a:t>
            </a:r>
          </a:p>
          <a:p>
            <a:pPr marL="342900" indent="-342900" rtl="1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EF2C2"/>
              </a:buClr>
              <a:buSzPct val="100000"/>
              <a:buFont typeface="Arial"/>
              <a:buChar char="•"/>
            </a:pPr>
            <a:r>
              <a:rPr lang="ar-SA" sz="20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إن تعطّل مزوّد الذكاء الاصطناعي، يعمل مزوّد احتياطي</a:t>
            </a:r>
          </a:p>
        </p:txBody>
      </p:sp>
      <p:sp>
        <p:nvSpPr>
          <p:cNvPr id="3004" name="deck 3004"/>
          <p:cNvSpPr/>
          <p:nvPr/>
        </p:nvSpPr>
        <p:spPr>
          <a:xfrm>
            <a:off x="1409700" y="8477250"/>
            <a:ext cx="15430500" cy="62865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9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بعد التحدي: </a:t>
            </a:r>
            <a:r>
              <a:rPr lang="ar-SA" sz="19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يراجع المختص الشرعي بقية الدروس، ويتسلّم فريق أصول منصة المرشدين.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الإفصاح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ما بنيناه في أيام التحدي، وما كان موجوداً قبله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ليُقيَّم الجديد وحده. ويمكن التحقق: علامة في Git قبل التحدي، وسجل كل تعديل بتاريخه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87" name="Google Shape;887;p28"/>
          <p:cNvSpPr txBox="1"/>
          <p:nvPr>
            <p:ph idx="3" type="body"/>
          </p:nvPr>
        </p:nvSpPr>
        <p:spPr>
          <a:xfrm>
            <a:off x="969645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بُني خلال ‎4‎–‎6‎ أكتوبر ‎2026‎ (يُقيَّم)</a:t>
            </a:r>
            <a:endParaRPr/>
          </a:p>
        </p:txBody>
      </p:sp>
      <p:sp>
        <p:nvSpPr>
          <p:cNvPr id="888" name="Google Shape;888;p28"/>
          <p:cNvSpPr txBox="1"/>
          <p:nvPr>
            <p:ph idx="4" type="body"/>
          </p:nvPr>
        </p:nvSpPr>
        <p:spPr>
          <a:xfrm>
            <a:off x="969645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19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كل ما في المستودع، وتعديل من ‎430‎ سطراً لربطه بالمنصة</a:t>
            </a:r>
            <a:endParaRPr/>
          </a:p>
        </p:txBody>
      </p:sp>
      <p:sp>
        <p:nvSpPr>
          <p:cNvPr id="889" name="Google Shape;889;p28"/>
          <p:cNvSpPr txBox="1"/>
          <p:nvPr>
            <p:ph idx="5" type="body"/>
          </p:nvPr>
        </p:nvSpPr>
        <p:spPr>
          <a:xfrm>
            <a:off x="140970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موجود قبل التحدي (لا نطلب تقييمه)</a:t>
            </a:r>
            <a:endParaRPr/>
          </a:p>
        </p:txBody>
      </p:sp>
      <p:sp>
        <p:nvSpPr>
          <p:cNvPr id="890" name="Google Shape;890;p28"/>
          <p:cNvSpPr txBox="1"/>
          <p:nvPr>
            <p:ph idx="6" type="body"/>
          </p:nvPr>
        </p:nvSpPr>
        <p:spPr>
          <a:xfrm>
            <a:off x="140970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19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منصة theislam.chat لجمعية أصول، تعمل منذ أكتوبر ‎2024‎ (علامة Git: pre-challenge-‎2026‎-‎10‎-‎03‎)</a:t>
            </a:r>
            <a:endParaRPr/>
          </a:p>
        </p:txBody>
      </p:sp>
      <p:sp>
        <p:nvSpPr>
          <p:cNvPr id="3001" name="deck 3001"/>
          <p:cNvSpPr txBox="1"/>
          <p:nvPr/>
        </p:nvSpPr>
        <p:spPr>
          <a:xfrm>
            <a:off x="9696450" y="585787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للمتعلم: البطاقة، الدروس، الكتاب كاملاً، الأسئلة، «استمع وردّد»، الإحالة، التذكير</a:t>
            </a:r>
          </a:p>
          <a:p>
            <a:pPr marL="0" indent="0" rtl="1"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منصة المرشدين: الطلبات، تنبيه الأزمات، عدّاد الرد، المحادثة، الأرقام، الحماية</a:t>
            </a:r>
          </a:p>
          <a:p>
            <a:pPr marL="0" indent="0" rtl="1"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الفرز، والبحث في الكتاب، والمدقّق، وتحويل ‎10‎ طبعات من «الوجيز» إلى نص</a:t>
            </a:r>
          </a:p>
          <a:p>
            <a:pPr marL="0" indent="0" rtl="1" algn="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أسئلة اختبار أغلقناها قبل البناء، و‎30‎ متعلماً افتراضياً، ومراجعة ‎6‎ أكتوبر</a:t>
            </a:r>
          </a:p>
        </p:txBody>
      </p:sp>
      <p:sp>
        <p:nvSpPr>
          <p:cNvPr id="3002" name="deck 3002"/>
          <p:cNvSpPr txBox="1"/>
          <p:nvPr/>
        </p:nvSpPr>
        <p:spPr>
          <a:xfrm>
            <a:off x="1409700" y="5905500"/>
            <a:ext cx="714375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الواجهة، والمحادثة الصوتية، وزر «تحدث إلى إنسان»</a:t>
            </a:r>
          </a:p>
          <a:p>
            <a:pPr marL="0" indent="0" rtl="1"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تعليمات الحوار الدعوي قبل الشهادة</a:t>
            </a:r>
          </a:p>
          <a:p>
            <a:pPr marL="0" indent="0" rtl="1" algn="r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ar-SA" sz="18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ولم نستعمل نص أي محادثة حقيقية في الكود أو الاختبار أو العرض</a:t>
            </a:r>
          </a:p>
        </p:txBody>
      </p:sp>
      <p:sp>
        <p:nvSpPr>
          <p:cNvPr id="3003" name="deck 3003"/>
          <p:cNvSpPr/>
          <p:nvPr/>
        </p:nvSpPr>
        <p:spPr>
          <a:xfrm>
            <a:off x="1409700" y="8382000"/>
            <a:ext cx="15430500" cy="7620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لا ندّعي: </a:t>
            </a:r>
            <a:r>
              <a:rPr lang="ar-SA" sz="17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أن فهم مسلمين جدد حقيقيين تحسّن؛ لم نقسه بعد. والأسئلة الحساسة الثلاثون كتبها من بنى الفرز نفسه، وأُغلقت في أول حفظ للكود.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الفريق</a:t>
            </a:r>
            <a:endParaRPr/>
          </a:p>
        </p:txBody>
      </p:sp>
      <p:sp>
        <p:nvSpPr>
          <p:cNvPr id="689" name="Google Shape;689;p1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الفريق الذي بنى المشروع</a:t>
            </a:r>
            <a:endParaRPr/>
          </a:p>
        </p:txBody>
      </p:sp>
      <p:sp>
        <p:nvSpPr>
          <p:cNvPr id="690" name="Google Shape;690;p19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جمعية أصول، أصحاب theislam.chat</a:t>
            </a:r>
            <a:endParaRPr/>
          </a:p>
        </p:txBody>
      </p:sp>
      <p:sp>
        <p:nvSpPr>
          <p:cNvPr id="691" name="Google Shape;691;p1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3001" name="deck 3001"/>
          <p:cNvSpPr/>
          <p:nvPr/>
        </p:nvSpPr>
        <p:spPr>
          <a:xfrm>
            <a:off x="12268200" y="3762375"/>
            <a:ext cx="4572000" cy="438150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</p:sp>
      <p:sp>
        <p:nvSpPr>
          <p:cNvPr id="3002" name="deck 3002"/>
          <p:cNvSpPr/>
          <p:nvPr/>
        </p:nvSpPr>
        <p:spPr>
          <a:xfrm>
            <a:off x="13839825" y="4048125"/>
            <a:ext cx="1428750" cy="1428750"/>
          </a:xfrm>
          <a:prstGeom prst="ellipse">
            <a:avLst/>
          </a:prstGeom>
          <a:solidFill>
            <a:srgbClr val="6150EA">
              <a:alpha val="35000"/>
            </a:srgbClr>
          </a:solidFill>
          <a:ln w="14288">
            <a:solidFill>
              <a:srgbClr val="2EF2C2">
                <a:alpha val="60000"/>
              </a:srgbClr>
            </a:solidFill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‎01‎</a:t>
            </a:r>
          </a:p>
        </p:txBody>
      </p:sp>
      <p:sp>
        <p:nvSpPr>
          <p:cNvPr id="3003" name="deck 3003"/>
          <p:cNvSpPr txBox="1"/>
          <p:nvPr/>
        </p:nvSpPr>
        <p:spPr>
          <a:xfrm>
            <a:off x="12458700" y="5715000"/>
            <a:ext cx="4191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الاسم</a:t>
            </a:r>
          </a:p>
          <a:p>
            <a:pPr marL="0" indent="0" rt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Mohamed Ashour</a:t>
            </a:r>
          </a:p>
          <a:p>
            <a:pPr marL="0" indent="0" rtl="1" algn="ct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ar-SA" sz="19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قائد الفريق</a:t>
            </a:r>
          </a:p>
          <a:p>
            <a:pPr marL="0" indent="0" rtl="1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مدير الفريق</a:t>
            </a:r>
          </a:p>
        </p:txBody>
      </p:sp>
      <p:sp>
        <p:nvSpPr>
          <p:cNvPr id="3004" name="deck 3004"/>
          <p:cNvSpPr/>
          <p:nvPr/>
        </p:nvSpPr>
        <p:spPr>
          <a:xfrm>
            <a:off x="6838950" y="3762375"/>
            <a:ext cx="4572000" cy="438150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</p:sp>
      <p:sp>
        <p:nvSpPr>
          <p:cNvPr id="3005" name="deck 3005"/>
          <p:cNvSpPr/>
          <p:nvPr/>
        </p:nvSpPr>
        <p:spPr>
          <a:xfrm>
            <a:off x="8410575" y="4048125"/>
            <a:ext cx="1428750" cy="1428750"/>
          </a:xfrm>
          <a:prstGeom prst="ellipse">
            <a:avLst/>
          </a:prstGeom>
          <a:solidFill>
            <a:srgbClr val="6150EA">
              <a:alpha val="35000"/>
            </a:srgbClr>
          </a:solidFill>
          <a:ln w="14288">
            <a:solidFill>
              <a:srgbClr val="2EF2C2">
                <a:alpha val="60000"/>
              </a:srgbClr>
            </a:solidFill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‎02‎</a:t>
            </a:r>
          </a:p>
        </p:txBody>
      </p:sp>
      <p:sp>
        <p:nvSpPr>
          <p:cNvPr id="3006" name="deck 3006"/>
          <p:cNvSpPr txBox="1"/>
          <p:nvPr/>
        </p:nvSpPr>
        <p:spPr>
          <a:xfrm>
            <a:off x="7029450" y="5715000"/>
            <a:ext cx="4191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الاسم</a:t>
            </a:r>
          </a:p>
          <a:p>
            <a:pPr marL="0" indent="0" rt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باسل الفوزان</a:t>
            </a:r>
          </a:p>
          <a:p>
            <a:pPr marL="0" indent="0" rtl="1" algn="ct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ar-SA" sz="19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عضو</a:t>
            </a:r>
          </a:p>
          <a:p>
            <a:pPr marL="0" indent="0" rtl="1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فريق التأسيس</a:t>
            </a:r>
          </a:p>
        </p:txBody>
      </p:sp>
      <p:sp>
        <p:nvSpPr>
          <p:cNvPr id="3007" name="deck 3007"/>
          <p:cNvSpPr/>
          <p:nvPr/>
        </p:nvSpPr>
        <p:spPr>
          <a:xfrm>
            <a:off x="1409700" y="3762375"/>
            <a:ext cx="4572000" cy="438150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</p:sp>
      <p:sp>
        <p:nvSpPr>
          <p:cNvPr id="3008" name="deck 3008"/>
          <p:cNvSpPr/>
          <p:nvPr/>
        </p:nvSpPr>
        <p:spPr>
          <a:xfrm>
            <a:off x="2981325" y="4048125"/>
            <a:ext cx="1428750" cy="1428750"/>
          </a:xfrm>
          <a:prstGeom prst="ellipse">
            <a:avLst/>
          </a:prstGeom>
          <a:solidFill>
            <a:srgbClr val="6150EA">
              <a:alpha val="35000"/>
            </a:srgbClr>
          </a:solidFill>
          <a:ln w="14288">
            <a:solidFill>
              <a:srgbClr val="2EF2C2">
                <a:alpha val="60000"/>
              </a:srgbClr>
            </a:solidFill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‎03‎</a:t>
            </a:r>
          </a:p>
        </p:txBody>
      </p:sp>
      <p:sp>
        <p:nvSpPr>
          <p:cNvPr id="3009" name="deck 3009"/>
          <p:cNvSpPr txBox="1"/>
          <p:nvPr/>
        </p:nvSpPr>
        <p:spPr>
          <a:xfrm>
            <a:off x="1600200" y="5715000"/>
            <a:ext cx="4191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1">
            <a:noAutofit/>
          </a:bodyPr>
          <a:lstStyle/>
          <a:p>
            <a:pPr marL="0" indent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الاسم</a:t>
            </a:r>
          </a:p>
          <a:p>
            <a:pPr marL="0" indent="0" rt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23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محمد يمان غيبه</a:t>
            </a:r>
          </a:p>
          <a:p>
            <a:pPr marL="0" indent="0" rtl="1" algn="ct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ar-SA" sz="19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عضو</a:t>
            </a:r>
          </a:p>
          <a:p>
            <a:pPr marL="0" indent="0" rtl="1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مبرمج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الروابط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جرّبه بنفسك الآن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كل ما يحتاجه المحكّم ليجرّب ويتحقق، في ثلاثة روابط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3001" name="deck 3001"/>
          <p:cNvSpPr/>
          <p:nvPr/>
        </p:nvSpPr>
        <p:spPr>
          <a:xfrm>
            <a:off x="1409700" y="3714750"/>
            <a:ext cx="15430500" cy="133350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</p:sp>
      <p:sp>
        <p:nvSpPr>
          <p:cNvPr id="3002" name="deck 3002"/>
          <p:cNvSpPr txBox="1"/>
          <p:nvPr/>
        </p:nvSpPr>
        <p:spPr>
          <a:xfrm>
            <a:off x="10096500" y="3848100"/>
            <a:ext cx="6477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4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التجربة الحية</a:t>
            </a:r>
          </a:p>
          <a:p>
            <a:pPr marL="0" indent="0" rtl="1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تبدأ من لحظة الشهادة؛ وتحتها رابط النسخة الإنجليزية</a:t>
            </a:r>
          </a:p>
        </p:txBody>
      </p:sp>
      <p:sp>
        <p:nvSpPr>
          <p:cNvPr id="3003" name="deck 3003"/>
          <p:cNvSpPr txBox="1"/>
          <p:nvPr/>
        </p:nvSpPr>
        <p:spPr>
          <a:xfrm>
            <a:off x="1714500" y="3848100"/>
            <a:ext cx="8191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https://shahada.theislam.chat/ar?demo=shahada</a:t>
            </a:r>
          </a:p>
          <a:p>
            <a:pPr marL="0" indent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9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https://shahada.theislam.chat/en?demo=shahada</a:t>
            </a:r>
          </a:p>
        </p:txBody>
      </p:sp>
      <p:sp>
        <p:nvSpPr>
          <p:cNvPr id="3004" name="deck 3004"/>
          <p:cNvSpPr/>
          <p:nvPr/>
        </p:nvSpPr>
        <p:spPr>
          <a:xfrm>
            <a:off x="1409700" y="5238750"/>
            <a:ext cx="15430500" cy="133350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</p:sp>
      <p:sp>
        <p:nvSpPr>
          <p:cNvPr id="3005" name="deck 3005"/>
          <p:cNvSpPr txBox="1"/>
          <p:nvPr/>
        </p:nvSpPr>
        <p:spPr>
          <a:xfrm>
            <a:off x="10096500" y="5372100"/>
            <a:ext cx="6477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4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منصة فريق المتابعة (المرشدين)</a:t>
            </a:r>
          </a:p>
          <a:p>
            <a:pPr marL="0" indent="0" rtl="1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حساب المشرف التجريبي؛ وكلمة المرور نفسها لحسابي المرشد والمرشدة التجريبيين</a:t>
            </a:r>
          </a:p>
        </p:txBody>
      </p:sp>
      <p:sp>
        <p:nvSpPr>
          <p:cNvPr id="3006" name="deck 3006"/>
          <p:cNvSpPr txBox="1"/>
          <p:nvPr/>
        </p:nvSpPr>
        <p:spPr>
          <a:xfrm>
            <a:off x="1714500" y="5372100"/>
            <a:ext cx="8191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https://shahada.theislam.chat/mentor</a:t>
            </a:r>
          </a:p>
          <a:p>
            <a:pPr marL="0" indent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9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supervisor@demo.theislam.chat  /  6c014c6af52e</a:t>
            </a:r>
          </a:p>
        </p:txBody>
      </p:sp>
      <p:sp>
        <p:nvSpPr>
          <p:cNvPr id="3007" name="deck 3007"/>
          <p:cNvSpPr/>
          <p:nvPr/>
        </p:nvSpPr>
        <p:spPr>
          <a:xfrm>
            <a:off x="1409700" y="6762750"/>
            <a:ext cx="15430500" cy="1333500"/>
          </a:xfrm>
          <a:prstGeom prst="roundRect">
            <a:avLst>
              <a:gd name="adj" fmla="val 6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2EF2C2">
                <a:alpha val="18000"/>
              </a:srgbClr>
            </a:solidFill>
          </a:ln>
        </p:spPr>
      </p:sp>
      <p:sp>
        <p:nvSpPr>
          <p:cNvPr id="3008" name="deck 3008"/>
          <p:cNvSpPr txBox="1"/>
          <p:nvPr/>
        </p:nvSpPr>
        <p:spPr>
          <a:xfrm>
            <a:off x="10096500" y="6896100"/>
            <a:ext cx="6477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4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المستودع على GitHub</a:t>
            </a:r>
          </a:p>
          <a:p>
            <a:pPr marL="0" indent="0" rtl="1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6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الكود والتقييم الكامل (docs/evaluation.md) والمصادر (SOURCES.md)</a:t>
            </a:r>
          </a:p>
        </p:txBody>
      </p:sp>
      <p:sp>
        <p:nvSpPr>
          <p:cNvPr id="3009" name="deck 3009"/>
          <p:cNvSpPr txBox="1"/>
          <p:nvPr/>
        </p:nvSpPr>
        <p:spPr>
          <a:xfrm>
            <a:off x="1714500" y="6896100"/>
            <a:ext cx="8191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1">
            <a:noAutofit/>
          </a:bodyPr>
          <a:lstStyle/>
          <a:p>
            <a:pPr marL="0" indent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https://github.com/MidadeAITeam/shahada-theislam</a:t>
            </a:r>
          </a:p>
        </p:txBody>
      </p:sp>
      <p:sp>
        <p:nvSpPr>
          <p:cNvPr id="3010" name="deck 3010"/>
          <p:cNvSpPr/>
          <p:nvPr/>
        </p:nvSpPr>
        <p:spPr>
          <a:xfrm>
            <a:off x="1409700" y="8382000"/>
            <a:ext cx="15430500" cy="723900"/>
          </a:xfrm>
          <a:prstGeom prst="roundRect">
            <a:avLst>
              <a:gd name="adj" fmla="val 18000"/>
            </a:avLst>
          </a:prstGeom>
          <a:solidFill>
            <a:srgbClr val="6150EA">
              <a:alpha val="28000"/>
            </a:srgbClr>
          </a:solidFill>
          <a:ln w="9525">
            <a:solidFill>
              <a:srgbClr val="6150EA">
                <a:alpha val="70000"/>
              </a:srgbClr>
            </a:solidFill>
          </a:ln>
        </p:spPr>
        <p:txBody>
          <a:bodyPr wrap="square" lIns="171450" tIns="171450" rIns="171450" bIns="171450" anchor="ctr" rtlCol="1">
            <a:noAutofit/>
          </a:bodyPr>
          <a:lstStyle/>
          <a:p>
            <a:pPr marL="0" indent="0"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في ‎3‎ دقائق: </a:t>
            </a:r>
            <a:r>
              <a:rPr lang="ar-SA" sz="18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«ابدأ رحلتك» ← اسأل «كيف أتوضأ؟» ← اسأل سؤالاً شخصياً فيُحال إلى مرشد ← «تصفّح الكتاب كاملاً» ← افتح الطلب في منصة المرشدين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لا تكون الشهادتان آخرَ رسالة… بل أوّلَ درس · theislam.chat | جمعية أصول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shahada.theislam.chat  ·  github.com/MidadeAITeam/shahada-theislam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